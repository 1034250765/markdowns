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charts/chart2.xml" ContentType="application/vnd.openxmlformats-officedocument.drawingml.char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4" Type="http://schemas.openxmlformats.org/officeDocument/2006/relationships/slide" Target="slides/slide4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chart" Target="charts/chart2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1A2230"/>
                </a:solidFill>
              </a:defRPr>
            </a:pPr>
            <a:r>
              <a:rPr sz="1350">
                <a:solidFill>
                  <a:srgbClr val="1A2230"/>
                </a:solidFill>
              </a:rPr>
              <a:t>各检测器 OOD vs IID 性能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1A2230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OOD mAP</c:v>
                </c:pt>
              </c:strCache>
            </c:strRef>
          </c:tx>
          <c:spPr>
            <a:solidFill>
              <a:srgbClr val="5B7FCE"/>
            </a:solidFill>
          </c:spPr>
          <c:cat>
            <c:strRef>
              <c:strCache>
                <c:ptCount val="6"/>
                <c:pt idx="0">
                  <c:v>Faster R-CNN</c:v>
                </c:pt>
                <c:pt idx="1">
                  <c:v>RetinaNet</c:v>
                </c:pt>
                <c:pt idx="2">
                  <c:v>YOLOv9</c:v>
                </c:pt>
                <c:pt idx="3">
                  <c:v>DETR</c:v>
                </c:pt>
                <c:pt idx="4">
                  <c:v>DINO</c:v>
                </c:pt>
                <c:pt idx="5">
                  <c:v>DINOv2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0.149</c:v>
                </c:pt>
                <c:pt idx="1">
                  <c:v>0.146</c:v>
                </c:pt>
                <c:pt idx="2">
                  <c:v>0.15</c:v>
                </c:pt>
                <c:pt idx="3">
                  <c:v>0.168</c:v>
                </c:pt>
                <c:pt idx="4">
                  <c:v>0.213</c:v>
                </c:pt>
                <c:pt idx="5">
                  <c:v>0.213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IID mAP</c:v>
                </c:pt>
              </c:strCache>
            </c:strRef>
          </c:tx>
          <c:spPr>
            <a:solidFill>
              <a:srgbClr val="FFC247"/>
            </a:solidFill>
          </c:spPr>
          <c:cat>
            <c:strRef>
              <c:strCache>
                <c:ptCount val="6"/>
                <c:pt idx="0">
                  <c:v>Faster R-CNN</c:v>
                </c:pt>
                <c:pt idx="1">
                  <c:v>RetinaNet</c:v>
                </c:pt>
                <c:pt idx="2">
                  <c:v>YOLOv9</c:v>
                </c:pt>
                <c:pt idx="3">
                  <c:v>DETR</c:v>
                </c:pt>
                <c:pt idx="4">
                  <c:v>DINO</c:v>
                </c:pt>
                <c:pt idx="5">
                  <c:v>DINOv2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0.385</c:v>
                </c:pt>
                <c:pt idx="1">
                  <c:v>0.391</c:v>
                </c:pt>
                <c:pt idx="2">
                  <c:v>0.402</c:v>
                </c:pt>
                <c:pt idx="3">
                  <c:v>0.418</c:v>
                </c:pt>
                <c:pt idx="4">
                  <c:v>0.461</c:v>
                </c:pt>
                <c:pt idx="5">
                  <c:v>0.467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>
              <a:solidFill>
                <a:srgbClr val="4A5568"/>
              </a:solidFill>
            </a:defRPr>
          </a:pPr>
        </a:p>
      </c:txPr>
    </c:legend>
    <c:dispBlanksAs val="gap"/>
  </c:chart>
</c:chartSpace>
</file>

<file path=ppt/slides/charts/chart2.xml><?xml version="1.0" encoding="utf-8"?>
<c:chartSpace xmlns:a="http://schemas.openxmlformats.org/drawingml/2006/main" xmlns:c="http://schemas.openxmlformats.org/drawingml/2006/chart">
  <c:chart>
    <c:plotArea>
      <c:lineChart>
        <c:grouping val="stack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GPT-4o</c:v>
                </c:pt>
              </c:strCache>
            </c:strRef>
          </c:tx>
          <c:spPr>
            <a:ln w="19050" cap="flat">
              <a:solidFill>
                <a:srgbClr val="1E4FA8"/>
              </a:solidFill>
              <a:round/>
            </a:ln>
          </c:spPr>
          <c:cat>
            <c:strRef>
              <c:strCache>
                <c:ptCount val="7"/>
                <c:pt idx="0">
                  <c:v>Zero-shot</c:v>
                </c:pt>
                <c:pt idx="1">
                  <c:v>IID ICL</c:v>
                </c:pt>
                <c:pt idx="2">
                  <c:v>IID ICL+</c:v>
                </c:pt>
                <c:pt idx="3">
                  <c:v>Covariate</c:v>
                </c:pt>
                <c:pt idx="4">
                  <c:v>Covariate+</c:v>
                </c:pt>
                <c:pt idx="5">
                  <c:v>Label</c:v>
                </c:pt>
                <c:pt idx="6">
                  <c:v>Label+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0.659</c:v>
                </c:pt>
                <c:pt idx="1">
                  <c:v>0.668</c:v>
                </c:pt>
                <c:pt idx="2">
                  <c:v>0.675</c:v>
                </c:pt>
                <c:pt idx="3">
                  <c:v>0.58</c:v>
                </c:pt>
                <c:pt idx="4">
                  <c:v>0.612</c:v>
                </c:pt>
                <c:pt idx="5">
                  <c:v>0.605</c:v>
                </c:pt>
                <c:pt idx="6">
                  <c:v>0.591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Gemini-1.5</c:v>
                </c:pt>
              </c:strCache>
            </c:strRef>
          </c:tx>
          <c:spPr>
            <a:ln w="19050" cap="flat">
              <a:solidFill>
                <a:srgbClr val="FF8A4C"/>
              </a:solidFill>
              <a:round/>
            </a:ln>
          </c:spPr>
          <c:cat>
            <c:strRef>
              <c:strCache>
                <c:ptCount val="7"/>
                <c:pt idx="0">
                  <c:v>Zero-shot</c:v>
                </c:pt>
                <c:pt idx="1">
                  <c:v>IID ICL</c:v>
                </c:pt>
                <c:pt idx="2">
                  <c:v>IID ICL+</c:v>
                </c:pt>
                <c:pt idx="3">
                  <c:v>Covariate</c:v>
                </c:pt>
                <c:pt idx="4">
                  <c:v>Covariate+</c:v>
                </c:pt>
                <c:pt idx="5">
                  <c:v>Label</c:v>
                </c:pt>
                <c:pt idx="6">
                  <c:v>Label+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0.591</c:v>
                </c:pt>
                <c:pt idx="1">
                  <c:v>0.67</c:v>
                </c:pt>
                <c:pt idx="2">
                  <c:v>0.689</c:v>
                </c:pt>
                <c:pt idx="3">
                  <c:v>0.358</c:v>
                </c:pt>
                <c:pt idx="4">
                  <c:v>0.346</c:v>
                </c:pt>
                <c:pt idx="5">
                  <c:v>0.317</c:v>
                </c:pt>
                <c:pt idx="6">
                  <c:v>0.297</c:v>
                </c:pt>
              </c:numCache>
            </c:numRef>
          </c:val>
        </c:ser>
        <c:marker/>
        <c:axId val="89736801"/>
        <c:axId val="89736802"/>
      </c:line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>
              <a:solidFill>
                <a:srgbClr val="8B97A8"/>
              </a:solidFill>
            </a:defRPr>
          </a:pPr>
        </a:p>
      </c:txPr>
    </c:legend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padding={32}&gt;&#10;    &lt;Box style={{&#10;        width: '100%',&#10;        height: 64,&#10;        position: 'absolute',&#10;        top: 0,&#10;        left: 0,&#10;        background: 'linear-gradient(135deg, #1E4FA8 0%, #5B7FCE 60%, #2BC5C0 100%)',&#10;    }} /&gt;&#10;    &lt;Box style={{&#10;        width: 140,&#10;        height: 36,&#10;        paddingLeft: 16,&#10;        justifyContent: 'center',&#10;        position: 'absolute',&#10;        top: 14,&#10;        left: 32,&#10;        borderRadius: 18,&#10;        background: 'rgba(255,255,255,0.18)',&#10;        border: '1px solid rgba(255,255,255,0.4)',&#10;    }}&gt;&#10;        &lt;Text style={{ color: '#FFFFFF', fontSize: 14, fontWeight: 'bold', letterSpacing: 2 }}&gt;COUNTS · CVPR&lt;/Text&gt;&#10;    &lt;/Box&gt;&#10;    &lt;Box style={{&#10;        paddingTop: 16,&#10;        paddingBottom: 16,&#10;        gap: 8,&#10;        alignItems: 'flex-start',&#10;        justifyContent: 'flex-start',&#10;    }}&gt;&#10;        &lt;Text style={{ color: '#1E4FA8', fontSize: 14, letterSpacing: 4, fontWeight: 600 }}&gt;PAPER READING · DISTRIBUTION SHIFTS&lt;/Text&gt;&#10;        &lt;Text style={{&#10;            fontSize: 64,&#10;            fontWeight: 'bold',&#10;            color: '#1A2230',&#10;            lineHeight: 1.1,&#10;            backgroundImage: 'linear-gradient(135deg, #1E4FA8 0%, #5B7FCE 60%, #2BC5C0 100%)',&#10;            backgroundClip: 'text',&#10;        }}&gt;&#10;            分布偏移下评测检测器与多模态大模型&#10;        &lt;/Text&gt;&#10;        &lt;Box style={{&#10;            width: 540,&#10;            marginTop: 8,&#10;            paddingTop: 12,&#10;            paddingBottom: 12,&#10;            paddingLeft: 16,&#10;            paddingRight: 16,&#10;            borderLeft: '4px solid #2BC5C0',&#10;            background: '#F7F9FC',&#10;            borderRadius: 4,&#10;        }}&gt;&#10;            &lt;Text style={{ color: '#1A2230', fontSize: 20, fontStyle: 'italic', fontFamily: 'Georgia, serif', lineHeight: 1.5 }}&gt;&#10;                COUNTS: Benchmarking Object Detectors and&lt;br /&gt;Multimodal LLMs under Distribution Shifts&#10;            &lt;/Text&gt;&#10;        &lt;/Box&gt;&#10;    &lt;/Box&gt;&#10;    &lt;Box style={{&#10;        width: '100%',&#10;        paddingLeft: 48,&#10;        paddingRight: 48,&#10;        marginTop: 32,&#10;        gap: 16,&#10;        justifyContent: 'flex-start',&#10;        alignItems: 'center',&#10;    }}&gt;&#10;        &lt;Box style={{&#10;            paddingTop: 12,&#10;            paddingBottom: 12,&#10;            paddingLeft: 22,&#10;            paddingRight: 22,&#10;            borderRadius: 8,&#10;            background: '#FFFFFF',&#10;            border: '1.5px solid #1E4FA8',&#10;            flexDirection: 'row',&#10;            alignItems: 'center',&#10;            gap: 10,&#10;        }}&gt;&#10;            &lt;Box style={{ width: 8, height: 8, borderRadius: 4, background: '#FFC247' }} /&gt;&#10;            &lt;Text style={{ color: '#1E4FA8', fontSize: 14, fontWeight: 600 }}&gt;arXiv:2504.10158&lt;/Text&gt;&#10;        &lt;/Box&gt;&#10;        &lt;Box style={{&#10;            paddingTop: 12,&#10;            paddingBottom: 12,&#10;            paddingLeft: 22,&#10;            paddingRight: 22,&#10;            borderRadius: 8,&#10;            background: '#FFFFFF',&#10;            border: '1px solid #2BC5C0',&#10;            flexDirection: 'row',&#10;            alignItems: 'center',&#10;            gap: 10,&#10;        }}&gt;&#10;            &lt;Box style={{ width: 8, height: 8, borderRadius: 4, background: '#2BC5C0' }} /&gt;&#10;            &lt;Text style={{ color: '#1A2230', fontSize: 14 }}&gt;清华大学计算机科学系&lt;/Text&gt;&#10;        &lt;/Box&gt;&#10;        &lt;Box style={{&#10;            paddingTop: 12,&#10;            paddingBottom: 12,&#10;            paddingLeft: 22,&#10;            paddingRight: 22,&#10;            borderRadius: 8,&#10;            background: '#FFFFFF',&#10;            border: '1px solid #D6DCE5',&#10;        }}&gt;&#10;            &lt;Text style={{ color: '#4A5568', fontSize: 14 }}&gt;Jiansheng Li 等 · 2025&lt;/Text&gt;&#10;        &lt;/Box&gt;&#10;    &lt;/Box&gt;&#10;    &lt;Box style={{&#10;        width: '100%',&#10;        flexDirection: 'row',&#10;        alignItems: 'flex-end',&#10;        justifyContent: 'space-between',&#10;        marginTop: 36,&#10;    }}&gt;&#10;        &lt;Box style={{ gap: 6 }}&gt;&#10;            &lt;Text style={{ color: '#4A5568', fontSize: 16, fontWeight: 600 }}&gt;汇报人 · 实验室&lt;/Text&gt;&#10;            &lt;Text style={{ color: '#8B97A8', fontSize: 13 }}&gt;2026 年 8 月 · 论文 Reading 小组&lt;/Text&gt;&#10;        &lt;/Box&gt;&#10;        &lt;Box style={{&#10;            width: 240,&#10;            height: 6,&#10;            borderRadius: 3,&#10;            background: 'linear-gradient(90deg, #1E4FA8 0%, #5B7FCE 50%, #FFC247 100%)',&#10;        }} /&gt;&#10;    &lt;/Box&gt;&#10;    &lt;Box style={{&#10;        position: 'absolute',&#10;        bottom: 0,&#10;        left: 0,&#10;        width: '100%',&#10;        height: 36,&#10;        background: 'linear-gradient(135deg, #1E4FA8 0%, #5B7FCE 60%, #2BC5C0 100%)',&#10;        flexDirection: 'row',&#10;        alignItems: 'center',&#10;        justifyContent: 'space-between',&#10;        paddingLeft: 32,&#10;        paddingRight: 32,&#10;    }}&gt;&#10;        &lt;Text style={{ color: '#FFFFFF', fontSize: 12, letterSpacing: 1 }}&gt;COMMON OBJECTS UNDER DISTRIBUTION SHIFTS&lt;/Text&gt;&#10;        &lt;Text style={{ color: '#FFFFFF', fontSize: 12 }}&gt;01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 descr="{&quot;isTemplate&quot;:true,&quot;type&quot;:&quot;text&quot;}"/>
          <p:cNvSpPr txBox="1"/>
          <p:nvPr/>
        </p:nvSpPr>
        <p:spPr>
          <a:xfrm rot="0" flipH="0" flipV="0">
            <a:off x="304800" y="457200"/>
            <a:ext cx="4105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1E4FA8"/>
                </a:solidFill>
                <a:latin typeface="Microsoft YaHei"/>
                <a:ea typeface="Microsoft YaHei"/>
              </a:rPr>
              <a:t>PAPER READING · DISTRIBUTION SHIFTS</a:t>
            </a:r>
            <a:endParaRPr/>
          </a:p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304800" y="695325"/>
            <a:ext cx="1036320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>
                <a:gradFill>
                  <a:gsLst>
                    <a:gs pos="0">
                      <a:srgbClr val="1E4FA8"/>
                    </a:gs>
                    <a:gs pos="60000">
                      <a:srgbClr val="5B7FCE"/>
                    </a:gs>
                    <a:gs pos="100000">
                      <a:srgbClr val="2BC5C0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分布偏移下评测检测器与多模态大模型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342900" y="1657350"/>
            <a:ext cx="5105400" cy="914400"/>
          </a:xfrm>
          <a:prstGeom prst="roundRect">
            <a:avLst>
              <a:gd name="adj" fmla="val 41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342900" y="1657350"/>
            <a:ext cx="5105400" cy="914400"/>
          </a:xfrm>
          <a:custGeom>
            <a:pathLst>
              <a:path w="536" h="96">
                <a:moveTo>
                  <a:pt x="4" y="96"/>
                </a:moveTo>
                <a:cubicBezTo>
                  <a:pt x="2" y="96"/>
                  <a:pt x="0" y="94"/>
                  <a:pt x="0" y="9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6"/>
                </a:lnTo>
                <a:close/>
              </a:path>
            </a:pathLst>
          </a:custGeom>
          <a:solidFill>
            <a:srgbClr val="2BC5C0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495300" y="1771650"/>
            <a:ext cx="4800600" cy="6858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00" i="1">
                <a:solidFill>
                  <a:srgbClr val="1A2230"/>
                </a:solidFill>
                <a:latin typeface="Georgia"/>
                <a:ea typeface="Georgia"/>
              </a:rPr>
              <a:t>COUNTS: Benchmarking Object Detectors and</a:t>
            </a:r>
            <a:endParaRPr/>
          </a:p>
          <a:p>
            <a:pPr>
              <a:lnSpc>
                <a:spcPct val="150000"/>
              </a:lnSpc>
            </a:pPr>
            <a:r>
              <a:rPr lang="en-US" sz="1500" i="1">
                <a:solidFill>
                  <a:srgbClr val="1A2230"/>
                </a:solidFill>
                <a:latin typeface="Georgia"/>
                <a:ea typeface="Georgia"/>
              </a:rPr>
              <a:t>Multimodal LLMs under Distribution Shifts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5219700" y="3028950"/>
            <a:ext cx="1752600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90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8" name=""/>
          <p:cNvSpPr/>
          <p:nvPr/>
        </p:nvSpPr>
        <p:spPr>
          <a:xfrm rot="0" flipH="0" flipV="0">
            <a:off x="5429250" y="31908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5600700" y="314325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arXiv:2504.10158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5133975" y="3571875"/>
            <a:ext cx="1924050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2BC5C0"/>
            </a:solidFill>
            <a:prstDash val="solid"/>
          </a:ln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5343525" y="3733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514975" y="368617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清华大学计算机科学系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5200650" y="4114800"/>
            <a:ext cx="1790700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410200" y="4229100"/>
            <a:ext cx="137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Jiansheng Li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等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· 2025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04800" y="4848225"/>
            <a:ext cx="1876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4A5568"/>
                </a:solidFill>
                <a:latin typeface="Microsoft YaHei"/>
                <a:ea typeface="Microsoft YaHei"/>
              </a:rPr>
              <a:t>汇报人</a:t>
            </a:r>
            <a:r>
              <a:rPr lang="en-US" sz="1200" b="1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4A5568"/>
                </a:solidFill>
                <a:latin typeface="Microsoft YaHei"/>
                <a:ea typeface="Microsoft YaHei"/>
              </a:rPr>
              <a:t>实验室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04800" y="5095875"/>
            <a:ext cx="1876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2026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8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月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论文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Reading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小组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9601200" y="5191125"/>
            <a:ext cx="22860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E4FA8"/>
              </a:gs>
              <a:gs pos="50000">
                <a:srgbClr val="5B7FCE"/>
              </a:gs>
              <a:gs pos="100000">
                <a:srgbClr val="FFC247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gradFill>
            <a:gsLst>
              <a:gs pos="0">
                <a:srgbClr val="1E4FA8"/>
              </a:gs>
              <a:gs pos="60000">
                <a:srgbClr val="5B7FCE"/>
              </a:gs>
              <a:gs pos="100000">
                <a:srgbClr val="2BC5C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304800" y="133350"/>
            <a:ext cx="1333500" cy="3429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457200" y="142875"/>
            <a:ext cx="11811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FFFF"/>
                </a:solidFill>
                <a:latin typeface="Microsoft YaHei"/>
                <a:ea typeface="Microsoft YaHei"/>
              </a:rPr>
              <a:t>COUNTS · CVPR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0" y="6515100"/>
            <a:ext cx="12192000" cy="342900"/>
          </a:xfrm>
          <a:prstGeom prst="rect">
            <a:avLst/>
          </a:prstGeom>
          <a:gradFill>
            <a:gsLst>
              <a:gs pos="0">
                <a:srgbClr val="1E4FA8"/>
              </a:gs>
              <a:gs pos="60000">
                <a:srgbClr val="5B7FCE"/>
              </a:gs>
              <a:gs pos="100000">
                <a:srgbClr val="2BC5C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04800" y="6619875"/>
            <a:ext cx="3162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/>
                </a:solidFill>
                <a:latin typeface="Microsoft YaHei"/>
                <a:ea typeface="Microsoft YaHei"/>
              </a:rPr>
              <a:t>COMMON OBJECTS UNDER DISTRIBUTION SHIFTS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1496675" y="66198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>01 / 18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53" name="" descr="&lt;Slide padding={0}&gt;&#10;    &lt;Box style={{&#10;        width: '100%',&#10;        height: 88,&#10;        background: 'linear-gradient(90deg, #1E4FA8 0%, #5B7FCE 100%)',&#10;        flexDirection: 'row',&#10;        alignItems: 'center',&#10;        justifyContent: 'space-between',&#10;        paddingLeft: 40,&#10;        paddingRight: 40,&#10;    }}&gt;&#10;        &lt;Text style={{ color: '#FFFFFF', fontSize: 14, letterSpacing: 3 }}&gt;COUNTS · 目录&lt;/Text&gt;&#10;        &lt;Text style={{ color: '#FFFFFF', fontSize: 14 }}&gt;CATALOG&lt;/Text&gt;&#10;    &lt;/Box&gt;&#10;    &lt;Box style={{&#10;        width: '100%',&#10;        height: 540,&#10;        flexDirection: 'row',&#10;        paddingLeft: 40,&#10;        paddingRight: 40,&#10;        paddingTop: 32,&#10;        paddingBottom: 32,&#10;    }}&gt;&#10;        &lt;Box style={{&#10;            width: '32%',&#10;            height: '100%',&#10;            justifyContent: 'space-between',&#10;            alignItems: 'flex-start',&#10;        }}&gt;&#10;            &lt;Box style={{ gap: 16 }}&gt;&#10;                &lt;Text style={{ color: '#1E4FA8', fontSize: 16, letterSpacing: 4, fontWeight: 'bold' }}&gt;CHAPTER 0&lt;/Text&gt;&#10;                &lt;Text style={{&#10;                    color: '#1A2230',&#10;                    fontSize: 96,&#10;                    fontWeight: 'bold',&#10;                    lineHeight: 1,&#10;                    backgroundImage: 'linear-gradient(135deg, #1E4FA8 0%, #5B7FCE 100%)',&#10;                    backgroundClip: 'text',&#10;                }}&gt;目录&lt;/Text&gt;&#10;                &lt;Text style={{ color: '#8B97A8', fontSize: 18, fontFamily: 'Georgia, serif', fontStyle: 'italic' }}&gt;Catalog&lt;/Text&gt;&#10;            &lt;/Box&gt;&#10;            &lt;Box style={{&#10;                paddingLeft: 18,&#10;                paddingRight: 18,&#10;                paddingTop: 10,&#10;                paddingBottom: 10,&#10;                borderRadius: 18,&#10;                background: '#FFC247',&#10;                flexDirection: 'row',&#10;                alignItems: 'center',&#10;                gap: 8,&#10;            }}&gt;&#10;                &lt;Text style={{ color: '#1A2230', fontSize: 16, fontWeight: 'bold' }}&gt;5&lt;/Text&gt;&#10;                &lt;Text style={{ color: '#1A2230', fontSize: 13 }}&gt;个章节 · 共 18 页&lt;/Text&gt;&#10;            &lt;/Box&gt;&#10;        &lt;/Box&gt;&#10;        &lt;Box style={{&#10;            width: '68%',&#10;            height: '100%',&#10;            gap: 18,&#10;        }}&gt;&#10;            {[&#10;                { id: '01', title: '研究动机', subtitle: 'OOD 泛化是真实部署的关键挑战', count: '3 页', color: '#1E4FA8' },&#10;                { id: '02', title: '现有研究的不足', subtitle: '细粒度 OOD 评测基准的缺位', count: '2 页', color: '#5B7FCE' },&#10;                { id: '03', title: 'COUNTS 数据集', subtitle: '首个同时支持检测与 grounding 的 OOD 基准', count: '4 页', color: '#2BC5C0' },&#10;                { id: '04', title: 'O(OD)² 与 OODG 基准 + 实验', subtitle: '检测器 + MLLM grounding 的系统评测', count: '6 页', color: '#FF8A4C' },&#10;                { id: '05', title: '结论与应用', subtitle: 'ICL 双刃剑 · 鲁棒视觉系统未来', count: '3 页', color: '#FFC247' },&#10;            ].map((item, idx) =&gt; (&#10;                &lt;Box key={idx} style={{&#10;                    width: '100%',&#10;                    height: 72,&#10;                    borderRadius: 12,&#10;                    background: '#FFFFFF',&#10;                    border: '1.5px solid #E5E7EB',&#10;                    flexDirection: 'row',&#10;                    alignItems: 'center',&#10;                    paddingLeft: 18,&#10;                    paddingRight: 18,&#10;                    gap: 18,&#10;                }}&gt;&#10;                    &lt;Box style={{&#10;                        width: 56,&#10;                        height: 56,&#10;                        borderRadius: 10,&#10;                        background: item.color,&#10;                        justifyContent: 'center',&#10;                        alignItems: 'center',&#10;                    }}&gt;&#10;                        &lt;Text style={{ color: '#FFFFFF', fontSize: 22, fontWeight: 'bold' }}&gt;{item.id}&lt;/Text&gt;&#10;                    &lt;/Box&gt;&#10;                    &lt;Box style={{ flex: 1, gap: 4 }}&gt;&#10;                        &lt;Text style={{ color: '#1A2230', fontSize: 22, fontWeight: 'bold' }}&gt;{item.title}&lt;/Text&gt;&#10;                        &lt;Text style={{ color: '#4A5568', fontSize: 14 }}&gt;{item.subtitle}&lt;/Text&gt;&#10;                    &lt;/Box&gt;&#10;                    &lt;Box style={{&#10;                        paddingLeft: 12,&#10;                        paddingRight: 12,&#10;                        paddingTop: 6,&#10;                        paddingBottom: 6,&#10;                        borderRadius: 12,&#10;                        background: '#F0F5FC',&#10;                    }}&gt;&#10;                        &lt;Text style={{ color: '#1E4FA8', fontSize: 13, fontWeight: 600 }}&gt;{item.count}&lt;/Text&gt;&#10;                    &lt;/Box&gt;&#10;                &lt;/Box&gt;&#10;            ))}&#10;        &lt;/Box&gt;&#10;    &lt;/Box&gt;&#10;    &lt;Box style={{&#10;        position: 'absolute',&#10;        bottom: 0,&#10;        left: 0,&#10;        width: '100%',&#10;        height: 32,&#10;        background: '#F7F9FC',&#10;        flexDirection: 'row',&#10;        alignItems: 'center',&#10;        justifyContent: 'space-between',&#10;        paddingLeft: 40,&#10;        paddingRight: 40,&#10;        borderTop: '1px solid #E5E7EB',&#10;    }}&gt;&#10;        &lt;Text style={{ color: '#8B97A8', fontSize: 12 }}&gt;COUNTS · 跨域目标检测与多模态 grounding&lt;/Text&gt;&#10;        &lt;Text style={{ color: '#4A5568', fontSize: 12 }}&gt;02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gradFill>
            <a:gsLst>
              <a:gs pos="0">
                <a:srgbClr val="1E4FA8"/>
              </a:gs>
              <a:gs pos="100000">
                <a:srgbClr val="5B7FC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381000" y="3429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FFFFFF"/>
                </a:solidFill>
                <a:latin typeface="Microsoft YaHei"/>
                <a:ea typeface="Microsoft YaHei"/>
              </a:rPr>
              <a:t>COUNTS · </a:t>
            </a:r>
            <a:r>
              <a:rPr lang="zh-CN" sz="1050" spc="225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1201400" y="342900"/>
            <a:ext cx="60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CATALOG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381000" y="1143000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1E4FA8"/>
                </a:solidFill>
                <a:latin typeface="Microsoft YaHei"/>
                <a:ea typeface="Microsoft YaHei"/>
              </a:rPr>
              <a:t>CHAPTER 0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381000" y="1485900"/>
            <a:ext cx="1828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200" b="1">
                <a:gradFill>
                  <a:gsLst>
                    <a:gs pos="0">
                      <a:srgbClr val="1E4FA8"/>
                    </a:gs>
                    <a:gs pos="100000">
                      <a:srgbClr val="5B7FCE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381000" y="2743200"/>
            <a:ext cx="1828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i="1">
                <a:solidFill>
                  <a:srgbClr val="8B97A8"/>
                </a:solidFill>
                <a:latin typeface="Georgia"/>
                <a:ea typeface="Georgia"/>
              </a:rPr>
              <a:t>Catalog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381000" y="5295900"/>
            <a:ext cx="1457325" cy="381000"/>
          </a:xfrm>
          <a:prstGeom prst="roundRect">
            <a:avLst>
              <a:gd name="adj" fmla="val 45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52450" y="53911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723900" y="5410200"/>
            <a:ext cx="942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个章节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共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> 18 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4038600" y="1143000"/>
            <a:ext cx="77724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64" name=""/>
          <p:cNvSpPr/>
          <p:nvPr/>
        </p:nvSpPr>
        <p:spPr>
          <a:xfrm rot="0" flipH="0" flipV="0">
            <a:off x="4210050" y="12192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343400" y="136207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914900" y="1257300"/>
            <a:ext cx="6086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研究动机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4914900" y="1552575"/>
            <a:ext cx="608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OOD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泛化是真实部署的关键挑战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11172825" y="1352550"/>
            <a:ext cx="466725" cy="266700"/>
          </a:xfrm>
          <a:prstGeom prst="roundRect">
            <a:avLst>
              <a:gd name="adj" fmla="val 4285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11287125" y="140970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3 </a:t>
            </a:r>
            <a:r>
              <a:rPr lang="zh-CN" sz="975" b="1">
                <a:solidFill>
                  <a:srgbClr val="1E4FA8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4038600" y="2000250"/>
            <a:ext cx="77724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4210050" y="20764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5B7FCE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4343400" y="221932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4914900" y="2114550"/>
            <a:ext cx="6086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现有研究的不足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4914900" y="2409825"/>
            <a:ext cx="608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细粒度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OOD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评测基准的缺位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11172825" y="2209800"/>
            <a:ext cx="466725" cy="266700"/>
          </a:xfrm>
          <a:prstGeom prst="roundRect">
            <a:avLst>
              <a:gd name="adj" fmla="val 4285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1287125" y="226695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2 </a:t>
            </a:r>
            <a:r>
              <a:rPr lang="zh-CN" sz="975" b="1">
                <a:solidFill>
                  <a:srgbClr val="1E4FA8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4038600" y="2857500"/>
            <a:ext cx="77724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4210050" y="29337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4343400" y="307657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4914900" y="2971800"/>
            <a:ext cx="6086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COUNTS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数据集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914900" y="3267075"/>
            <a:ext cx="608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首个同时支持检测与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grounding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OOD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基准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11172825" y="3067050"/>
            <a:ext cx="466725" cy="266700"/>
          </a:xfrm>
          <a:prstGeom prst="roundRect">
            <a:avLst>
              <a:gd name="adj" fmla="val 4285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1287125" y="312420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4 </a:t>
            </a:r>
            <a:r>
              <a:rPr lang="zh-CN" sz="975" b="1">
                <a:solidFill>
                  <a:srgbClr val="1E4FA8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4038600" y="3714750"/>
            <a:ext cx="77724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4210050" y="37909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FF8A4C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4343400" y="393382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4914900" y="3829050"/>
            <a:ext cx="6086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O(OD)²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 OODG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基准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实验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4914900" y="4124325"/>
            <a:ext cx="608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检测器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+ MLLM grounding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的系统评测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11172825" y="3924300"/>
            <a:ext cx="466725" cy="266700"/>
          </a:xfrm>
          <a:prstGeom prst="roundRect">
            <a:avLst>
              <a:gd name="adj" fmla="val 4285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11287125" y="398145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6 </a:t>
            </a:r>
            <a:r>
              <a:rPr lang="zh-CN" sz="975" b="1">
                <a:solidFill>
                  <a:srgbClr val="1E4FA8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4038600" y="4572000"/>
            <a:ext cx="77724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92" name=""/>
          <p:cNvSpPr/>
          <p:nvPr/>
        </p:nvSpPr>
        <p:spPr>
          <a:xfrm rot="0" flipH="0" flipV="0">
            <a:off x="4210050" y="46482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4343400" y="479107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4914900" y="4686300"/>
            <a:ext cx="6086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结论与应用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4914900" y="4981575"/>
            <a:ext cx="608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ICL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双刃剑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鲁棒视觉系统未来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11172825" y="4781550"/>
            <a:ext cx="466725" cy="266700"/>
          </a:xfrm>
          <a:prstGeom prst="roundRect">
            <a:avLst>
              <a:gd name="adj" fmla="val 4285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11287125" y="483870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3 </a:t>
            </a:r>
            <a:r>
              <a:rPr lang="zh-CN" sz="975" b="1">
                <a:solidFill>
                  <a:srgbClr val="1E4FA8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0" y="6562725"/>
            <a:ext cx="12192000" cy="2952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0" y="6553200"/>
            <a:ext cx="12192000" cy="304800"/>
          </a:xfrm>
          <a:custGeom>
            <a:pathLst>
              <a:path w="1280" h="3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381000" y="6638925"/>
            <a:ext cx="2333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COUNTS ·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跨域目标检测与多模态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grounding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1420475" y="66389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02 / 18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02" name="" descr="&lt;Slide padding={0}&gt;&#10;    &lt;Box style={{&#10;        width: '100%',&#10;        height: 80,&#10;        flexDirection: 'row',&#10;        alignItems: 'center',&#10;        paddingLeft: 40,&#10;        paddingRight: 40,&#10;        background: '#FFFFFF',&#10;        borderBottom: '2px solid #F0F5FC',&#10;    }}&gt;&#10;        &lt;Box style={{&#10;            width: 40,&#10;            height: 4,&#10;            borderRadius: 2,&#10;            background: '#1E4FA8',&#10;            marginRight: 14,&#10;        }} /&gt;&#10;        &lt;Text style={{ color: '#1E4FA8', fontSize: 14, fontWeight: 'bold', letterSpacing: 2 }}&gt;CHAPTER 01 · 研究动机&lt;/Text&gt;&#10;        &lt;Box style={{ flex: 1 }} /&gt;&#10;        &lt;Text style={{ color: '#8B97A8', fontSize: 13 }}&gt;页 03 / 18&lt;/Text&gt;&#10;    &lt;/Box&gt;&#10;    &lt;Box style={{&#10;        width: '100%',&#10;        height: 560,&#10;        paddingLeft: 48,&#10;        paddingRight: 48,&#10;        paddingTop: 32,&#10;        paddingBottom: 32,&#10;        flexDirection: 'row',&#10;        gap: 36,&#10;    }}&gt;&#10;        &lt;Box style={{ width: '44%', height: '100%', gap: 18, justifyContent: 'center' }}&gt;&#10;            &lt;Box style={{&#10;                width: 80,&#10;                height: 80,&#10;                borderRadius: 40,&#10;                background: 'linear-gradient(135deg, #1E4FA8 0%, #5B7FCE 100%)',&#10;                justifyContent: 'center',&#10;                alignItems: 'center',&#10;            }}&gt;&#10;                &lt;Text style={{ color: '#FFFFFF', fontSize: 32, fontWeight: 'bold' }}&gt;!&lt;/Text&gt;&#10;            &lt;/Box&gt;&#10;            &lt;Text style={{&#10;                color: '#1A2230',&#10;                fontSize: 56,&#10;                fontWeight: 'bold',&#10;                lineHeight: 1.15,&#10;            }}&gt;&#10;                IID 强，不等于&lt;br /&gt;OOD 也强。&#10;            &lt;/Text&gt;&#10;            &lt;Box style={{&#10;                width: 80,&#10;                height: 4,&#10;                borderRadius: 2,&#10;                background: '#FFC247',&#10;                marginTop: 8,&#10;            }} /&gt;&#10;            &lt;Text style={{ color: '#4A5568', fontSize: 18, lineHeight: 1.6 }}&gt;&#10;                检测器与多模态大模型在真实部署中遭遇分布偏移时，能力会显著下降；&#10;                但目前缺少系统评测这一痛点的细粒度基准。&#10;            &lt;/Text&gt;&#10;        &lt;/Box&gt;&#10;        &lt;Box style={{ width: '52%', height: '100%', gap: 18 }}&gt;&#10;            &lt;Box style={{&#10;                width: '100%',&#10;                height: 240,&#10;                borderRadius: 16,&#10;                background: 'linear-gradient(135deg, #F0F5FC 0%, #E8EFF8 100%)',&#10;                border: '1.5px solid #D6DCE5',&#10;                paddingTop: 22,&#10;                paddingBottom: 22,&#10;                paddingLeft: 26,&#10;                paddingRight: 26,&#10;                gap: 18,&#10;                justifyContent: 'center',&#10;            }}&gt;&#10;                &lt;Text style={{ color: '#1E4FA8', fontSize: 14, fontWeight: 'bold', letterSpacing: 2 }}&gt;L1 · 核心数据&lt;/Text&gt;&#10;                &lt;Box style={{ flexDirection: 'row', alignItems: 'flex-end', gap: 36 }}&gt;&#10;                    &lt;Box style={{ gap: 4 }}&gt;&#10;                        &lt;Text style={{ color: '#1E4FA8', fontSize: 80, fontWeight: 'bold', lineHeight: 1 }}&gt;70&lt;span style={{ fontSize: 36 }}&gt;%&lt;/span&gt;&lt;/Text&gt;&#10;                        &lt;Text style={{ color: '#4A5568', fontSize: 14 }}&gt;检测器遇到域偏移时&lt;br /&gt;的 mAP 跌幅&lt;/Text&gt;&#10;                    &lt;/Box&gt;&#10;                    &lt;Box style={{ width: 1, height: 90, background: '#D6DCE5' }} /&gt;&#10;                    &lt;Box style={{ gap: 4 }}&gt;&#10;                        &lt;Text style={{ color: '#FF8A4C', fontSize: 80, fontWeight: 'bold', lineHeight: 1 }}&gt;−50&lt;span style={{ fontSize: 36 }}&gt;%&lt;/span&gt;&lt;/Text&gt;&#10;                        &lt;Text style={{ color: '#4A5568', fontSize: 14 }}&gt;MLLM 在 ICL 协变量&lt;br /&gt;偏移下的相对下降&lt;/Text&gt;&#10;                    &lt;/Box&gt;&#10;                &lt;/Box&gt;&#10;            &lt;/Box&gt;&#10;            &lt;Box style={{&#10;                width: '100%',&#10;                height: 220,&#10;                borderRadius: 16,&#10;                paddingTop: 22,&#10;                paddingBottom: 22,&#10;                paddingLeft: 26,&#10;                paddingRight: 26,&#10;                background: '#FFFFFF',&#10;                border: '1.5px solid #FFC247',&#10;                gap: 10,&#10;            }}&gt;&#10;                &lt;Text style={{ color: '#FFC247', fontSize: 14, fontWeight: 'bold', letterSpacing: 2 }}&gt;L2 · 提出问题&lt;/Text&gt;&#10;                &lt;Text style={{ color: '#1A2230', fontSize: 24, fontWeight: 'bold', lineHeight: 1.4 }}&gt;&#10;                    我们能否系统评测&#10;                &lt;/Text&gt;&#10;                &lt;Text style={{ color: '#1A2230', fontSize: 24, fontWeight: 'bold', lineHeight: 1.4 }}&gt;&#10;                    目标检测 + MLLM grounding&#10;                &lt;/Text&gt;&#10;                &lt;Text style={{ color: '#1A2230', fontSize: 24, fontWeight: 'bold', lineHeight: 1.4 }}&gt;&#10;                    在自然分布偏移下的 OOD 泛化？&#10;                &lt;/Text&gt;&#10;                &lt;Box style={{ height: 1, background: '#E5E7EB', marginTop: 8, marginBottom: 4 }} /&gt;&#10;                &lt;Text style={{ color: '#4A5568', fontSize: 14, lineHeight: 1.5 }}&gt;&#10;                    本文给出肯定答案——COUNTS 数据集 + O(OD)² + OODG 三个工具同时回应这个问题。&#10;                &lt;/Text&gt;&#10;            &lt;/Box&gt;&#10;        &lt;/Box&gt;&#10;    &lt;/Box&gt;&#10;    &lt;Box style={{&#10;        position: 'absolute',&#10;        bottom: 0,&#10;        left: 0,&#10;        width: '100%',&#10;        height: 32,&#10;        background: '#F7F9FC',&#10;        flexDirection: 'row',&#10;        alignItems: 'center',&#10;        justifyContent: 'space-between',&#10;        paddingLeft: 40,&#10;        paddingRight: 40,&#10;        borderTop: '1px solid #E5E7EB',&#10;    }}&gt;&#10;        &lt;Text style={{ color: '#8B97A8', fontSize: 12 }}&gt;COUNTS · 跨域目标检测与多模态 grounding&lt;/Text&gt;&#10;        &lt;Text style={{ color: '#4A5568', fontSize: 12 }}&gt;03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 rot="0" flipH="0" flipV="0"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0" y="0"/>
            <a:ext cx="12192000" cy="762000"/>
          </a:xfrm>
          <a:custGeom>
            <a:pathLst>
              <a:path w="1280" h="80">
                <a:moveTo>
                  <a:pt x="0" y="78"/>
                </a:moveTo>
                <a:lnTo>
                  <a:pt x="1280" y="78"/>
                </a:lnTo>
                <a:lnTo>
                  <a:pt x="1280" y="80"/>
                </a:lnTo>
                <a:lnTo>
                  <a:pt x="0" y="80"/>
                </a:lnTo>
                <a:close/>
              </a:path>
            </a:pathLst>
          </a:custGeom>
          <a:solidFill>
            <a:srgbClr val="F0F5FC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381000" y="352425"/>
            <a:ext cx="381000" cy="38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95350" y="2952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1E4FA8"/>
                </a:solidFill>
                <a:latin typeface="Microsoft YaHei"/>
                <a:ea typeface="Microsoft YaHei"/>
              </a:rPr>
              <a:t>CHAPTER 01 · </a:t>
            </a:r>
            <a:r>
              <a:rPr lang="zh-CN" sz="1050" b="1" spc="150">
                <a:solidFill>
                  <a:srgbClr val="1E4FA8"/>
                </a:solidFill>
                <a:latin typeface="Microsoft YaHei"/>
                <a:ea typeface="Microsoft YaHei"/>
              </a:rPr>
              <a:t>研究动机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11229975" y="295275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页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03 / 18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457200" y="1666875"/>
            <a:ext cx="762000" cy="762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E4FA8"/>
              </a:gs>
              <a:gs pos="100000">
                <a:srgbClr val="5B7FC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781050" y="1866900"/>
            <a:ext cx="114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457200" y="2600325"/>
            <a:ext cx="4962525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200" b="1">
                <a:solidFill>
                  <a:srgbClr val="1A2230"/>
                </a:solidFill>
                <a:latin typeface="Microsoft YaHei"/>
                <a:ea typeface="Microsoft YaHei"/>
              </a:rPr>
              <a:t>IID </a:t>
            </a: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强，不等于</a:t>
            </a:r>
            <a:endParaRPr/>
          </a:p>
          <a:p>
            <a:pPr>
              <a:lnSpc>
                <a:spcPct val="114999"/>
              </a:lnSpc>
            </a:pPr>
            <a:r>
              <a:rPr lang="en-US" sz="4200" b="1">
                <a:solidFill>
                  <a:srgbClr val="1A2230"/>
                </a:solidFill>
                <a:latin typeface="Microsoft YaHei"/>
                <a:ea typeface="Microsoft YaHei"/>
              </a:rPr>
              <a:t>OOD </a:t>
            </a: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也强。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457200" y="43243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457200" y="4533900"/>
            <a:ext cx="49625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检测器与多模态大模型在真实部署中遭遇分布偏移时，能力会显著下降；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但目前缺少系统评测这一痛点的细粒度基准。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5762625" y="1066800"/>
            <a:ext cx="5867400" cy="2286000"/>
          </a:xfrm>
          <a:prstGeom prst="roundRect">
            <a:avLst>
              <a:gd name="adj" fmla="val 6667"/>
            </a:avLst>
          </a:prstGeom>
          <a:gradFill>
            <a:gsLst>
              <a:gs pos="0">
                <a:srgbClr val="F0F5FC"/>
              </a:gs>
              <a:gs pos="100000">
                <a:srgbClr val="E8EFF8"/>
              </a:gs>
            </a:gsLst>
            <a:lin ang="2700000" scaled="1"/>
          </a:gradFill>
          <a:ln w="1905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6010275" y="1409700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1E4FA8"/>
                </a:solidFill>
                <a:latin typeface="Microsoft YaHei"/>
                <a:ea typeface="Microsoft YaHei"/>
              </a:rPr>
              <a:t>L1 · </a:t>
            </a:r>
            <a:r>
              <a:rPr lang="zh-CN" sz="1050" b="1" spc="150">
                <a:solidFill>
                  <a:srgbClr val="1E4FA8"/>
                </a:solidFill>
                <a:latin typeface="Microsoft YaHei"/>
                <a:ea typeface="Microsoft YaHei"/>
              </a:rPr>
              <a:t>核心数据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010275" y="1743075"/>
            <a:ext cx="1266825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>
                <a:solidFill>
                  <a:srgbClr val="1E4FA8"/>
                </a:solidFill>
                <a:latin typeface="Microsoft YaHei"/>
                <a:ea typeface="Microsoft YaHei"/>
              </a:rPr>
              <a:t>70</a:t>
            </a: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010275" y="2695575"/>
            <a:ext cx="12668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检测器遇到域偏移时</a:t>
            </a:r>
            <a:endParaRPr/>
          </a:p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mAP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跌幅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7620000" y="2162175"/>
            <a:ext cx="9525" cy="8572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972425" y="1743075"/>
            <a:ext cx="184785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>
                <a:solidFill>
                  <a:srgbClr val="FF8A4C"/>
                </a:solidFill>
                <a:latin typeface="Microsoft YaHei"/>
                <a:ea typeface="Microsoft YaHei"/>
              </a:rPr>
              <a:t>−50</a:t>
            </a:r>
            <a:r>
              <a:rPr lang="en-US" sz="2700" b="1">
                <a:solidFill>
                  <a:srgbClr val="FF8A4C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7972425" y="2695575"/>
            <a:ext cx="18478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MLLM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在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ICL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协变量</a:t>
            </a:r>
            <a:endParaRPr/>
          </a:p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偏移下的相对下降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5762625" y="3524250"/>
            <a:ext cx="586740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FFC247"/>
            </a:solidFill>
            <a:prstDash val="solid"/>
          </a:ln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010275" y="3733800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C247"/>
                </a:solidFill>
                <a:latin typeface="Microsoft YaHei"/>
                <a:ea typeface="Microsoft YaHei"/>
              </a:rPr>
              <a:t>L2 · </a:t>
            </a:r>
            <a:r>
              <a:rPr lang="zh-CN" sz="1050" b="1" spc="150">
                <a:solidFill>
                  <a:srgbClr val="FFC247"/>
                </a:solidFill>
                <a:latin typeface="Microsoft YaHei"/>
                <a:ea typeface="Microsoft YaHei"/>
              </a:rPr>
              <a:t>提出问题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010275" y="3990975"/>
            <a:ext cx="53721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我们能否系统评测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010275" y="4476750"/>
            <a:ext cx="53721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目标检测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+ MLLM grounding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6010275" y="4962525"/>
            <a:ext cx="53721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在自然分布偏移下的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OOD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泛化？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6010275" y="5524500"/>
            <a:ext cx="53721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010275" y="5667375"/>
            <a:ext cx="5372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本文给出肯定答案——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COUNTS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数据集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+ O(OD)² + OODG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三个工具同时回应这个问题。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0" y="6562725"/>
            <a:ext cx="12192000" cy="2952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0" y="6553200"/>
            <a:ext cx="12192000" cy="304800"/>
          </a:xfrm>
          <a:custGeom>
            <a:pathLst>
              <a:path w="1280" h="3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381000" y="6638925"/>
            <a:ext cx="2333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COUNTS ·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跨域目标检测与多模态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grounding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1420475" y="66389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03 / 18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31" name="" descr="&lt;Slide padding={0}&gt;&#10;    &lt;Box style={{&#10;        width: '100%',&#10;        height: 80,&#10;        flexDirection: 'row',&#10;        alignItems: 'center',&#10;        paddingLeft: 40,&#10;        paddingRight: 40,&#10;        background: '#FFFFFF',&#10;        borderBottom: '2px solid #F0F5FC',&#10;    }}&gt;&#10;        &lt;Box style={{ width: 40, height: 4, borderRadius: 2, background: '#1E4FA8', marginRight: 14 }} /&gt;&#10;        &lt;Text style={{ color: '#1E4FA8', fontSize: 14, fontWeight: 'bold', letterSpacing: 2 }}&gt;CHAPTER 01 · 研究问题&lt;/Text&gt;&#10;        &lt;Box style={{ flex: 1 }} /&gt;&#10;        &lt;Text style={{ color: '#8B97A8', fontSize: 13 }}&gt;页 04 / 18&lt;/Text&gt;&#10;    &lt;/Box&gt;&#10;    &lt;Box style={{&#10;        width: '100%',&#10;        height: 560,&#10;        paddingLeft: 48,&#10;        paddingRight: 48,&#10;        paddingTop: 28,&#10;        paddingBottom: 28,&#10;        flexDirection: 'row',&#10;        gap: 32,&#10;    }}&gt;&#10;        &lt;Box style={{ width: '26%', height: '100%', gap: 14, justifyContent: 'flex-start' }}&gt;&#10;            &lt;Text style={{ color: '#1E4FA8', fontSize: 14, fontWeight: 'bold', letterSpacing: 3 }}&gt;BACKGROUND&lt;/Text&gt;&#10;            &lt;Text style={{ color: '#1A2230', fontSize: 38, fontWeight: 'bold', lineHeight: 1.2 }}&gt;&#10;                为什么&lt;br /&gt;OOD 泛化&lt;br /&gt;如此重要？&#10;            &lt;/Text&gt;&#10;            &lt;Box style={{ width: 60, height: 4, borderRadius: 2, background: '#2BC5C0', marginTop: 6 }} /&gt;&#10;            &lt;Text style={{ color: '#4A5568', fontSize: 14, lineHeight: 1.5, marginTop: 10 }}&gt;&#10;                一旦训练数据与真实世界分布不再同分布，&#10;                模型就会从「可用」跌到「不可信」。&#10;            &lt;/Text&gt;&#10;        &lt;/Box&gt;&#10;        &lt;Box style={{ width: '70%', height: '100%', gap: 18 }}&gt;&#10;            {[&#10;                {&#10;                    tag: 'REAL-WORLD RISK',&#10;                    title: '真实部署中检测器会显著降级',&#10;                    desc: '现有目标检测器在 COCO 等 IID 基准表现强劲，但遇到雪、昏暗、逆光等场景时性能明显下降，难以满足自动驾驶、监控等真实场景要求。',&#10;                    color: '#1E4FA8',&#10;                    bg: '#E8EFF8',&#10;                    icon: 'A',&#10;                },&#10;                {&#10;                    tag: 'MLLM TRAP',&#10;                    title: 'MLLM 在偏置示例下被带偏',&#10;                    desc: '多模态大模型在 Zero-shot 与 IID 上下文示例下表现稳健，但当示例分布与测试样本分布错配时，模型可能学到伪相关而严重降级。',&#10;                    color: '#FF8A4C',&#10;                    bg: '#FFEAD8',&#10;                    icon: 'B',&#10;                },&#10;                {&#10;                    tag: 'GROUNDING GAP',&#10;                    title: 'Grounding 评测尚未系统化',&#10;                    desc: 'grounding（把文本描述对应到图像具体区域）是细粒度视觉理解关键，但此前 OOD 评测极少覆盖这一任务，缺少合适基准。',&#10;                    color: '#2BC5C0',&#10;                    bg: '#DAF6F4',&#10;                    icon: 'C',&#10;                },&#10;            ].map((c, idx) =&gt; (&#10;                &lt;Box key={idx} style={{&#10;                    width: '100%',&#10;                    height: 156,&#10;                    borderRadius: 14,&#10;                    background: '#FFFFFF',&#10;                    border: '1.5px solid #E5E7EB',&#10;                    flexDirection: 'row',&#10;                    overflow: 'hidden',&#10;                }}&gt;&#10;                    &lt;Box style={{&#10;                        width: 88,&#10;                        height: '100%',&#10;                        background: c.color,&#10;                        justifyContent: 'center',&#10;                        alignItems: 'center',&#10;                    }}&gt;&#10;                        &lt;Text style={{ color: '#FFFFFF', fontSize: 56, fontWeight: 'bold' }}&gt;{c.icon}&lt;/Text&gt;&#10;                    &lt;/Box&gt;&#10;                    &lt;Box style={{ flex: 1, paddingTop: 18, paddingBottom: 18, paddingLeft: 22, paddingRight: 22, gap: 8 }}&gt;&#10;                        &lt;Box style={{&#10;                            paddingLeft: 10,&#10;                            paddingRight: 10,&#10;                            paddingTop: 4,&#10;                            paddingBottom: 4,&#10;                            borderRadius: 8,&#10;                            background: c.bg,&#10;                            alignSelf: 'flex-start',&#10;                        }}&gt;&#10;                            &lt;Text style={{ color: c.color, fontSize: 11, fontWeight: 'bold', letterSpacing: 2 }}&gt;{c.tag}&lt;/Text&gt;&#10;                        &lt;/Box&gt;&#10;                        &lt;Text style={{ color: '#1A2230', fontSize: 22, fontWeight: 'bold', lineHeight: 1.3 }}&gt;{c.title}&lt;/Text&gt;&#10;                        &lt;Text style={{ color: '#4A5568', fontSize: 14, lineHeight: 1.5 }}&gt;{c.desc}&lt;/Text&gt;&#10;                    &lt;/Box&gt;&#10;                &lt;/Box&gt;&#10;            ))}&#10;        &lt;/Box&gt;&#10;    &lt;/Box&gt;&#10;    &lt;Box style={{&#10;        position: 'absolute',&#10;        bottom: 0, left: 0, width: '100%', height: 32,&#10;        background: '#F7F9FC',&#10;        flexDirection: 'row', alignItems: 'center',&#10;        justifyContent: 'space-between',&#10;        paddingLeft: 40, paddingRight: 40,&#10;        borderTop: '1px solid #E5E7EB',&#10;    }}&gt;&#10;        &lt;Text style={{ color: '#8B97A8', fontSize: 12 }}&gt;COUNTS · 跨域目标检测与多模态 grounding&lt;/Text&gt;&#10;        &lt;Text style={{ color: '#4A5568', fontSize: 12 }}&gt;04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"/>
          <p:cNvSpPr/>
          <p:nvPr/>
        </p:nvSpPr>
        <p:spPr>
          <a:xfrm rot="0" flipH="0" flipV="0"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3" name=""/>
          <p:cNvSpPr/>
          <p:nvPr/>
        </p:nvSpPr>
        <p:spPr>
          <a:xfrm rot="0" flipH="0" flipV="0">
            <a:off x="0" y="0"/>
            <a:ext cx="12192000" cy="762000"/>
          </a:xfrm>
          <a:custGeom>
            <a:pathLst>
              <a:path w="1280" h="80">
                <a:moveTo>
                  <a:pt x="0" y="78"/>
                </a:moveTo>
                <a:lnTo>
                  <a:pt x="1280" y="78"/>
                </a:lnTo>
                <a:lnTo>
                  <a:pt x="1280" y="80"/>
                </a:lnTo>
                <a:lnTo>
                  <a:pt x="0" y="80"/>
                </a:lnTo>
                <a:close/>
              </a:path>
            </a:pathLst>
          </a:custGeom>
          <a:solidFill>
            <a:srgbClr val="F0F5FC"/>
          </a:solidFill>
          <a:ln/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381000" y="352425"/>
            <a:ext cx="381000" cy="38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95350" y="2952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1E4FA8"/>
                </a:solidFill>
                <a:latin typeface="Microsoft YaHei"/>
                <a:ea typeface="Microsoft YaHei"/>
              </a:rPr>
              <a:t>CHAPTER 01 · </a:t>
            </a:r>
            <a:r>
              <a:rPr lang="zh-CN" sz="1050" b="1" spc="150">
                <a:solidFill>
                  <a:srgbClr val="1E4FA8"/>
                </a:solidFill>
                <a:latin typeface="Microsoft YaHei"/>
                <a:ea typeface="Microsoft YaHei"/>
              </a:rPr>
              <a:t>研究问题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11229975" y="295275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页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04 / 18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457200" y="10287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1E4FA8"/>
                </a:solidFill>
                <a:latin typeface="Microsoft YaHei"/>
                <a:ea typeface="Microsoft YaHei"/>
              </a:rPr>
              <a:t>BACKGROUND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457200" y="1323975"/>
            <a:ext cx="2933700" cy="15716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850" b="1">
                <a:solidFill>
                  <a:srgbClr val="1A2230"/>
                </a:solidFill>
                <a:latin typeface="Microsoft YaHei"/>
                <a:ea typeface="Microsoft YaHei"/>
              </a:rPr>
              <a:t>为什么</a:t>
            </a:r>
            <a:endParaRPr/>
          </a:p>
          <a:p>
            <a:pPr>
              <a:lnSpc>
                <a:spcPct val="120000"/>
              </a:lnSpc>
            </a:pPr>
            <a:r>
              <a:rPr lang="en-US" sz="2850" b="1">
                <a:solidFill>
                  <a:srgbClr val="1A2230"/>
                </a:solidFill>
                <a:latin typeface="Microsoft YaHei"/>
                <a:ea typeface="Microsoft YaHei"/>
              </a:rPr>
              <a:t>OOD </a:t>
            </a:r>
            <a:r>
              <a:rPr lang="zh-CN" sz="2850" b="1">
                <a:solidFill>
                  <a:srgbClr val="1A2230"/>
                </a:solidFill>
                <a:latin typeface="Microsoft YaHei"/>
                <a:ea typeface="Microsoft YaHei"/>
              </a:rPr>
              <a:t>泛化</a:t>
            </a:r>
            <a:endParaRPr/>
          </a:p>
          <a:p>
            <a:pPr>
              <a:lnSpc>
                <a:spcPct val="120000"/>
              </a:lnSpc>
            </a:pPr>
            <a:r>
              <a:rPr lang="zh-CN" sz="2850" b="1">
                <a:solidFill>
                  <a:srgbClr val="1A2230"/>
                </a:solidFill>
                <a:latin typeface="Microsoft YaHei"/>
                <a:ea typeface="Microsoft YaHei"/>
              </a:rPr>
              <a:t>如此重要？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457200" y="30861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457200" y="3352800"/>
            <a:ext cx="2933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一旦训练数据与真实世界分布不再同分布，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模型就会从「可用」跌到「不可信」。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3695700" y="1028700"/>
            <a:ext cx="7896225" cy="14859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3695700" y="1028700"/>
            <a:ext cx="838200" cy="1485900"/>
          </a:xfrm>
          <a:custGeom>
            <a:pathLst>
              <a:path w="88" h="156">
                <a:moveTo>
                  <a:pt x="88" y="156"/>
                </a:moveTo>
                <a:lnTo>
                  <a:pt x="14" y="156"/>
                </a:lnTo>
                <a:cubicBezTo>
                  <a:pt x="6" y="156"/>
                  <a:pt x="0" y="150"/>
                  <a:pt x="0" y="142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88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3914775" y="1447800"/>
            <a:ext cx="4095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4743450" y="1200150"/>
            <a:ext cx="1485900" cy="209550"/>
          </a:xfrm>
          <a:prstGeom prst="roundRect">
            <a:avLst>
              <a:gd name="adj" fmla="val 36364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4838700" y="1238250"/>
            <a:ext cx="1295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50">
                <a:solidFill>
                  <a:srgbClr val="1E4FA8"/>
                </a:solidFill>
                <a:latin typeface="Microsoft YaHei"/>
                <a:ea typeface="Microsoft YaHei"/>
              </a:rPr>
              <a:t>REAL-WORLD RISK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4743450" y="1485900"/>
            <a:ext cx="66389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真实部署中检测器会显著降级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4743450" y="1895475"/>
            <a:ext cx="66389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现有目标检测器在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COCO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等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IID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基准表现强劲，但遇到雪、昏暗、逆光等场景时性能明显下降，难以满足自动驾驶、监控等真实场景要求。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3695700" y="2686050"/>
            <a:ext cx="7896225" cy="14859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49" name=""/>
          <p:cNvSpPr/>
          <p:nvPr/>
        </p:nvSpPr>
        <p:spPr>
          <a:xfrm rot="0" flipH="0" flipV="0">
            <a:off x="3695700" y="2686050"/>
            <a:ext cx="838200" cy="1485900"/>
          </a:xfrm>
          <a:custGeom>
            <a:pathLst>
              <a:path w="88" h="156">
                <a:moveTo>
                  <a:pt x="88" y="156"/>
                </a:moveTo>
                <a:lnTo>
                  <a:pt x="14" y="156"/>
                </a:lnTo>
                <a:cubicBezTo>
                  <a:pt x="6" y="156"/>
                  <a:pt x="0" y="150"/>
                  <a:pt x="0" y="142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88" y="0"/>
                </a:lnTo>
                <a:close/>
              </a:path>
            </a:pathLst>
          </a:custGeom>
          <a:solidFill>
            <a:srgbClr val="FF8A4C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3933825" y="3105150"/>
            <a:ext cx="3714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4743450" y="2857500"/>
            <a:ext cx="1009650" cy="209550"/>
          </a:xfrm>
          <a:prstGeom prst="roundRect">
            <a:avLst>
              <a:gd name="adj" fmla="val 36364"/>
            </a:avLst>
          </a:prstGeom>
          <a:solidFill>
            <a:srgbClr val="FFEAD8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4838700" y="2895600"/>
            <a:ext cx="819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50">
                <a:solidFill>
                  <a:srgbClr val="FF8A4C"/>
                </a:solidFill>
                <a:latin typeface="Microsoft YaHei"/>
                <a:ea typeface="Microsoft YaHei"/>
              </a:rPr>
              <a:t>MLLM TRAP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4743450" y="3143250"/>
            <a:ext cx="66389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MLLM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在偏置示例下被带偏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4743450" y="3552825"/>
            <a:ext cx="66389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多模态大模型在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Zero-shot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IID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上下文示例下表现稳健，但当示例分布与测试样本分布错配时，模型可能学到伪相关而严重降级。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3695700" y="4343400"/>
            <a:ext cx="7896225" cy="14859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56" name=""/>
          <p:cNvSpPr/>
          <p:nvPr/>
        </p:nvSpPr>
        <p:spPr>
          <a:xfrm rot="0" flipH="0" flipV="0">
            <a:off x="3695700" y="4343400"/>
            <a:ext cx="838200" cy="1485900"/>
          </a:xfrm>
          <a:custGeom>
            <a:pathLst>
              <a:path w="88" h="156">
                <a:moveTo>
                  <a:pt x="88" y="156"/>
                </a:moveTo>
                <a:lnTo>
                  <a:pt x="14" y="156"/>
                </a:lnTo>
                <a:cubicBezTo>
                  <a:pt x="6" y="156"/>
                  <a:pt x="0" y="150"/>
                  <a:pt x="0" y="142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88" y="0"/>
                </a:lnTo>
                <a:close/>
              </a:path>
            </a:pathLst>
          </a:custGeom>
          <a:solidFill>
            <a:srgbClr val="2BC5C0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3933825" y="4762500"/>
            <a:ext cx="3619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4743450" y="4514850"/>
            <a:ext cx="1400175" cy="209550"/>
          </a:xfrm>
          <a:prstGeom prst="roundRect">
            <a:avLst>
              <a:gd name="adj" fmla="val 36364"/>
            </a:avLst>
          </a:prstGeom>
          <a:solidFill>
            <a:srgbClr val="DAF6F4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4838700" y="4552950"/>
            <a:ext cx="1209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50">
                <a:solidFill>
                  <a:srgbClr val="2BC5C0"/>
                </a:solidFill>
                <a:latin typeface="Microsoft YaHei"/>
                <a:ea typeface="Microsoft YaHei"/>
              </a:rPr>
              <a:t>GROUNDING GAP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4743450" y="4800600"/>
            <a:ext cx="66389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Grounding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评测尚未系统化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4743450" y="5210175"/>
            <a:ext cx="66389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grounding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（把文本描述对应到图像具体区域）是细粒度视觉理解关键，但此前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OOD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评测极少覆盖这一任务，缺少合适基准。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0" y="6562725"/>
            <a:ext cx="12192000" cy="2952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63" name=""/>
          <p:cNvSpPr/>
          <p:nvPr/>
        </p:nvSpPr>
        <p:spPr>
          <a:xfrm rot="0" flipH="0" flipV="0">
            <a:off x="0" y="6553200"/>
            <a:ext cx="12192000" cy="304800"/>
          </a:xfrm>
          <a:custGeom>
            <a:pathLst>
              <a:path w="1280" h="3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381000" y="6638925"/>
            <a:ext cx="2333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COUNTS ·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跨域目标检测与多模态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grounding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11420475" y="66389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04 / 18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466" name="" descr="&lt;Slide padding={0}&gt;&#10;    &lt;Box style={{&#10;        width: '100%',&#10;        height: 80,&#10;        flexDirection: 'row', alignItems: 'center',&#10;        paddingLeft: 40, paddingRight: 40,&#10;        background: '#FFFFFF',&#10;        borderBottom: '2px solid #F0F5FC',&#10;    }}&gt;&#10;        &lt;Box style={{ width: 40, height: 4, borderRadius: 2, background: '#FF8A4C', marginRight: 14 }} /&gt;&#10;        &lt;Text style={{ color: '#FF8A4C', fontSize: 14, fontWeight: 'bold', letterSpacing: 2 }}&gt;CHAPTER 01 · 现有研究的不足&lt;/Text&gt;&#10;        &lt;Box style={{ flex: 1 }} /&gt;&#10;        &lt;Text style={{ color: '#8B97A8', fontSize: 13 }}&gt;页 05 / 18&lt;/Text&gt;&#10;    &lt;/Box&gt;&#10;    &lt;Box style={{&#10;        width: '100%',&#10;        height: 560,&#10;        paddingLeft: 48, paddingRight: 48,&#10;        paddingTop: 28, paddingBottom: 28,&#10;        gap: 16,&#10;    }}&gt;&#10;        &lt;Box style={{ width: '100%', gap: 10, alignItems: 'flex-start' }}&gt;&#10;            &lt;Text style={{ color: '#1A2230', fontSize: 36, fontWeight: 'bold', lineHeight: 1.2 }}&gt;&#10;                一个关键空缺：细粒度标注的 OOD 基准&#10;            &lt;/Text&gt;&#10;            &lt;Text style={{ color: '#4A5568', fontSize: 16, lineHeight: 1.5 }}&gt;&#10;                现成的 OOD 基准要么只做图像分类，要么缺少域多样性，要么需要合成扰动；目标级 grounding 的细粒度评测至今缺失。&#10;            &lt;/Text&gt;&#10;        &lt;/Box&gt;&#10;        &lt;Box style={{&#10;            width: '100%',&#10;            flex: 1,&#10;            gap: 14,&#10;            flexDirection: 'row',&#10;        }}&gt;&#10;            &lt;Box style={{ flex: 1, height: '100%', gap: 14 }}&gt;&#10;                &lt;Text style={{ color: '#8B97A8', fontSize: 12, fontWeight: 'bold', letterSpacing: 2 }}&gt;EXISTING · 现有做法&lt;/Text&gt;&#10;                {[&#10;                    { tag: 'PACS / VLCS / DomainNet', desc: '图像分类为主，缺目标级定位', color: '#1E4FA8', bg: '#E8EFF8' },&#10;                    { tag: 'COCO-C', desc: '合成扰动，与真实场景差距大', color: '#5B7FCE', bg: '#DCE7F8' },&#10;                    { tag: 'COCO-O', desc: '自然分布偏移但规模有限（6 域）', color: '#FF8A4C', bg: '#FFEAD8' },&#10;                ].map((row, idx) =&gt; (&#10;                    &lt;Box key={idx} style={{&#10;                        width: '100%',&#10;                        height: 100,&#10;                        borderRadius: 12,&#10;                        background: '#FFFFFF',&#10;                        border: `1.5px solid ${row.color}`,&#10;                        paddingLeft: 18, paddingRight: 18,&#10;                        paddingTop: 14, paddingBottom: 14,&#10;                        gap: 6,&#10;                    }}&gt;&#10;                        &lt;Box style={{&#10;                            paddingLeft: 10, paddingRight: 10,&#10;                            paddingTop: 4, paddingBottom: 4,&#10;                            borderRadius: 8,&#10;                            background: row.bg,&#10;                            alignSelf: 'flex-start',&#10;                        }}&gt;&#10;                            &lt;Text style={{ color: row.color, fontSize: 11, fontWeight: 'bold', letterSpacing: 1 }}&gt;{row.tag}&lt;/Text&gt;&#10;                        &lt;/Box&gt;&#10;                        &lt;Text style={{ color: '#1A2230', fontSize: 18, fontWeight: 'bold', lineHeight: 1.3 }}&gt;{row.desc}&lt;/Text&gt;&#10;                    &lt;/Box&gt;&#10;                ))}&#10;            &lt;/Box&gt;&#10;            &lt;Box style={{&#10;                width: 80,&#10;                height: '100%',&#10;                justifyContent: 'center', alignItems: 'center',&#10;            }}&gt;&#10;                &lt;Box style={{&#10;                    width: 60, height: 60,&#10;                    borderRadius: 30,&#10;                    background: 'linear-gradient(135deg, #FFC247 0%, #FF8A4C 100%)',&#10;                    justifyContent: 'center', alignItems: 'center',&#10;                    boxShadow: '0 4px 16px rgba(255,138,76,0.35)',&#10;                }}&gt;&#10;                    &lt;Text style={{ color: '#FFFFFF', fontSize: 28, fontWeight: 'bold' }}&gt;vs&lt;/Text&gt;&#10;                &lt;/Box&gt;&#10;            &lt;/Box&gt;&#10;            &lt;Box style={{ flex: 1, height: '100%', gap: 14 }}&gt;&#10;                &lt;Text style={{ color: '#8B97A8', fontSize: 12, fontWeight: 'bold', letterSpacing: 2 }}&gt;COUNTS · 本文给出的答案&lt;/Text&gt;&#10;                {[&#10;                    { tag: '22.2 万张自然图像', desc: '真实世界图像，无人工合成', color: '#2BC5C0', bg: '#DAF6F4' },&#10;                    { tag: '14 个真实分布域', desc: '覆盖日常视觉变化，互相独立', color: '#2BC5C0', bg: '#DAF6F4' },&#10;                    { tag: '细粒度目标级标注', desc: '1,196,114 框，检测 + grounding 双任务', color: '#2BC5C0', bg: '#DAF6F4' },&#10;                ].map((row, idx) =&gt; (&#10;                    &lt;Box key={idx} style={{&#10;                        width: '100%',&#10;                        height: 100,&#10;                        borderRadius: 12,&#10;                        background: '#FFFFFF',&#10;                        border: `1.5px solid ${row.color}`,&#10;                        paddingLeft: 18, paddingRight: 18,&#10;                        paddingTop: 14, paddingBottom: 14,&#10;                        gap: 6,&#10;                    }}&gt;&#10;                        &lt;Box style={{&#10;                            paddingLeft: 10, paddingRight: 10,&#10;                            paddingTop: 4, paddingBottom: 4,&#10;                            borderRadius: 8,&#10;                            background: row.bg,&#10;                            alignSelf: 'flex-start',&#10;                        }}&gt;&#10;                            &lt;Text style={{ color: row.color, fontSize: 11, fontWeight: 'bold', letterSpacing: 1 }}&gt;{row.tag}&lt;/Text&gt;&#10;                        &lt;/Box&gt;&#10;                        &lt;Text style={{ color: '#1A2230', fontSize: 18, fontWeight: 'bold', lineHeight: 1.3 }}&gt;{row.desc}&lt;/Text&gt;&#10;                    &lt;/Box&gt;&#10;                ))}&#10;            &lt;/Box&gt;&#10;        &lt;/Box&gt;&#10;    &lt;/Box&gt;&#10;    &lt;Box style={{&#10;        position: 'absolute', bottom: 0, left: 0, width: '100%', height: 32,&#10;        background: '#F7F9FC',&#10;        flexDirection: 'row', alignItems: 'center',&#10;        justifyContent: 'space-between',&#10;        paddingLeft: 40, paddingRight: 40,&#10;        borderTop: '1px solid #E5E7EB',&#10;    }}&gt;&#10;        &lt;Text style={{ color: '#8B97A8', fontSize: 12 }}&gt;COUNTS · 跨域目标检测与多模态 grounding&lt;/Text&gt;&#10;        &lt;Text style={{ color: '#4A5568', fontSize: 12 }}&gt;05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"/>
          <p:cNvSpPr/>
          <p:nvPr/>
        </p:nvSpPr>
        <p:spPr>
          <a:xfrm rot="0" flipH="0" flipV="0"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8" name=""/>
          <p:cNvSpPr/>
          <p:nvPr/>
        </p:nvSpPr>
        <p:spPr>
          <a:xfrm rot="0" flipH="0" flipV="0">
            <a:off x="0" y="0"/>
            <a:ext cx="12192000" cy="762000"/>
          </a:xfrm>
          <a:custGeom>
            <a:pathLst>
              <a:path w="1280" h="80">
                <a:moveTo>
                  <a:pt x="0" y="78"/>
                </a:moveTo>
                <a:lnTo>
                  <a:pt x="1280" y="78"/>
                </a:lnTo>
                <a:lnTo>
                  <a:pt x="1280" y="80"/>
                </a:lnTo>
                <a:lnTo>
                  <a:pt x="0" y="80"/>
                </a:lnTo>
                <a:close/>
              </a:path>
            </a:pathLst>
          </a:custGeom>
          <a:solidFill>
            <a:srgbClr val="F0F5FC"/>
          </a:solidFill>
          <a:ln/>
        </p:spPr>
        <p:txBody>
          <a:bodyPr/>
          <a:p/>
        </p:txBody>
      </p:sp>
      <p:sp>
        <p:nvSpPr>
          <p:cNvPr id="469" name=""/>
          <p:cNvSpPr/>
          <p:nvPr/>
        </p:nvSpPr>
        <p:spPr>
          <a:xfrm rot="0" flipH="0" flipV="0">
            <a:off x="381000" y="352425"/>
            <a:ext cx="381000" cy="38100"/>
          </a:xfrm>
          <a:prstGeom prst="roundRect">
            <a:avLst>
              <a:gd name="adj" fmla="val 50000"/>
            </a:avLst>
          </a:prstGeom>
          <a:solidFill>
            <a:srgbClr val="FF8A4C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895350" y="295275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8A4C"/>
                </a:solidFill>
                <a:latin typeface="Microsoft YaHei"/>
                <a:ea typeface="Microsoft YaHei"/>
              </a:rPr>
              <a:t>CHAPTER 01 · </a:t>
            </a:r>
            <a:r>
              <a:rPr lang="zh-CN" sz="1050" b="1" spc="150">
                <a:solidFill>
                  <a:srgbClr val="FF8A4C"/>
                </a:solidFill>
                <a:latin typeface="Microsoft YaHei"/>
                <a:ea typeface="Microsoft YaHei"/>
              </a:rPr>
              <a:t>现有研究的不足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11229975" y="295275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页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05 / 18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457200" y="1028700"/>
            <a:ext cx="6181725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一个关键空缺：细粒度标注的</a:t>
            </a:r>
            <a:r>
              <a:rPr lang="en-US" sz="2700" b="1">
                <a:solidFill>
                  <a:srgbClr val="1A2230"/>
                </a:solidFill>
                <a:latin typeface="Microsoft YaHei"/>
                <a:ea typeface="Microsoft YaHei"/>
              </a:rPr>
              <a:t> OOD </a:t>
            </a: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基准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457200" y="1619250"/>
            <a:ext cx="83248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现成的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OOD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基准要么只做图像分类，要么缺少域多样性，要么需要合成扰动；目标级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grounding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的细粒度评测至今缺失。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457200" y="2047875"/>
            <a:ext cx="5124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8B97A8"/>
                </a:solidFill>
                <a:latin typeface="Microsoft YaHei"/>
                <a:ea typeface="Microsoft YaHei"/>
              </a:rPr>
              <a:t>EXISTING · </a:t>
            </a:r>
            <a:r>
              <a:rPr lang="zh-CN" sz="900" b="1" spc="150">
                <a:solidFill>
                  <a:srgbClr val="8B97A8"/>
                </a:solidFill>
                <a:latin typeface="Microsoft YaHei"/>
                <a:ea typeface="Microsoft YaHei"/>
              </a:rPr>
              <a:t>现有做法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457200" y="2324100"/>
            <a:ext cx="51244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476" name=""/>
          <p:cNvSpPr/>
          <p:nvPr/>
        </p:nvSpPr>
        <p:spPr>
          <a:xfrm rot="0" flipH="0" flipV="0">
            <a:off x="628650" y="2457450"/>
            <a:ext cx="1790700" cy="209550"/>
          </a:xfrm>
          <a:prstGeom prst="roundRect">
            <a:avLst>
              <a:gd name="adj" fmla="val 36364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723900" y="2495550"/>
            <a:ext cx="1600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1E4FA8"/>
                </a:solidFill>
                <a:latin typeface="Microsoft YaHei"/>
                <a:ea typeface="Microsoft YaHei"/>
              </a:rPr>
              <a:t>PACS / VLCS / DomainNet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628650" y="2724150"/>
            <a:ext cx="47815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图像分类为主，缺目标级定位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457200" y="3409950"/>
            <a:ext cx="51244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B7FCE"/>
            </a:solidFill>
            <a:prstDash val="solid"/>
          </a:ln>
        </p:spPr>
        <p:txBody>
          <a:bodyPr/>
          <a:p/>
        </p:txBody>
      </p:sp>
      <p:sp>
        <p:nvSpPr>
          <p:cNvPr id="480" name=""/>
          <p:cNvSpPr/>
          <p:nvPr/>
        </p:nvSpPr>
        <p:spPr>
          <a:xfrm rot="0" flipH="0" flipV="0">
            <a:off x="628650" y="3543300"/>
            <a:ext cx="685800" cy="209550"/>
          </a:xfrm>
          <a:prstGeom prst="roundRect">
            <a:avLst>
              <a:gd name="adj" fmla="val 36364"/>
            </a:avLst>
          </a:prstGeom>
          <a:solidFill>
            <a:srgbClr val="DCE7F8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723900" y="3581400"/>
            <a:ext cx="495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5B7FCE"/>
                </a:solidFill>
                <a:latin typeface="Microsoft YaHei"/>
                <a:ea typeface="Microsoft YaHei"/>
              </a:rPr>
              <a:t>COCO-C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28650" y="3810000"/>
            <a:ext cx="47815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合成扰动，与真实场景差距大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457200" y="4495800"/>
            <a:ext cx="51244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F8A4C"/>
            </a:solidFill>
            <a:prstDash val="solid"/>
          </a:ln>
        </p:spPr>
        <p:txBody>
          <a:bodyPr/>
          <a:p/>
        </p:txBody>
      </p:sp>
      <p:sp>
        <p:nvSpPr>
          <p:cNvPr id="484" name=""/>
          <p:cNvSpPr/>
          <p:nvPr/>
        </p:nvSpPr>
        <p:spPr>
          <a:xfrm rot="0" flipH="0" flipV="0">
            <a:off x="628650" y="4629150"/>
            <a:ext cx="695325" cy="209550"/>
          </a:xfrm>
          <a:prstGeom prst="roundRect">
            <a:avLst>
              <a:gd name="adj" fmla="val 36364"/>
            </a:avLst>
          </a:prstGeom>
          <a:solidFill>
            <a:srgbClr val="FFEAD8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723900" y="4667250"/>
            <a:ext cx="50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F8A4C"/>
                </a:solidFill>
                <a:latin typeface="Microsoft YaHei"/>
                <a:ea typeface="Microsoft YaHei"/>
              </a:rPr>
              <a:t>COCO-O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628650" y="4895850"/>
            <a:ext cx="47815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自然分布偏移但规模有限（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6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域）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5810250" y="3657600"/>
            <a:ext cx="571500" cy="571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C247"/>
              </a:gs>
              <a:gs pos="100000">
                <a:srgbClr val="FF8A4C"/>
              </a:gs>
            </a:gsLst>
            <a:lin ang="2700000" scaled="1"/>
          </a:gradFill>
          <a:ln/>
          <a:effectLst>
            <a:outerShdw blurRad="152400" dist="38100" dir="5400000">
              <a:srgbClr val="FF8A4C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5953125" y="3781425"/>
            <a:ext cx="2857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vs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6610350" y="2047875"/>
            <a:ext cx="5124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8B97A8"/>
                </a:solidFill>
                <a:latin typeface="Microsoft YaHei"/>
                <a:ea typeface="Microsoft YaHei"/>
              </a:rPr>
              <a:t>COUNTS · </a:t>
            </a:r>
            <a:r>
              <a:rPr lang="zh-CN" sz="900" b="1" spc="150">
                <a:solidFill>
                  <a:srgbClr val="8B97A8"/>
                </a:solidFill>
                <a:latin typeface="Microsoft YaHei"/>
                <a:ea typeface="Microsoft YaHei"/>
              </a:rPr>
              <a:t>本文给出的答案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610350" y="2324100"/>
            <a:ext cx="51244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BC5C0"/>
            </a:solidFill>
            <a:prstDash val="solid"/>
          </a:ln>
        </p:spPr>
        <p:txBody>
          <a:bodyPr/>
          <a:p/>
        </p:txBody>
      </p:sp>
      <p:sp>
        <p:nvSpPr>
          <p:cNvPr id="491" name=""/>
          <p:cNvSpPr/>
          <p:nvPr/>
        </p:nvSpPr>
        <p:spPr>
          <a:xfrm rot="0" flipH="0" flipV="0">
            <a:off x="6781800" y="2457450"/>
            <a:ext cx="1181100" cy="209550"/>
          </a:xfrm>
          <a:prstGeom prst="roundRect">
            <a:avLst>
              <a:gd name="adj" fmla="val 36364"/>
            </a:avLst>
          </a:prstGeom>
          <a:solidFill>
            <a:srgbClr val="DAF6F4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877050" y="2495550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2BC5C0"/>
                </a:solidFill>
                <a:latin typeface="Microsoft YaHei"/>
                <a:ea typeface="Microsoft YaHei"/>
              </a:rPr>
              <a:t>22.2 </a:t>
            </a:r>
            <a:r>
              <a:rPr lang="zh-CN" sz="825" b="1" spc="75">
                <a:solidFill>
                  <a:srgbClr val="2BC5C0"/>
                </a:solidFill>
                <a:latin typeface="Microsoft YaHei"/>
                <a:ea typeface="Microsoft YaHei"/>
              </a:rPr>
              <a:t>万张自然图像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781800" y="2724150"/>
            <a:ext cx="47815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真实世界图像，无人工合成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6610350" y="3409950"/>
            <a:ext cx="51244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BC5C0"/>
            </a:solidFill>
            <a:prstDash val="solid"/>
          </a:ln>
        </p:spPr>
        <p:txBody>
          <a:bodyPr/>
          <a:p/>
        </p:txBody>
      </p:sp>
      <p:sp>
        <p:nvSpPr>
          <p:cNvPr id="495" name=""/>
          <p:cNvSpPr/>
          <p:nvPr/>
        </p:nvSpPr>
        <p:spPr>
          <a:xfrm rot="0" flipH="0" flipV="0">
            <a:off x="6781800" y="3543300"/>
            <a:ext cx="1066800" cy="209550"/>
          </a:xfrm>
          <a:prstGeom prst="roundRect">
            <a:avLst>
              <a:gd name="adj" fmla="val 36364"/>
            </a:avLst>
          </a:prstGeom>
          <a:solidFill>
            <a:srgbClr val="DAF6F4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6877050" y="3581400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2BC5C0"/>
                </a:solidFill>
                <a:latin typeface="Microsoft YaHei"/>
                <a:ea typeface="Microsoft YaHei"/>
              </a:rPr>
              <a:t>14 </a:t>
            </a:r>
            <a:r>
              <a:rPr lang="zh-CN" sz="825" b="1" spc="75">
                <a:solidFill>
                  <a:srgbClr val="2BC5C0"/>
                </a:solidFill>
                <a:latin typeface="Microsoft YaHei"/>
                <a:ea typeface="Microsoft YaHei"/>
              </a:rPr>
              <a:t>个真实分布域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6781800" y="3810000"/>
            <a:ext cx="47815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覆盖日常视觉变化，互相独立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6610350" y="4495800"/>
            <a:ext cx="51244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BC5C0"/>
            </a:solidFill>
            <a:prstDash val="solid"/>
          </a:ln>
        </p:spPr>
        <p:txBody>
          <a:bodyPr/>
          <a:p/>
        </p:txBody>
      </p:sp>
      <p:sp>
        <p:nvSpPr>
          <p:cNvPr id="499" name=""/>
          <p:cNvSpPr/>
          <p:nvPr/>
        </p:nvSpPr>
        <p:spPr>
          <a:xfrm rot="0" flipH="0" flipV="0">
            <a:off x="6781800" y="4629150"/>
            <a:ext cx="1104900" cy="209550"/>
          </a:xfrm>
          <a:prstGeom prst="roundRect">
            <a:avLst>
              <a:gd name="adj" fmla="val 36364"/>
            </a:avLst>
          </a:prstGeom>
          <a:solidFill>
            <a:srgbClr val="DAF6F4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877050" y="4667250"/>
            <a:ext cx="914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75">
                <a:solidFill>
                  <a:srgbClr val="2BC5C0"/>
                </a:solidFill>
                <a:latin typeface="Microsoft YaHei"/>
                <a:ea typeface="Microsoft YaHei"/>
              </a:rPr>
              <a:t>细粒度目标级标注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6781800" y="4895850"/>
            <a:ext cx="47815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1,196,114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框，检测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 + grounding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双任务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0" y="6562725"/>
            <a:ext cx="12192000" cy="2952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03" name=""/>
          <p:cNvSpPr/>
          <p:nvPr/>
        </p:nvSpPr>
        <p:spPr>
          <a:xfrm rot="0" flipH="0" flipV="0">
            <a:off x="0" y="6553200"/>
            <a:ext cx="12192000" cy="304800"/>
          </a:xfrm>
          <a:custGeom>
            <a:pathLst>
              <a:path w="1280" h="3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381000" y="6638925"/>
            <a:ext cx="2333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COUNTS ·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跨域目标检测与多模态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grounding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11420475" y="66389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05 / 18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06" name="" descr="&lt;Slide padding={0}&gt;&#10;    &lt;Box style={{&#10;        width: '100%', height: '100%',&#10;        background: 'linear-gradient(135deg, #1E4FA8 0%, #5B7FCE 50%, #2BC5C0 100%)',&#10;        flexDirection: 'row',&#10;        paddingLeft: 56, paddingRight: 56,&#10;        paddingTop: 56, paddingBottom: 56,&#10;        gap: 40,&#10;    }}&gt;&#10;        &lt;Box style={{ width: '38%', height: '100%', gap: 18, justifyContent: 'center' }}&gt;&#10;            &lt;Text style={{ color: '#FFC247', fontSize: 14, fontWeight: 'bold', letterSpacing: 4 }}&gt;CHAPTER 03 · 数据集&lt;/Text&gt;&#10;            &lt;Text style={{ color: '#FFFFFF', fontSize: 26, fontWeight: 'bold', lineHeight: 1.2, opacity: 0.85 }}&gt;&#10;                COUNTS&#10;            &lt;/Text&gt;&#10;            &lt;Text style={{&#10;                color: '#FFFFFF', fontSize: 88,&#10;                fontWeight: 'bold', lineHeight: 1,&#10;            }}&gt;&#10;                三档核心&lt;br /&gt;数据&#10;            &lt;/Text&gt;&#10;            &lt;Box style={{ width: 80, height: 4, borderRadius: 2, background: '#FFC247' }} /&gt;&#10;            &lt;Text style={{ color: '#FFFFFF', fontSize: 16, lineHeight: 1.5, opacity: 0.85 }}&gt;&#10;                Common Objects UNder disTribution Shifts&lt;br /&gt;&#10;                首个同时支持目标检测与 grounding 的&lt;br /&gt;&#10;                真实世界 OOD 细粒度数据集&#10;            &lt;/Text&gt;&#10;        &lt;/Box&gt;&#10;        &lt;Box style={{ width: '60%', height: '100%', gap: 22, justifyContent: 'center' }}&gt;&#10;            {[&#10;                { num: '222,234', unit: '张', label: '真实世界图像', color: '#FFC247', icon: 'IMG' },&#10;                { num: '1,196,114', unit: '个', label: '带标注边界框', color: '#FFFFFF', icon: 'BOX' },&#10;                { num: '14', unit: '个', label: '分布域 · 真实场景', color: '#FF8A4C', icon: 'DOM' },&#10;            ].map((kpi, idx) =&gt; (&#10;                &lt;Box key={idx} style={{&#10;                    width: '100%',&#10;                    height: 170,&#10;                    borderRadius: 18,&#10;                    background: 'rgba(255,255,255,0.12)',&#10;                    border: '1.5px solid rgba(255,255,255,0.32)',&#10;                    paddingLeft: 26, paddingRight: 26,&#10;                    paddingTop: 22, paddingBottom: 22,&#10;                    flexDirection: 'row',&#10;                    alignItems: 'center',&#10;                    gap: 24,&#10;                }}&gt;&#10;                    &lt;Box style={{&#10;                        width: 100, height: 100,&#10;                        borderRadius: 18,&#10;                        background: kpi.color,&#10;                        justifyContent: 'center', alignItems: 'center',&#10;                    }}&gt;&#10;                        &lt;Text style={{ color: '#1E4FA8', fontSize: 20, fontWeight: 'bold', letterSpacing: 2 }}&gt;{kpi.icon}&lt;/Text&gt;&#10;                    &lt;/Box&gt;&#10;                    &lt;Box style={{ flex: 1, gap: 4 }}&gt;&#10;                        &lt;Box style={{ flexDirection: 'row', alignItems: 'baseline', gap: 6 }}&gt;&#10;                            &lt;Text style={{ color: '#FFFFFF', fontSize: 64, fontWeight: 'bold', lineHeight: 1 }}&gt;{kpi.num}&lt;/Text&gt;&#10;                            &lt;Text style={{ color: '#FFFFFF', fontSize: 22, opacity: 0.7 }}&gt;{kpi.unit}&lt;/Text&gt;&#10;                        &lt;/Box&gt;&#10;                        &lt;Box style={{ width: 40, height: 2, borderRadius: 1, background: kpi.color, marginTop: 4, marginBottom: 4 }} /&gt;&#10;                        &lt;Text style={{ color: '#FFFFFF', fontSize: 16, opacity: 0.85, fontWeight: 500 }}&gt;{kpi.label}&lt;/Text&gt;&#10;                    &lt;/Box&gt;&#10;                &lt;/Box&gt;&#10;            ))}&#10;        &lt;/Box&gt;&#10;    &lt;/Box&gt;&#10;    &lt;Box style={{&#10;        position: 'absolute', bottom: 0, left: 0, width: '100%', height: 36,&#10;        background: 'rgba(0,0,0,0.18)',&#10;        flexDirection: 'row', alignItems: 'center',&#10;        justifyContent: 'space-between',&#10;        paddingLeft: 40, paddingRight: 40,&#10;    }}&gt;&#10;        &lt;Text style={{ color: '#FFFFFF', fontSize: 12, letterSpacing: 1, opacity: 0.7 }}&gt;COUNTS · 数据集概览&lt;/Text&gt;&#10;        &lt;Text style={{ color: '#FFFFFF', fontSize: 12, opacity: 0.7 }}&gt;06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4FA8"/>
              </a:gs>
              <a:gs pos="50000">
                <a:srgbClr val="5B7FCE"/>
              </a:gs>
              <a:gs pos="100000">
                <a:srgbClr val="2BC5C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533400" y="1381125"/>
            <a:ext cx="4162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FFC247"/>
                </a:solidFill>
                <a:latin typeface="Microsoft YaHei"/>
                <a:ea typeface="Microsoft YaHei"/>
              </a:rPr>
              <a:t>CHAPTER 03 · </a:t>
            </a:r>
            <a:r>
              <a:rPr lang="zh-CN" sz="1050" b="1" spc="300">
                <a:solidFill>
                  <a:srgbClr val="FFC247"/>
                </a:solidFill>
                <a:latin typeface="Microsoft YaHei"/>
                <a:ea typeface="Microsoft YaHei"/>
              </a:rPr>
              <a:t>数据集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533400" y="2247900"/>
            <a:ext cx="4162425" cy="2019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600" b="1">
                <a:solidFill>
                  <a:srgbClr val="FFFFFF"/>
                </a:solidFill>
                <a:latin typeface="Microsoft YaHei"/>
                <a:ea typeface="Microsoft YaHei"/>
              </a:rPr>
              <a:t>三档核心</a:t>
            </a:r>
            <a:endParaRPr/>
          </a:p>
          <a:p>
            <a:pPr>
              <a:lnSpc>
                <a:spcPct val="100000"/>
              </a:lnSpc>
            </a:pPr>
            <a:r>
              <a:rPr lang="zh-CN" sz="6600" b="1">
                <a:solidFill>
                  <a:srgbClr val="FFFFFF"/>
                </a:solidFill>
                <a:latin typeface="Microsoft YaHei"/>
                <a:ea typeface="Microsoft YaHei"/>
              </a:rPr>
              <a:t>数据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533400" y="44386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511" name=""/>
          <p:cNvSpPr/>
          <p:nvPr/>
        </p:nvSpPr>
        <p:spPr>
          <a:xfrm rot="0" flipH="0" flipV="0">
            <a:off x="5076825" y="790575"/>
            <a:ext cx="6581775" cy="1619250"/>
          </a:xfrm>
          <a:prstGeom prst="roundRect">
            <a:avLst>
              <a:gd name="adj" fmla="val 10588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2" name=""/>
          <p:cNvSpPr/>
          <p:nvPr/>
        </p:nvSpPr>
        <p:spPr>
          <a:xfrm rot="0" flipH="0" flipV="0">
            <a:off x="5324475" y="1123950"/>
            <a:ext cx="952500" cy="952500"/>
          </a:xfrm>
          <a:prstGeom prst="roundRect">
            <a:avLst>
              <a:gd name="adj" fmla="val 18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5572125" y="1485900"/>
            <a:ext cx="466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1E4FA8"/>
                </a:solidFill>
                <a:latin typeface="Microsoft YaHei"/>
                <a:ea typeface="Microsoft YaHei"/>
              </a:rPr>
              <a:t>IMG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505575" y="1057275"/>
            <a:ext cx="24384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>222,234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6505575" y="1866900"/>
            <a:ext cx="381000" cy="1905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516" name=""/>
          <p:cNvSpPr/>
          <p:nvPr/>
        </p:nvSpPr>
        <p:spPr>
          <a:xfrm rot="0" flipH="0" flipV="0">
            <a:off x="5076825" y="2619375"/>
            <a:ext cx="6581775" cy="1619250"/>
          </a:xfrm>
          <a:prstGeom prst="roundRect">
            <a:avLst>
              <a:gd name="adj" fmla="val 10588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7" name=""/>
          <p:cNvSpPr/>
          <p:nvPr/>
        </p:nvSpPr>
        <p:spPr>
          <a:xfrm rot="0" flipH="0" flipV="0">
            <a:off x="5324475" y="2952750"/>
            <a:ext cx="9525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5562600" y="331470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1E4FA8"/>
                </a:solidFill>
                <a:latin typeface="Microsoft YaHei"/>
                <a:ea typeface="Microsoft YaHei"/>
              </a:rPr>
              <a:t>BOX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6505575" y="2886075"/>
            <a:ext cx="29813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>1,196,114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6505575" y="3695700"/>
            <a:ext cx="381000" cy="19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1" name=""/>
          <p:cNvSpPr/>
          <p:nvPr/>
        </p:nvSpPr>
        <p:spPr>
          <a:xfrm rot="0" flipH="0" flipV="0">
            <a:off x="5076825" y="4448175"/>
            <a:ext cx="6581775" cy="1619250"/>
          </a:xfrm>
          <a:prstGeom prst="roundRect">
            <a:avLst>
              <a:gd name="adj" fmla="val 10588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5324475" y="4781550"/>
            <a:ext cx="952500" cy="952500"/>
          </a:xfrm>
          <a:prstGeom prst="roundRect">
            <a:avLst>
              <a:gd name="adj" fmla="val 18000"/>
            </a:avLst>
          </a:prstGeom>
          <a:solidFill>
            <a:srgbClr val="FF8A4C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5524500" y="5143500"/>
            <a:ext cx="561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1E4FA8"/>
                </a:solidFill>
                <a:latin typeface="Microsoft YaHei"/>
                <a:ea typeface="Microsoft YaHei"/>
              </a:rPr>
              <a:t>DOM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6505575" y="4714875"/>
            <a:ext cx="7524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6505575" y="5524500"/>
            <a:ext cx="381000" cy="19050"/>
          </a:xfrm>
          <a:prstGeom prst="roundRect">
            <a:avLst>
              <a:gd name="adj" fmla="val 50000"/>
            </a:avLst>
          </a:prstGeom>
          <a:solidFill>
            <a:srgbClr val="FF8A4C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533400" y="1714500"/>
            <a:ext cx="4162425" cy="3619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950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COUNTS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533400" y="4648200"/>
            <a:ext cx="4162425" cy="828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Common Objects UNder disTribution Shifts</a:t>
            </a:r>
            <a:endParaRPr/>
          </a:p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首个同时支持目标检测与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grounding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的</a:t>
            </a:r>
            <a:endParaRPr/>
          </a:p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真实世界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OOD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细粒度数据集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9001125" y="1057275"/>
            <a:ext cx="2095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6505575" y="1962150"/>
            <a:ext cx="4905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真实世界图像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9544050" y="2886075"/>
            <a:ext cx="2095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6505575" y="3790950"/>
            <a:ext cx="4905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带标注边界框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7315200" y="4714875"/>
            <a:ext cx="2095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6505575" y="5619750"/>
            <a:ext cx="4905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分布域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真实场景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0" y="6515100"/>
            <a:ext cx="12192000" cy="3429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1285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COUNTS · </a:t>
            </a:r>
            <a:r>
              <a:rPr lang="zh-CN" sz="900" spc="7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数据集概览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11420475" y="66198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06 / 18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37" name="" descr="&lt;Slide padding={0}&gt;&#10;    &lt;Box style={{&#10;        width: '100%', height: 80,&#10;        flexDirection: 'row', alignItems: 'center',&#10;        paddingLeft: 40, paddingRight: 40,&#10;        background: '#FFFFFF',&#10;        borderBottom: '2px solid #F0F5FC',&#10;    }}&gt;&#10;        &lt;Box style={{ width: 40, height: 4, borderRadius: 2, background: '#2BC5C0', marginRight: 14 }} /&gt;&#10;        &lt;Text style={{ color: '#2BC5C0', fontSize: 14, fontWeight: 'bold', letterSpacing: 2 }}&gt;CHAPTER 03 · COUNTS 关键数字&lt;/Text&gt;&#10;        &lt;Box style={{ flex: 1 }} /&gt;&#10;        &lt;Text style={{ color: '#8B97A8', fontSize: 13 }}&gt;页 07 / 18&lt;/Text&gt;&#10;    &lt;/Box&gt;&#10;    &lt;Box style={{&#10;        width: '100%', height: 560,&#10;        paddingLeft: 48, paddingRight: 48,&#10;        paddingTop: 24, paddingBottom: 24,&#10;        flexDirection: 'row', gap: 32,&#10;    }}&gt;&#10;        &lt;Box style={{ width: '56%', height: '100%' }}&gt;&#10;            &lt;Box style={{ width: '100%', height: '100%', gap: 14 }}&gt;&#10;                &lt;Box style={{ width: '100%', height: '100%', gap: 18 }}&gt;&#10;                    {[&#10;                        { num: '222,234', label: '图像总数', note: '全数据 246,983，含训练/测试/验证', color: '#1E4FA8' },&#10;                        { num: '1,196,114', label: '带标注边界框', note: '细粒度目标级标注', color: '#5B7FCE' },&#10;                        { num: '35', label: '目标类别', note: '覆盖日常常见物体', color: '#2BC5C0' },&#10;                        { num: '14', label: '自然分布域', note: '互相独立且场景常见', color: '#FF8A4C' },&#10;                    ].map((kpi, idx) =&gt; (&#10;                        &lt;Box key={idx} style={{&#10;                            width: '100%',&#10;                            height: 110,&#10;                            borderRadius: 14,&#10;                            background: '#FFFFFF',&#10;                            border: '1.5px solid #E5E7EB',&#10;                            paddingLeft: 22, paddingRight: 22,&#10;                            paddingTop: 16, paddingBottom: 16,&#10;                            flexDirection: 'row', alignItems: 'center',&#10;                            gap: 20,&#10;                        }}&gt;&#10;                            &lt;Box style={{ width: 6, height: 70, borderRadius: 3, background: kpi.color }} /&gt;&#10;                            &lt;Box style={{ flex: 1, gap: 2 }}&gt;&#10;                                &lt;Text style={{ color: '#4A5568', fontSize: 13 }}&gt;{kpi.label}&lt;/Text&gt;&#10;                                &lt;Text style={{ color: kpi.color, fontSize: 56, fontWeight: 'bold', lineHeight: 1 }}&gt;{kpi.num}&lt;/Text&gt;&#10;                                &lt;Text style={{ color: '#8B97A8', fontSize: 12 }}&gt;{kpi.note}&lt;/Text&gt;&#10;                            &lt;/Box&gt;&#10;                        &lt;/Box&gt;&#10;                    ))}&#10;                &lt;/Box&gt;&#10;            &lt;/Box&gt;&#10;        &lt;/Box&gt;&#10;        &lt;Box style={{ width: '42%', height: '100%', gap: 18 }}&gt;&#10;            &lt;Text style={{ color: '#1E4FA8', fontSize: 13, fontWeight: 'bold', letterSpacing: 3 }}&gt;KEY INSIGHT&lt;/Text&gt;&#10;            &lt;Text style={{ color: '#1A2230', fontSize: 28, fontWeight: 'bold', lineHeight: 1.3 }}&gt;&#10;                每个域都包含完整的类别空间&#10;            &lt;/Text&gt;&#10;            &lt;Text style={{ color: '#4A5568', fontSize: 15, lineHeight: 1.7 }}&gt;&#10;                这是 COUNTS 与此前基准的一个关键差异——每个分布域都覆盖全部 35 个目标类别。&#10;                这让训练分布和测试分布可以灵活组合，从而构造受控的偏移实验，&#10;                既能评估模型鲁棒性，也能避免域信息泄露造成的虚高指标。&#10;            &lt;/Text&gt;&#10;            &lt;Box style={{&#10;                width: '100%', height: 140,&#10;                borderRadius: 14,&#10;                background: 'linear-gradient(135deg, #F0F5FC 0%, #E8EFF8 100%)',&#10;                paddingLeft: 22, paddingRight: 22,&#10;                paddingTop: 18, paddingBottom: 18,&#10;                gap: 12,&#10;            }}&gt;&#10;                &lt;Box style={{&#10;                    paddingLeft: 12, paddingRight: 12,&#10;                    paddingTop: 4, paddingBottom: 4,&#10;                    borderRadius: 10, background: '#1E4FA8',&#10;                    alignSelf: 'flex-start',&#10;                }}&gt;&#10;                    &lt;Text style={{ color: '#FFFFFF', fontSize: 11, fontWeight: 'bold', letterSpacing: 1 }}&gt;SOTA 数据对比&lt;/Text&gt;&#10;                &lt;/Box&gt;&#10;                &lt;Text style={{ color: '#1A2230', fontSize: 16, lineHeight: 1.5 }}&gt;&#10;                    PACS 仅 9,991 张，VLCS 10,729 张，&lt;span style={{ fontWeight: 'bold', color: '#1E4FA8' }}&gt;COUNTS 是首个跨过 20 万张的检测级 OOD 基准&lt;/span&gt;。&#10;                &lt;/Text&gt;&#10;                &lt;Box style={{ flexDirection: 'row', gap: 16, marginTop: 4 }}&gt;&#10;                    &lt;Box style={{ flex: 1, gap: 2 }}&gt;&#10;                        &lt;Text style={{ color: '#1E4FA8', fontSize: 22, fontWeight: 'bold' }}&gt;14&lt;/Text&gt;&#10;                        &lt;Text style={{ color: '#4A5568', fontSize: 11 }}&gt;vs COCO-O 6 域&lt;/Text&gt;&#10;                    &lt;/Box&gt;&#10;                    &lt;Box style={{ width: 1, background: '#D6DCE5' }} /&gt;&#10;                    &lt;Box style={{ flex: 1, gap: 2 }}&gt;&#10;                        &lt;Text style={{ color: '#1E4FA8', fontSize: 22, fontWeight: 'bold' }}&gt;35 类&lt;/Text&gt;&#10;                        &lt;Text style={{ color: '#4A5568', fontSize: 11 }}&gt;vs 主流基准 65-345&lt;/Text&gt;&#10;                    &lt;/Box&gt;&#10;                    &lt;Box style={{ width: 1, background: '#D6DCE5' }} /&gt;&#10;                    &lt;Box style={{ flex: 1, gap: 2 }}&gt;&#10;                        &lt;Text style={{ color: '#1E4FA8', fontSize: 22, fontWeight: 'bold' }}&gt;222k&lt;/Text&gt;&#10;                        &lt;Text style={{ color: '#4A5568', fontSize: 11 }}&gt;vs COCO-O 6.7k&lt;/Text&gt;&#10;                    &lt;/Box&gt;&#10;                &lt;/Box&gt;&#10;            &lt;/Box&gt;&#10;        &lt;/Box&gt;&#10;    &lt;/Box&gt;&#10;    &lt;Box style={{&#10;        position: 'absolute', bottom: 0, left: 0, width: '100%', height: 32,&#10;        background: '#F7F9FC',&#10;        flexDirection: 'row', alignItems: 'center',&#10;        justifyContent: 'space-between',&#10;        paddingLeft: 40, paddingRight: 40,&#10;        borderTop: '1px solid #E5E7EB',&#10;    }}&gt;&#10;        &lt;Text style={{ color: '#8B97A8', fontSize: 12 }}&gt;COUNTS · 跨域目标检测与多模态 grounding&lt;/Text&gt;&#10;        &lt;Text style={{ color: '#4A5568', fontSize: 12 }}&gt;07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"/>
          <p:cNvSpPr/>
          <p:nvPr/>
        </p:nvSpPr>
        <p:spPr>
          <a:xfrm rot="0" flipH="0" flipV="0"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9" name=""/>
          <p:cNvSpPr/>
          <p:nvPr/>
        </p:nvSpPr>
        <p:spPr>
          <a:xfrm rot="0" flipH="0" flipV="0">
            <a:off x="0" y="0"/>
            <a:ext cx="12192000" cy="762000"/>
          </a:xfrm>
          <a:custGeom>
            <a:pathLst>
              <a:path w="1280" h="80">
                <a:moveTo>
                  <a:pt x="0" y="78"/>
                </a:moveTo>
                <a:lnTo>
                  <a:pt x="1280" y="78"/>
                </a:lnTo>
                <a:lnTo>
                  <a:pt x="1280" y="80"/>
                </a:lnTo>
                <a:lnTo>
                  <a:pt x="0" y="80"/>
                </a:lnTo>
                <a:close/>
              </a:path>
            </a:pathLst>
          </a:custGeom>
          <a:solidFill>
            <a:srgbClr val="F0F5FC"/>
          </a:solidFill>
          <a:ln/>
        </p:spPr>
        <p:txBody>
          <a:bodyPr/>
          <a:p/>
        </p:txBody>
      </p:sp>
      <p:sp>
        <p:nvSpPr>
          <p:cNvPr id="540" name=""/>
          <p:cNvSpPr/>
          <p:nvPr/>
        </p:nvSpPr>
        <p:spPr>
          <a:xfrm rot="0" flipH="0" flipV="0">
            <a:off x="381000" y="352425"/>
            <a:ext cx="381000" cy="38100"/>
          </a:xfrm>
          <a:prstGeom prst="roundRect">
            <a:avLst>
              <a:gd name="adj" fmla="val 50000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895350" y="295275"/>
            <a:ext cx="2600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2BC5C0"/>
                </a:solidFill>
                <a:latin typeface="Microsoft YaHei"/>
                <a:ea typeface="Microsoft YaHei"/>
              </a:rPr>
              <a:t>CHAPTER 03 · COUNTS </a:t>
            </a:r>
            <a:r>
              <a:rPr lang="zh-CN" sz="1050" b="1" spc="150">
                <a:solidFill>
                  <a:srgbClr val="2BC5C0"/>
                </a:solidFill>
                <a:latin typeface="Microsoft YaHei"/>
                <a:ea typeface="Microsoft YaHei"/>
              </a:rPr>
              <a:t>关键数字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11229975" y="295275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页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07 / 18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457200" y="990600"/>
            <a:ext cx="6267450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44" name=""/>
          <p:cNvSpPr/>
          <p:nvPr/>
        </p:nvSpPr>
        <p:spPr>
          <a:xfrm rot="0" flipH="0" flipV="0">
            <a:off x="666750" y="1181100"/>
            <a:ext cx="57150" cy="666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914400" y="1028700"/>
            <a:ext cx="560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图像总数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914400" y="1200150"/>
            <a:ext cx="56007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Microsoft YaHei"/>
                <a:ea typeface="Microsoft YaHei"/>
              </a:rPr>
              <a:t>222,234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914400" y="1866900"/>
            <a:ext cx="5600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全数据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246,983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，含训练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测试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验证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457200" y="2209800"/>
            <a:ext cx="6267450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49" name=""/>
          <p:cNvSpPr/>
          <p:nvPr/>
        </p:nvSpPr>
        <p:spPr>
          <a:xfrm rot="0" flipH="0" flipV="0">
            <a:off x="666750" y="2400300"/>
            <a:ext cx="57150" cy="666750"/>
          </a:xfrm>
          <a:prstGeom prst="roundRect">
            <a:avLst>
              <a:gd name="adj" fmla="val 50000"/>
            </a:avLst>
          </a:prstGeom>
          <a:solidFill>
            <a:srgbClr val="5B7FCE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914400" y="2247900"/>
            <a:ext cx="560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带标注边界框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914400" y="2419350"/>
            <a:ext cx="56007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5B7FCE"/>
                </a:solidFill>
                <a:latin typeface="Microsoft YaHei"/>
                <a:ea typeface="Microsoft YaHei"/>
              </a:rPr>
              <a:t>1,196,114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914400" y="3086100"/>
            <a:ext cx="5600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细粒度目标级标注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457200" y="3429000"/>
            <a:ext cx="6267450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54" name=""/>
          <p:cNvSpPr/>
          <p:nvPr/>
        </p:nvSpPr>
        <p:spPr>
          <a:xfrm rot="0" flipH="0" flipV="0">
            <a:off x="666750" y="3619500"/>
            <a:ext cx="57150" cy="666750"/>
          </a:xfrm>
          <a:prstGeom prst="roundRect">
            <a:avLst>
              <a:gd name="adj" fmla="val 50000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914400" y="3467100"/>
            <a:ext cx="560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目标类别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914400" y="3638550"/>
            <a:ext cx="56007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2BC5C0"/>
                </a:solidFill>
                <a:latin typeface="Microsoft YaHei"/>
                <a:ea typeface="Microsoft YaHei"/>
              </a:rPr>
              <a:t>35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914400" y="4305300"/>
            <a:ext cx="5600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覆盖日常常见物体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457200" y="4648200"/>
            <a:ext cx="6267450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59" name=""/>
          <p:cNvSpPr/>
          <p:nvPr/>
        </p:nvSpPr>
        <p:spPr>
          <a:xfrm rot="0" flipH="0" flipV="0">
            <a:off x="666750" y="4838700"/>
            <a:ext cx="57150" cy="666750"/>
          </a:xfrm>
          <a:prstGeom prst="roundRect">
            <a:avLst>
              <a:gd name="adj" fmla="val 50000"/>
            </a:avLst>
          </a:prstGeom>
          <a:solidFill>
            <a:srgbClr val="FF8A4C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914400" y="4686300"/>
            <a:ext cx="560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自然分布域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914400" y="4857750"/>
            <a:ext cx="56007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F8A4C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914400" y="5524500"/>
            <a:ext cx="5600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互相独立且场景常见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7029450" y="990600"/>
            <a:ext cx="4705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1E4FA8"/>
                </a:solidFill>
                <a:latin typeface="Microsoft YaHei"/>
                <a:ea typeface="Microsoft YaHei"/>
              </a:rPr>
              <a:t>KEY INSIGHT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7029450" y="1314450"/>
            <a:ext cx="4705350" cy="4191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每个域都包含完整的类别空间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7029450" y="1905000"/>
            <a:ext cx="470535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这是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COUNTS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与此前基准的一个关键差异——每个分布域都覆盖全部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35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个目标类别。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这让训练分布和测试分布可以灵活组合，从而构造受控的偏移实验，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既能评估模型鲁棒性，也能避免域信息泄露造成的虚高指标。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7029450" y="2952750"/>
            <a:ext cx="4705350" cy="1333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0F5FC"/>
              </a:gs>
              <a:gs pos="100000">
                <a:srgbClr val="E8EFF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67" name=""/>
          <p:cNvSpPr/>
          <p:nvPr/>
        </p:nvSpPr>
        <p:spPr>
          <a:xfrm rot="0" flipH="0" flipV="0">
            <a:off x="7239000" y="3124200"/>
            <a:ext cx="1066800" cy="209550"/>
          </a:xfrm>
          <a:prstGeom prst="roundRect">
            <a:avLst>
              <a:gd name="adj" fmla="val 4545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7353300" y="3162300"/>
            <a:ext cx="838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FFFFF"/>
                </a:solidFill>
                <a:latin typeface="Microsoft YaHei"/>
                <a:ea typeface="Microsoft YaHei"/>
              </a:rPr>
              <a:t>SOTA </a:t>
            </a:r>
            <a:r>
              <a:rPr lang="zh-CN" sz="825" b="1" spc="75">
                <a:solidFill>
                  <a:srgbClr val="FFFFFF"/>
                </a:solidFill>
                <a:latin typeface="Microsoft YaHei"/>
                <a:ea typeface="Microsoft YaHei"/>
              </a:rPr>
              <a:t>数据对比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7239000" y="3448050"/>
            <a:ext cx="4286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PACS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仅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9,991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张，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VLCS 10,729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张，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COUNTS 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是首个跨过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 20 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万张的检测级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 OOD 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基准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7239000" y="4152900"/>
            <a:ext cx="1219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7239000" y="4429125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A5568"/>
                </a:solidFill>
                <a:latin typeface="Microsoft YaHei"/>
                <a:ea typeface="Microsoft YaHei"/>
              </a:rPr>
              <a:t>vs COCO-O 6 </a:t>
            </a:r>
            <a:r>
              <a:rPr lang="zh-CN" sz="825">
                <a:solidFill>
                  <a:srgbClr val="4A5568"/>
                </a:solidFill>
                <a:latin typeface="Microsoft YaHei"/>
                <a:ea typeface="Microsoft YaHei"/>
              </a:rPr>
              <a:t>域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8610600" y="4152900"/>
            <a:ext cx="9525" cy="40957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8772525" y="4152900"/>
            <a:ext cx="1219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35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8772525" y="4429125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A5568"/>
                </a:solidFill>
                <a:latin typeface="Microsoft YaHei"/>
                <a:ea typeface="Microsoft YaHei"/>
              </a:rPr>
              <a:t>vs </a:t>
            </a:r>
            <a:r>
              <a:rPr lang="zh-CN" sz="825">
                <a:solidFill>
                  <a:srgbClr val="4A5568"/>
                </a:solidFill>
                <a:latin typeface="Microsoft YaHei"/>
                <a:ea typeface="Microsoft YaHei"/>
              </a:rPr>
              <a:t>主流基准</a:t>
            </a:r>
            <a:r>
              <a:rPr lang="en-US" sz="825">
                <a:solidFill>
                  <a:srgbClr val="4A5568"/>
                </a:solidFill>
                <a:latin typeface="Microsoft YaHei"/>
                <a:ea typeface="Microsoft YaHei"/>
              </a:rPr>
              <a:t> 65-345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10144125" y="4152900"/>
            <a:ext cx="9525" cy="40957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10306050" y="4152900"/>
            <a:ext cx="1219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222k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10306050" y="4429125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A5568"/>
                </a:solidFill>
                <a:latin typeface="Microsoft YaHei"/>
                <a:ea typeface="Microsoft YaHei"/>
              </a:rPr>
              <a:t>vs COCO-O 6.7k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0" y="6562725"/>
            <a:ext cx="12192000" cy="2952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79" name=""/>
          <p:cNvSpPr/>
          <p:nvPr/>
        </p:nvSpPr>
        <p:spPr>
          <a:xfrm rot="0" flipH="0" flipV="0">
            <a:off x="0" y="6553200"/>
            <a:ext cx="12192000" cy="304800"/>
          </a:xfrm>
          <a:custGeom>
            <a:pathLst>
              <a:path w="1280" h="3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381000" y="6638925"/>
            <a:ext cx="2333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COUNTS ·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跨域目标检测与多模态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grounding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11420475" y="66389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07 / 18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82" name="" descr="&lt;Slide padding={0}&gt;&#10;    &lt;Box style={{&#10;        width: '100%', height: 80,&#10;        flexDirection: 'row', alignItems: 'center',&#10;        paddingLeft: 40, paddingRight: 40,&#10;        background: '#FFFFFF',&#10;        borderBottom: '2px solid #F0F5FC',&#10;    }}&gt;&#10;        &lt;Box style={{ width: 40, height: 4, borderRadius: 2, background: '#2BC5C0', marginRight: 14 }} /&gt;&#10;        &lt;Text style={{ color: '#2BC5C0', fontSize: 14, fontWeight: 'bold', letterSpacing: 2 }}&gt;CHAPTER 03 · 14 个自然分布域&lt;/Text&gt;&#10;        &lt;Box style={{ flex: 1 }} /&gt;&#10;        &lt;Text style={{ color: '#8B97A8', fontSize: 13 }}&gt;页 08 / 18&lt;/Text&gt;&#10;    &lt;/Box&gt;&#10;    &lt;Box style={{&#10;        width: '100%', height: 560,&#10;        paddingLeft: 36, paddingRight: 36,&#10;        paddingTop: 22, paddingBottom: 22,&#10;        flexDirection: 'row', gap: 24,&#10;    }}&gt;&#10;        &lt;Box style={{ width: '58%', height: '100%' }}&gt;&#10;            &lt;Box style={{&#10;                width: '100%', height: '100%',&#10;                borderRadius: 14,&#10;                background: 'linear-gradient(135deg, #F7F9FC 0%, #FFFFFF 100%)',&#10;                border: '1.5px solid #D6DCE5',&#10;                paddingTop: 18, paddingBottom: 18,&#10;                paddingLeft: 22, paddingRight: 22,&#10;                gap: 12,&#10;            }}&gt;&#10;                &lt;Box style={{&#10;                    width: '100%', flexDirection: 'row',&#10;                    alignItems: 'center', justifyContent: 'space-between',&#10;                }}&gt;&#10;                    &lt;Text style={{ color: '#1E4FA8', fontSize: 14, fontWeight: 'bold', letterSpacing: 2 }}&gt;DOMAIN BUBBLE · 样本量分布&lt;/Text&gt;&#10;                    &lt;Box style={{&#10;                        paddingLeft: 10, paddingRight: 10,&#10;                        paddingTop: 4, paddingBottom: 4,&#10;                        borderRadius: 8, background: '#F0F5FC',&#10;                    }}&gt;&#10;                        &lt;Text style={{ color: '#1E4FA8', fontSize: 11, fontWeight: 'bold' }}&gt;14 DOMAINS&lt;/Text&gt;&#10;                    &lt;/Box&gt;&#10;                &lt;/Box&gt;&#10;                &lt;svg width='100%' viewBox='0 0 1000 460' style={{ display: 'block', marginTop: 8 }}&gt;&#10;                    &lt;defs&gt;&#10;                        &lt;linearGradient id='g1' x1='0' y1='0' x2='1' y2='1'&gt;&#10;                            &lt;stop offset='0' stopColor='#1E4FA8' /&gt;&#10;                            &lt;stop offset='1' stopColor='#5B7FCE' /&gt;&#10;                        &lt;/linearGradient&gt;&#10;                        &lt;linearGradient id='g2' x1='0' y1='0' x2='1' y2='1'&gt;&#10;                            &lt;stop offset='0' stopColor='#FFC247' /&gt;&#10;                            &lt;stop offset='1' stopColor='#FF8A4C' /&gt;&#10;                        &lt;/linearGradient&gt;&#10;                        &lt;linearGradient id='g3' x1='0' y1='0' x2='1' y2='1'&gt;&#10;                            &lt;stop offset='0' stopColor='#2BC5C0' /&gt;&#10;                            &lt;stop offset='1' stopColor='#3CC9A1' /&gt;&#10;                        &lt;/linearGradient&gt;&#10;                    &lt;/defs&gt;&#10;                    &lt;rect x='0' y='0' width='1000' height='460' fill='#F7F9FC' rx='10' /&gt;&#10;                    &lt;circle cx='320' cy='180' r='90' fill='url(#g1)' opacity='0.85' /&gt;&#10;                    &lt;text x='320' y='175' textAnchor='middle' fontSize='13' fontWeight='bold' fill='#fff'&gt;indoor&lt;/text&gt;&#10;                    &lt;text x='320' y='195' textAnchor='middle' fontSize='11' fill='#fff' opacity='0.95'&gt;82,719&lt;/text&gt;&#10;                    &lt;circle cx='540' cy='220' r='70' fill='url(#g1)' opacity='0.85' /&gt;&#10;                    &lt;text x='540' y='218' textAnchor='middle' fontSize='12' fontWeight='bold' fill='#fff'&gt;tree&lt;/text&gt;&#10;                    &lt;text x='540' y='234' textAnchor='middle' fontSize='10' fill='#fff' opacity='0.95'&gt;45,573&lt;/text&gt;&#10;                    &lt;circle cx='150' cy='240' r='58' fill='url(#g1)' opacity='0.85' /&gt;&#10;                    &lt;text x='150' y='238' textAnchor='middle' fontSize='11' fontWeight='bold' fill='#fff'&gt;dim&lt;/text&gt;&#10;                    &lt;text x='150' y='252' textAnchor='middle' fontSize='10' fill='#fff' opacity='0.95'&gt;26,181&lt;/text&gt;&#10;                    &lt;circle cx='710' cy='250' r='52' fill='url(#g1)' opacity='0.85' /&gt;&#10;                    &lt;text x='710' y='248' textAnchor='middle' fontSize='11' fontWeight='bold' fill='#fff'&gt;street&lt;/text&gt;&#10;                    &lt;text x='710' y='262' textAnchor='middle' fontSize='10' fill='#fff' opacity='0.95'&gt;22,474&lt;/text&gt;&#10;                    &lt;circle cx='260' cy='360' r='45' fill='url(#g2)' opacity='0.8' /&gt;&#10;                    &lt;text x='260' y='358' textAnchor='middle' fontSize='10' fontWeight='bold' fill='#fff'&gt;sky&lt;/text&gt;&#10;                    &lt;text x='260' y='372' textAnchor='middle' fontSize='9' fill='#fff' opacity='0.95'&gt;16,771&lt;/text&gt;&#10;                    &lt;circle cx='430' cy='380' r='42' fill='url(#g2)' opacity='0.8' /&gt;&#10;                    &lt;text x='430' y='378' textAnchor='middle' fontSize='10' fontWeight='bold' fill='#fff'&gt;grass&lt;/text&gt;&#10;                    &lt;text x='430' y='392' textAnchor='middle' fontSize='9' fill='#fff' opacity='0.95'&gt;14,620&lt;/text&gt;&#10;                    &lt;circle cx='600' cy='400' r='38' fill='url(#g2)' opacity='0.8' /&gt;&#10;                    &lt;text x='600' y='400' textAnchor='middle' fontSize='10' fontWeight='bold' fill='#fff'&gt;road&lt;/text&gt;&#10;                    &lt;text x='600' y='412' textAnchor='middle' fontSize='9' fill='#fff' opacity='0.95'&gt;12,637&lt;/text&gt;&#10;                    &lt;circle cx='820' cy='100' r='32' fill='url(#g3)' opacity='0.8' /&gt;&#10;                    &lt;text x='820' y='100' textAnchor='middle' fontSize='10' fontWeight='bold' fill='#fff'&gt;water&lt;/text&gt;&#10;                    &lt;text x='820' y='112' textAnchor='middle' fontSize='9' fill='#fff' opacity='0.95'&gt;8,915&lt;/text&gt;&#10;                    &lt;circle cx='90' cy='100' r='24' fill='url(#g3)' opacity='0.8' /&gt;&#10;                    &lt;text x='90' y='100' textAnchor='middle' fontSize='9' fontWeight='bold' fill='#fff'&gt;painting&lt;/text&gt;&#10;                    &lt;text x='90' y='112' textAnchor='middle' fontSize='8' fill='#fff' opacity='0.95'&gt;4,167&lt;/text&gt;&#10;                    &lt;circle cx='870' cy='180' r='22' fill='url(#g3)' opacity='0.8' /&gt;&#10;                    &lt;text x='870' y='180' textAnchor='middle' fontSize='9' fontWeight='bold' fill='#fff'&gt;snow&lt;/text&gt;&#10;                    &lt;text x='870' y='192' textAnchor='middle' fontSize='8' fill='#fff' opacity='0.95'&gt;3,321&lt;/text&gt;&#10;                    &lt;circle cx='130' cy='430' r='18' fill='url(#g3)' opacity='0.8' /&gt;&#10;                    &lt;text x='130' y='430' textAnchor='middle' fontSize='9' fontWeight='bold' fill='#fff'&gt;handmade&lt;/text&gt;&#10;                    &lt;text x='130' y='442' textAnchor='middle' fontSize='7' fill='#fff' opacity='0.95'&gt;2,150&lt;/text&gt;&#10;                    &lt;circle cx='700' cy='430' r='26' fill='url(#g3)' opacity='0.8' /&gt;&#10;                    &lt;text x='700' y='428' textAnchor='middle' fontSize='9' fontWeight='bold' fill='#fff'&gt;occlusion&lt;/text&gt;&#10;                    &lt;text x='700' y='442' textAnchor='middle' fontSize='8' fill='#fff' opacity='0.95'&gt;4,215&lt;/text&gt;&#10;                    &lt;circle cx='470' cy='80' r='18' fill='url(#g3)' opacity='0.8' /&gt;&#10;                    &lt;text x='470' y='80' textAnchor='middle' fontSize='9' fontWeight='bold' fill='#fff'&gt;mountain&lt;/text&gt;&#10;                    &lt;text x='470' y='92' textAnchor='middle' fontSize='7' fill='#fff' opacity='0.95'&gt;1,452&lt;/text&gt;&#10;                    &lt;circle cx='920' cy='320' r='14' fill='url(#g3)' opacity='0.8' /&gt;&#10;                    &lt;text x='920' y='320' textAnchor='middle' fontSize='8' fontWeight='bold' fill='#fff'&gt;sand&lt;/text&gt;&#10;                    &lt;rect x='40' y='14' width='220' height='70' rx='6' fill='#FFFFFF' stroke='#1E4FA8' /&gt;&#10;                    &lt;text x='50' y='34' fontSize='11' fontWeight='bold' fill='#1A2230'&gt;域分布统计&lt;/text&gt;&#10;                    &lt;circle cx='58' cy='52' r='5' fill='url(#g1)' /&gt;&#10;                    &lt;text x='68' y='55' fontSize='10' fill='#4A5568'&gt;≥ 20k 大域&lt;/text&gt;&#10;                    &lt;circle cx='128' cy='52' r='5' fill='url(#g2)' /&gt;&#10;                    &lt;text x='138' y='55' fontSize='10' fill='#4A5568'&gt;10-20k 中域&lt;/text&gt;&#10;                    &lt;circle cx='208' cy='52' r='5' fill='url(#g3)' /&gt;&#10;                    &lt;text x='218' y='55' fontSize='10' fill='#4A5568'&gt;&amp;lt; 10k 小域&lt;/text&gt;&#10;                    &lt;text x='50' y='74' fontSize='9' fill='#8B97A8'&gt;气泡面积 ∝ 样本数&lt;/text&gt;&#10;                &lt;/svg&gt;&#10;            &lt;/Box&gt;&#10;        &lt;/Box&gt;&#10;        &lt;Box style={{ width: '40%', height: '100%', gap: 14 }}&gt;&#10;            &lt;Text style={{ color: '#8B97A8', fontSize: 12, fontWeight: 'bold', letterSpacing: 3 }}&gt;INTERPRETATION&lt;/Text&gt;&#10;            &lt;Text style={{ color: '#1A2230', fontSize: 28, fontWeight: 'bold', lineHeight: 1.25 }}&gt;&#10;                14 个域覆盖日常视觉变化&#10;            &lt;/Text&gt;&#10;            &lt;Text style={{ color: '#4A5568', fontSize: 15, lineHeight: 1.65 }}&gt;&#10;                域标签是图像级属性，边界框是目标级标注——目标通常位于前景，&#10;                域体现为背景或整体图像属性。这种&quot;前景-背景&quot;解耦，&#10;                让不同域对同一图像的不同区域产生不同影响。&#10;            &lt;/Text&gt;&#10;            &lt;Box style={{&#10;                width: '100%', borderRadius: 12,&#10;                background: '#F0F5FC',&#10;                paddingLeft: 18, paddingRight: 18,&#10;                paddingTop: 14, paddingBottom: 14,&#10;                gap: 10,&#10;            }}&gt;&#10;                &lt;Text style={{ color: '#1E4FA8', fontSize: 13, fontWeight: 'bold', letterSpacing: 1 }}&gt;域类型分组&lt;/Text&gt;&#10;                &lt;Box style={{ width: '100%', gap: 6 }}&gt;&#10;                    {[&#10;                        { group: '环境', tag: 'snow/sand/grass/water/road/street/tree', color: '#1E4FA8' },&#10;                        { group: '光照与遮挡', tag: 'dim/occlusion', color: '#FF8A4C' },&#10;                        { group: '风格化', tag: 'painting/handmade', color: '#2BC5C0' },&#10;                        { group: '特殊场景', tag: 'indoor/mountain/sky', color: '#FFC247' },&#10;                    ].map((row, idx) =&gt; (&#10;                        &lt;Box key={idx} style={{&#10;                            width: '100%',&#10;                            flexDirection: 'row', alignItems: 'center',&#10;                            gap: 12,&#10;                            paddingTop: 6, paddingBottom: 6,&#10;                        }}&gt;&#10;                            &lt;Box style={{&#10;                                width: 60,&#10;                                paddingLeft: 8, paddingRight: 8,&#10;                                paddingTop: 4, paddingBottom: 4,&#10;                                borderRadius: 6, background: row.color,&#10;                            }}&gt;&#10;                                &lt;Text style={{ color: '#FFFFFF', fontSize: 11, fontWeight: 'bold' }}&gt;{row.group}&lt;/Text&gt;&#10;                            &lt;/Box&gt;&#10;                            &lt;Text style={{ color: '#1A2230', fontSize: 13 }}&gt;{row.tag}&lt;/Text&gt;&#10;                        &lt;/Box&gt;&#10;                    ))}&#10;                &lt;/Box&gt;&#10;            &lt;/Box&gt;&#10;            &lt;Box style={{&#10;                width: '100%', borderRadius: 12,&#10;                paddingLeft: 18, paddingRight: 18,&#10;                paddingTop: 14, paddingBottom: 14,&#10;                gap: 6,&#10;                background: '#FFFFFF',&#10;                border: '1.5px solid #FFC247',&#10;            }}&gt;&#10;                &lt;Text style={{ color: '#FFC247', fontSize: 12, fontWeight: 'bold', letterSpacing: 2 }}&gt;EXCLUSION RULE&lt;/Text&gt;&#10;                &lt;Text style={{ color: '#1A2230', fontSize: 14, lineHeight: 1.5 }}&gt;&#10;                    选择原则：常见于日常视觉经验、影响像素分布、域间尽量独立。&#10;                &lt;/Text&gt;&#10;            &lt;/Box&gt;&#10;        &lt;/Box&gt;&#10;    &lt;/Box&gt;&#10;    &lt;Box style={{&#10;        position: 'absolute', bottom: 0, left: 0, width: '100%', height: 32,&#10;        background: '#F7F9FC',&#10;        flexDirection: 'row', alignItems: 'center',&#10;        justifyContent: 'space-between',&#10;        paddingLeft: 40, paddingRight: 40,&#10;        borderTop: '1px solid #E5E7EB',&#10;    }}&gt;&#10;        &lt;Text style={{ color: '#8B97A8', fontSize: 12 }}&gt;COUNTS · 跨域目标检测与多模态 grounding&lt;/Text&gt;&#10;        &lt;Text style={{ color: '#4A5568', fontSize: 12 }}&gt;08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"/>
          <p:cNvSpPr/>
          <p:nvPr/>
        </p:nvSpPr>
        <p:spPr>
          <a:xfrm rot="0" flipH="0" flipV="0"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0" y="0"/>
            <a:ext cx="12192000" cy="762000"/>
          </a:xfrm>
          <a:custGeom>
            <a:pathLst>
              <a:path w="1280" h="80">
                <a:moveTo>
                  <a:pt x="0" y="78"/>
                </a:moveTo>
                <a:lnTo>
                  <a:pt x="1280" y="78"/>
                </a:lnTo>
                <a:lnTo>
                  <a:pt x="1280" y="80"/>
                </a:lnTo>
                <a:lnTo>
                  <a:pt x="0" y="80"/>
                </a:lnTo>
                <a:close/>
              </a:path>
            </a:pathLst>
          </a:custGeom>
          <a:solidFill>
            <a:srgbClr val="F0F5FC"/>
          </a:solidFill>
          <a:ln/>
        </p:spPr>
        <p:txBody>
          <a:bodyPr/>
          <a:p/>
        </p:txBody>
      </p:sp>
      <p:sp>
        <p:nvSpPr>
          <p:cNvPr id="585" name=""/>
          <p:cNvSpPr/>
          <p:nvPr/>
        </p:nvSpPr>
        <p:spPr>
          <a:xfrm rot="0" flipH="0" flipV="0">
            <a:off x="381000" y="352425"/>
            <a:ext cx="381000" cy="38100"/>
          </a:xfrm>
          <a:prstGeom prst="roundRect">
            <a:avLst>
              <a:gd name="adj" fmla="val 50000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895350" y="295275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2BC5C0"/>
                </a:solidFill>
                <a:latin typeface="Microsoft YaHei"/>
                <a:ea typeface="Microsoft YaHei"/>
              </a:rPr>
              <a:t>CHAPTER 03 · 14 </a:t>
            </a:r>
            <a:r>
              <a:rPr lang="zh-CN" sz="1050" b="1" spc="150">
                <a:solidFill>
                  <a:srgbClr val="2BC5C0"/>
                </a:solidFill>
                <a:latin typeface="Microsoft YaHei"/>
                <a:ea typeface="Microsoft YaHei"/>
              </a:rPr>
              <a:t>个自然分布域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11229975" y="295275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页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08 / 18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342900" y="971550"/>
            <a:ext cx="6677025" cy="4914900"/>
          </a:xfrm>
          <a:prstGeom prst="roundRect">
            <a:avLst>
              <a:gd name="adj" fmla="val 2713"/>
            </a:avLst>
          </a:prstGeom>
          <a:gradFill>
            <a:gsLst>
              <a:gs pos="0">
                <a:srgbClr val="F7F9FC"/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552450" y="1171575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1E4FA8"/>
                </a:solidFill>
                <a:latin typeface="Microsoft YaHei"/>
                <a:ea typeface="Microsoft YaHei"/>
              </a:rPr>
              <a:t>DOMAIN BUBBLE · </a:t>
            </a:r>
            <a:r>
              <a:rPr lang="zh-CN" sz="1050" b="1" spc="150">
                <a:solidFill>
                  <a:srgbClr val="1E4FA8"/>
                </a:solidFill>
                <a:latin typeface="Microsoft YaHei"/>
                <a:ea typeface="Microsoft YaHei"/>
              </a:rPr>
              <a:t>样本量分布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5915025" y="1143000"/>
            <a:ext cx="895350" cy="209550"/>
          </a:xfrm>
          <a:prstGeom prst="roundRect">
            <a:avLst>
              <a:gd name="adj" fmla="val 3636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6010275" y="1181100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E4FA8"/>
                </a:solidFill>
                <a:latin typeface="Microsoft YaHei"/>
                <a:ea typeface="Microsoft YaHei"/>
              </a:rPr>
              <a:t>14 DOMAINS</a:t>
            </a:r>
            <a:endParaRPr/>
          </a:p>
        </p:txBody>
      </p:sp>
      <p:pic>
        <p:nvPicPr>
          <p:cNvPr id="5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2450" y="1543050"/>
            <a:ext cx="6257925" cy="4171950"/>
          </a:xfrm>
          <a:prstGeom prst="rect">
            <a:avLst/>
          </a:prstGeom>
          <a:ln/>
        </p:spPr>
      </p:pic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7248525" y="971550"/>
            <a:ext cx="4600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225">
                <a:solidFill>
                  <a:srgbClr val="8B97A8"/>
                </a:solidFill>
                <a:latin typeface="Microsoft YaHei"/>
                <a:ea typeface="Microsoft YaHei"/>
              </a:rPr>
              <a:t>INTERPRETATION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7248525" y="1247775"/>
            <a:ext cx="4600575" cy="4000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100" b="1">
                <a:solidFill>
                  <a:srgbClr val="1A2230"/>
                </a:solidFill>
                <a:latin typeface="Microsoft YaHei"/>
                <a:ea typeface="Microsoft YaHei"/>
              </a:rPr>
              <a:t>14 </a:t>
            </a: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个域覆盖日常视觉变化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7248525" y="1781175"/>
            <a:ext cx="460057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域标签是图像级属性，边界框是目标级标注——目标通常位于前景，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域体现为背景或整体图像属性。这种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前景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-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背景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解耦，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让不同域对同一图像的不同区域产生不同影响。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7248525" y="2771775"/>
            <a:ext cx="4600575" cy="2105025"/>
          </a:xfrm>
          <a:prstGeom prst="roundRect">
            <a:avLst>
              <a:gd name="adj" fmla="val 543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7419975" y="2905125"/>
            <a:ext cx="425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1E4FA8"/>
                </a:solidFill>
                <a:latin typeface="Microsoft YaHei"/>
                <a:ea typeface="Microsoft YaHei"/>
              </a:rPr>
              <a:t>域类型分组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7419975" y="3209925"/>
            <a:ext cx="571500" cy="209550"/>
          </a:xfrm>
          <a:prstGeom prst="roundRect">
            <a:avLst>
              <a:gd name="adj" fmla="val 2727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7496175" y="324802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环境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8105775" y="3238500"/>
            <a:ext cx="2390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>snow/sand/grass/water/road/street/tree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7419975" y="3590925"/>
            <a:ext cx="571500" cy="333375"/>
          </a:xfrm>
          <a:prstGeom prst="roundRect">
            <a:avLst>
              <a:gd name="adj" fmla="val 17143"/>
            </a:avLst>
          </a:prstGeom>
          <a:solidFill>
            <a:srgbClr val="FF8A4C"/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7496175" y="3629025"/>
            <a:ext cx="419100" cy="257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光照与遮挡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8105775" y="3686175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>dim/occlusion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7419975" y="4095750"/>
            <a:ext cx="571500" cy="209550"/>
          </a:xfrm>
          <a:prstGeom prst="roundRect">
            <a:avLst>
              <a:gd name="adj" fmla="val 27273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7496175" y="4133850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风格化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105775" y="4124325"/>
            <a:ext cx="118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>painting/handmade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7419975" y="4476750"/>
            <a:ext cx="571500" cy="209550"/>
          </a:xfrm>
          <a:prstGeom prst="roundRect">
            <a:avLst>
              <a:gd name="adj" fmla="val 27273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7496175" y="4514850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特殊场景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8105775" y="4505325"/>
            <a:ext cx="1266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>indoor/mountain/sky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7248525" y="5010150"/>
            <a:ext cx="4600575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FFC247"/>
            </a:solidFill>
            <a:prstDash val="solid"/>
          </a:ln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7419975" y="5143500"/>
            <a:ext cx="4257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FFC247"/>
                </a:solidFill>
                <a:latin typeface="Microsoft YaHei"/>
                <a:ea typeface="Microsoft YaHei"/>
              </a:rPr>
              <a:t>EXCLUSION RULE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7419975" y="5343525"/>
            <a:ext cx="42576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选择原则：常见于日常视觉经验、影响像素分布、域间尽量独立。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0" y="6562725"/>
            <a:ext cx="12192000" cy="2952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14" name=""/>
          <p:cNvSpPr/>
          <p:nvPr/>
        </p:nvSpPr>
        <p:spPr>
          <a:xfrm rot="0" flipH="0" flipV="0">
            <a:off x="0" y="6553200"/>
            <a:ext cx="12192000" cy="304800"/>
          </a:xfrm>
          <a:custGeom>
            <a:pathLst>
              <a:path w="1280" h="3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381000" y="6638925"/>
            <a:ext cx="2333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COUNTS ·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跨域目标检测与多模态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grounding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11420475" y="66389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08 / 18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17" name="" descr="&lt;Slide padding={0}&gt;&#10;    &lt;Box style={{&#10;        width: '100%', height: 80,&#10;        flexDirection: 'row', alignItems: 'center',&#10;        paddingLeft: 40, paddingRight: 40,&#10;        background: '#FFFFFF',&#10;        borderBottom: '2px solid #F0F5FC',&#10;    }}&gt;&#10;        &lt;Box style={{ width: 40, height: 4, borderRadius: 2, background: '#2BC5C0', marginRight: 14 }} /&gt;&#10;        &lt;Text style={{ color: '#2BC5C0', fontSize: 14, fontWeight: 'bold', letterSpacing: 2 }}&gt;CHAPTER 03 · 数据收集流程&lt;/Text&gt;&#10;        &lt;Box style={{ flex: 1 }} /&gt;&#10;        &lt;Text style={{ color: '#8B97A8', fontSize: 13 }}&gt;页 09 / 18&lt;/Text&gt;&#10;    &lt;/Box&gt;&#10;    &lt;Box style={{&#10;        width: '100%', height: 560,&#10;        paddingLeft: 48, paddingRight: 48,&#10;        paddingTop: 26, paddingBottom: 26,&#10;        gap: 22,&#10;    }}&gt;&#10;        &lt;Box style={{ width: '100%', gap: 8 }}&gt;&#10;            &lt;Text style={{ color: '#1E4FA8', fontSize: 13, fontWeight: 'bold', letterSpacing: 3 }}&gt;PIPELINE&lt;/Text&gt;&#10;            &lt;Text style={{ color: '#1A2230', fontSize: 32, fontWeight: 'bold' }}&gt;&#10;                三阶段过滤：从 500 万 到 22.2 万张高质量标注&#10;            &lt;/Text&gt;&#10;            &lt;Text style={{ color: '#4A5568', fontSize: 15, lineHeight: 1.5 }}&gt;&#10;                自动化筛选 + 双人验证 + 人工复核，三步把噪声过滤到测试级别。&#10;            &lt;/Text&gt;&#10;        &lt;/Box&gt;&#10;        &lt;Box style={{&#10;            width: '100%', flex: 1,&#10;            flexDirection: 'row', alignItems: 'stretch',&#10;            gap: 14,&#10;        }}&gt;&#10;            {[&#10;                {&#10;                    step: '01',&#10;                    title: '候选筛选',&#10;                    desc: '从 Open Images、Visual Genome、RefCOCO/+/g、Flickr30K、GranD 等公开数据集按预定义域空间初筛。',&#10;                    metric: '500 万+ 候选',&#10;                    color: '#1E4FA8',&#10;                    bg: '#E8EFF8',&#10;                },&#10;                {&#10;                    step: '02',&#10;                    title: '域标签双验',&#10;                    desc: '两位独立标注者共同判定图像所属域，标签一致才保留作为真实域标签。',&#10;                    metric: '双人独立',&#10;                    color: '#5B7FCE',&#10;                    bg: '#DCE7F8',&#10;                },&#10;                {&#10;                    step: '03',&#10;                    title: '随机划分',&#10;                    desc: '每域随机抽 10% 作为测试与验证集；Open Images 等部分样本需重新标注。',&#10;                    metric: '10% 测试验证',&#10;                    color: '#2BC5C0',&#10;                    bg: '#DAF6F4',&#10;                },&#10;                {&#10;                    step: '04',&#10;                    title: '边界框复核',&#10;                    desc: '测试 / 验证集全部经两位标注者独立标注并验证，确保评估可靠。',&#10;                    metric: '23,000 张重标',&#10;                    color: '#FFC247',&#10;                    bg: '#FFEFC9',&#10;                },&#10;            ].map((node, idx) =&gt; (&#10;                &lt;Box key={idx} style={{&#10;                    flex: 1, height: '100%',&#10;                    borderRadius: 14,&#10;                    background: '#FFFFFF',&#10;                    border: `1.5px solid ${node.color}`,&#10;                    paddingTop: 20, paddingBottom: 20,&#10;                    paddingLeft: 18, paddingRight: 18,&#10;                    gap: 12,&#10;                    justifyContent: 'space-between',&#10;                }}&gt;&#10;                    &lt;Box style={{ gap: 10 }}&gt;&#10;                        &lt;Box style={{&#10;                            width: 48, height: 48, borderRadius: 24,&#10;                            background: node.color,&#10;                            justifyContent: 'center', alignItems: 'center',&#10;                        }}&gt;&#10;                            &lt;Text style={{ color: '#FFFFFF', fontSize: 20, fontWeight: 'bold' }}&gt;{node.step}&lt;/Text&gt;&#10;                        &lt;/Box&gt;&#10;                        &lt;Text style={{ color: '#1A2230', fontSize: 20, fontWeight: 'bold' }}&gt;{node.title}&lt;/Text&gt;&#10;                        &lt;Text style={{ color: '#4A5568', fontSize: 13, lineHeight: 1.6 }}&gt;{node.desc}&lt;/Text&gt;&#10;                    &lt;/Box&gt;&#10;                    &lt;Box style={{&#10;                        paddingLeft: 12, paddingRight: 12,&#10;                        paddingTop: 6, paddingBottom: 6,&#10;                        borderRadius: 10,&#10;                        background: node.bg,&#10;                        alignSelf: 'flex-start',&#10;                    }}&gt;&#10;                        &lt;Text style={{ color: node.color, fontSize: 12, fontWeight: 'bold', letterSpacing: 1 }}&gt;{node.metric}&lt;/Text&gt;&#10;                    &lt;/Box&gt;&#10;                &lt;/Box&gt;&#10;            ))}&#10;        &lt;/Box&gt;&#10;        &lt;Box style={{&#10;            width: '100%',&#10;            borderRadius: 12,&#10;            background: 'linear-gradient(90deg, #1E4FA8 0%, #2BC5C0 100%)',&#10;            paddingLeft: 22, paddingRight: 22,&#10;            paddingTop: 14, paddingBottom: 14,&#10;            flexDirection: 'row', alignItems: 'center',&#10;            gap: 18,&#10;        }}&gt;&#10;            &lt;Box style={{&#10;                width: 36, height: 36, borderRadius: 18,&#10;                background: 'rgba(255,255,255,0.2)',&#10;                justifyContent: 'center', alignItems: 'center',&#10;            }}&gt;&#10;                &lt;Text style={{ color: '#FFFFFF', fontSize: 18, fontWeight: 'bold' }}&gt;✓&lt;/Text&gt;&#10;            &lt;/Box&gt;&#10;            &lt;Text style={{ color: '#FFFFFF', fontSize: 18, lineHeight: 1.5, flex: 1 }}&gt;&#10;                &lt;span style={{ fontWeight: 'bold' }}&gt;自然图像 + 全程人工把关&lt;/span&gt;——避免合成扰动的&quot;伪迁移&quot;，让评估反映真实部署挑战。&#10;            &lt;/Text&gt;&#10;        &lt;/Box&gt;&#10;    &lt;/Box&gt;&#10;    &lt;Box style={{&#10;        position: 'absolute', bottom: 0, left: 0, width: '100%', height: 32,&#10;        background: '#F7F9FC',&#10;        flexDirection: 'row', alignItems: 'center',&#10;        justifyContent: 'space-between',&#10;        paddingLeft: 40, paddingRight: 40,&#10;        borderTop: '1px solid #E5E7EB',&#10;    }}&gt;&#10;        &lt;Text style={{ color: '#8B97A8', fontSize: 12 }}&gt;COUNTS · 跨域目标检测与多模态 grounding&lt;/Text&gt;&#10;        &lt;Text style={{ color: '#4A5568', fontSize: 12 }}&gt;09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"/>
          <p:cNvSpPr/>
          <p:nvPr/>
        </p:nvSpPr>
        <p:spPr>
          <a:xfrm rot="0" flipH="0" flipV="0"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9" name=""/>
          <p:cNvSpPr/>
          <p:nvPr/>
        </p:nvSpPr>
        <p:spPr>
          <a:xfrm rot="0" flipH="0" flipV="0">
            <a:off x="0" y="0"/>
            <a:ext cx="12192000" cy="762000"/>
          </a:xfrm>
          <a:custGeom>
            <a:pathLst>
              <a:path w="1280" h="80">
                <a:moveTo>
                  <a:pt x="0" y="78"/>
                </a:moveTo>
                <a:lnTo>
                  <a:pt x="1280" y="78"/>
                </a:lnTo>
                <a:lnTo>
                  <a:pt x="1280" y="80"/>
                </a:lnTo>
                <a:lnTo>
                  <a:pt x="0" y="80"/>
                </a:lnTo>
                <a:close/>
              </a:path>
            </a:pathLst>
          </a:custGeom>
          <a:solidFill>
            <a:srgbClr val="F0F5FC"/>
          </a:solidFill>
          <a:ln/>
        </p:spPr>
        <p:txBody>
          <a:bodyPr/>
          <a:p/>
        </p:txBody>
      </p:sp>
      <p:sp>
        <p:nvSpPr>
          <p:cNvPr id="620" name=""/>
          <p:cNvSpPr/>
          <p:nvPr/>
        </p:nvSpPr>
        <p:spPr>
          <a:xfrm rot="0" flipH="0" flipV="0">
            <a:off x="381000" y="352425"/>
            <a:ext cx="381000" cy="38100"/>
          </a:xfrm>
          <a:prstGeom prst="roundRect">
            <a:avLst>
              <a:gd name="adj" fmla="val 50000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895350" y="295275"/>
            <a:ext cx="2152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2BC5C0"/>
                </a:solidFill>
                <a:latin typeface="Microsoft YaHei"/>
                <a:ea typeface="Microsoft YaHei"/>
              </a:rPr>
              <a:t>CHAPTER 03 · </a:t>
            </a:r>
            <a:r>
              <a:rPr lang="zh-CN" sz="1050" b="1" spc="150">
                <a:solidFill>
                  <a:srgbClr val="2BC5C0"/>
                </a:solidFill>
                <a:latin typeface="Microsoft YaHei"/>
                <a:ea typeface="Microsoft YaHei"/>
              </a:rPr>
              <a:t>数据收集流程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11229975" y="295275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页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09 / 18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457200" y="1009650"/>
            <a:ext cx="11277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1E4FA8"/>
                </a:solidFill>
                <a:latin typeface="Microsoft YaHei"/>
                <a:ea typeface="Microsoft YaHei"/>
              </a:rPr>
              <a:t>PIPELINE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457200" y="1238250"/>
            <a:ext cx="112776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三阶段过滤：从</a:t>
            </a:r>
            <a:r>
              <a:rPr lang="en-US" sz="2400" b="1">
                <a:solidFill>
                  <a:srgbClr val="1A2230"/>
                </a:solidFill>
                <a:latin typeface="Microsoft YaHei"/>
                <a:ea typeface="Microsoft YaHei"/>
              </a:rPr>
              <a:t> 500 </a:t>
            </a: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万</a:t>
            </a:r>
            <a:r>
              <a:rPr lang="en-US" sz="2400" b="1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到</a:t>
            </a:r>
            <a:r>
              <a:rPr lang="en-US" sz="2400" b="1">
                <a:solidFill>
                  <a:srgbClr val="1A2230"/>
                </a:solidFill>
                <a:latin typeface="Microsoft YaHei"/>
                <a:ea typeface="Microsoft YaHei"/>
              </a:rPr>
              <a:t> 22.2 </a:t>
            </a: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万张高质量标注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457200" y="1685925"/>
            <a:ext cx="11277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自动化筛选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双人验证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人工复核，三步把噪声过滤到测试级别。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457200" y="2152650"/>
            <a:ext cx="2724150" cy="287655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90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627" name=""/>
          <p:cNvSpPr/>
          <p:nvPr/>
        </p:nvSpPr>
        <p:spPr>
          <a:xfrm rot="0" flipH="0" flipV="0">
            <a:off x="628650" y="23431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742950" y="24574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28650" y="2895600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候选筛选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628650" y="3219450"/>
            <a:ext cx="23812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从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Open Images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Visual Genome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RefCOCO/+/g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Flickr30K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GranD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等公开数据集按预定义域空间初筛。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628650" y="4581525"/>
            <a:ext cx="1028700" cy="257175"/>
          </a:xfrm>
          <a:prstGeom prst="roundRect">
            <a:avLst>
              <a:gd name="adj" fmla="val 3703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742950" y="463867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1E4FA8"/>
                </a:solidFill>
                <a:latin typeface="Microsoft YaHei"/>
                <a:ea typeface="Microsoft YaHei"/>
              </a:rPr>
              <a:t>500 </a:t>
            </a:r>
            <a:r>
              <a:rPr lang="zh-CN" sz="900" b="1" spc="75">
                <a:solidFill>
                  <a:srgbClr val="1E4FA8"/>
                </a:solidFill>
                <a:latin typeface="Microsoft YaHei"/>
                <a:ea typeface="Microsoft YaHei"/>
              </a:rPr>
              <a:t>万</a:t>
            </a:r>
            <a:r>
              <a:rPr lang="en-US" sz="900" b="1" spc="75">
                <a:solidFill>
                  <a:srgbClr val="1E4FA8"/>
                </a:solidFill>
                <a:latin typeface="Microsoft YaHei"/>
                <a:ea typeface="Microsoft YaHei"/>
              </a:rPr>
              <a:t>+ </a:t>
            </a:r>
            <a:r>
              <a:rPr lang="zh-CN" sz="900" b="1" spc="75">
                <a:solidFill>
                  <a:srgbClr val="1E4FA8"/>
                </a:solidFill>
                <a:latin typeface="Microsoft YaHei"/>
                <a:ea typeface="Microsoft YaHei"/>
              </a:rPr>
              <a:t>候选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3314700" y="2152650"/>
            <a:ext cx="2714625" cy="287655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9050">
            <a:solidFill>
              <a:srgbClr val="5B7FCE"/>
            </a:solidFill>
            <a:prstDash val="solid"/>
          </a:ln>
        </p:spPr>
        <p:txBody>
          <a:bodyPr/>
          <a:p/>
        </p:txBody>
      </p:sp>
      <p:sp>
        <p:nvSpPr>
          <p:cNvPr id="634" name=""/>
          <p:cNvSpPr/>
          <p:nvPr/>
        </p:nvSpPr>
        <p:spPr>
          <a:xfrm rot="0" flipH="0" flipV="0">
            <a:off x="3486150" y="23431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7FCE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3600450" y="24574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3486150" y="2895600"/>
            <a:ext cx="2371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域标签双验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3486150" y="3219450"/>
            <a:ext cx="237172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两位独立标注者共同判定图像所属域，标签一致才保留作为真实域标签。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3486150" y="4581525"/>
            <a:ext cx="723900" cy="257175"/>
          </a:xfrm>
          <a:prstGeom prst="roundRect">
            <a:avLst>
              <a:gd name="adj" fmla="val 37037"/>
            </a:avLst>
          </a:prstGeom>
          <a:solidFill>
            <a:srgbClr val="DCE7F8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3600450" y="4638675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5B7FCE"/>
                </a:solidFill>
                <a:latin typeface="Microsoft YaHei"/>
                <a:ea typeface="Microsoft YaHei"/>
              </a:rPr>
              <a:t>双人独立</a:t>
            </a:r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6162675" y="2152650"/>
            <a:ext cx="2724150" cy="287655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9050">
            <a:solidFill>
              <a:srgbClr val="2BC5C0"/>
            </a:solidFill>
            <a:prstDash val="solid"/>
          </a:ln>
        </p:spPr>
        <p:txBody>
          <a:bodyPr/>
          <a:p/>
        </p:txBody>
      </p:sp>
      <p:sp>
        <p:nvSpPr>
          <p:cNvPr id="641" name=""/>
          <p:cNvSpPr/>
          <p:nvPr/>
        </p:nvSpPr>
        <p:spPr>
          <a:xfrm rot="0" flipH="0" flipV="0">
            <a:off x="6334125" y="23431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448425" y="24574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6334125" y="2895600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随机划分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6334125" y="3219450"/>
            <a:ext cx="23812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每域随机抽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10%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作为测试与验证集；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Open Images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等部分样本需重新标注。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6334125" y="4581525"/>
            <a:ext cx="1047750" cy="257175"/>
          </a:xfrm>
          <a:prstGeom prst="roundRect">
            <a:avLst>
              <a:gd name="adj" fmla="val 37037"/>
            </a:avLst>
          </a:prstGeom>
          <a:solidFill>
            <a:srgbClr val="DAF6F4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6448425" y="4638675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2BC5C0"/>
                </a:solidFill>
                <a:latin typeface="Microsoft YaHei"/>
                <a:ea typeface="Microsoft YaHei"/>
              </a:rPr>
              <a:t>10% </a:t>
            </a:r>
            <a:r>
              <a:rPr lang="zh-CN" sz="900" b="1" spc="75">
                <a:solidFill>
                  <a:srgbClr val="2BC5C0"/>
                </a:solidFill>
                <a:latin typeface="Microsoft YaHei"/>
                <a:ea typeface="Microsoft YaHei"/>
              </a:rPr>
              <a:t>测试验证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9020175" y="2152650"/>
            <a:ext cx="2714625" cy="287655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9050">
            <a:solidFill>
              <a:srgbClr val="FFC247"/>
            </a:solidFill>
            <a:prstDash val="solid"/>
          </a:ln>
        </p:spPr>
        <p:txBody>
          <a:bodyPr/>
          <a:p/>
        </p:txBody>
      </p:sp>
      <p:sp>
        <p:nvSpPr>
          <p:cNvPr id="648" name=""/>
          <p:cNvSpPr/>
          <p:nvPr/>
        </p:nvSpPr>
        <p:spPr>
          <a:xfrm rot="0" flipH="0" flipV="0">
            <a:off x="9191625" y="23431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9305925" y="24574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9191625" y="2895600"/>
            <a:ext cx="2371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边界框复核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9191625" y="3219450"/>
            <a:ext cx="237172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测试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验证集全部经两位标注者独立标注并验证，确保评估可靠。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9191625" y="4581525"/>
            <a:ext cx="1095375" cy="257175"/>
          </a:xfrm>
          <a:prstGeom prst="roundRect">
            <a:avLst>
              <a:gd name="adj" fmla="val 37037"/>
            </a:avLst>
          </a:prstGeom>
          <a:solidFill>
            <a:srgbClr val="FFEFC9"/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9305925" y="4638675"/>
            <a:ext cx="866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FFC247"/>
                </a:solidFill>
                <a:latin typeface="Microsoft YaHei"/>
                <a:ea typeface="Microsoft YaHei"/>
              </a:rPr>
              <a:t>23,000 </a:t>
            </a:r>
            <a:r>
              <a:rPr lang="zh-CN" sz="900" b="1" spc="75">
                <a:solidFill>
                  <a:srgbClr val="FFC247"/>
                </a:solidFill>
                <a:latin typeface="Microsoft YaHei"/>
                <a:ea typeface="Microsoft YaHei"/>
              </a:rPr>
              <a:t>张重标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457200" y="5238750"/>
            <a:ext cx="11277600" cy="609600"/>
          </a:xfrm>
          <a:prstGeom prst="roundRect">
            <a:avLst>
              <a:gd name="adj" fmla="val 18750"/>
            </a:avLst>
          </a:prstGeom>
          <a:gradFill>
            <a:gsLst>
              <a:gs pos="0">
                <a:srgbClr val="1E4FA8"/>
              </a:gs>
              <a:gs pos="100000">
                <a:srgbClr val="2BC5C0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55" name=""/>
          <p:cNvSpPr/>
          <p:nvPr/>
        </p:nvSpPr>
        <p:spPr>
          <a:xfrm rot="0" flipH="0" flipV="0">
            <a:off x="666750" y="53721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752475" y="54387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1181100" y="5391150"/>
            <a:ext cx="103441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自然图像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全程人工把关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——避免合成扰动的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伪迁移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，让评估反映真实部署挑战。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0" y="6562725"/>
            <a:ext cx="12192000" cy="2952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59" name=""/>
          <p:cNvSpPr/>
          <p:nvPr/>
        </p:nvSpPr>
        <p:spPr>
          <a:xfrm rot="0" flipH="0" flipV="0">
            <a:off x="0" y="6553200"/>
            <a:ext cx="12192000" cy="304800"/>
          </a:xfrm>
          <a:custGeom>
            <a:pathLst>
              <a:path w="1280" h="3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381000" y="6638925"/>
            <a:ext cx="2333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COUNTS ·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跨域目标检测与多模态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grounding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11420475" y="66389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09 / 18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4" name="" descr="&lt;Slide padding={0}&gt;&#10;    &lt;Box style={{&#10;        width: '100%', height: '100%',&#10;        background: 'linear-gradient(135deg, #1A2230 0%, #1E4FA8 60%, #5B7FCE 100%)',&#10;        paddingLeft: 56, paddingRight: 56,&#10;        paddingTop: 56, paddingBottom: 56,&#10;        flexDirection: 'row',&#10;        gap: 32,&#10;    }}&gt;&#10;        &lt;Box style={{ width: '40%', height: '100%', justifyContent: 'center', gap: 16 }}&gt;&#10;            &lt;Text style={{ color: '#FFC247', fontSize: 14, fontWeight: 'bold', letterSpacing: 4 }}&gt;CHAPTER 04 · 基准与实验&lt;/Text&gt;&#10;            &lt;Text style={{&#10;                color: '#FFFFFF', fontSize: 28,&#10;                fontWeight: 'bold', lineHeight: 1.2, opacity: 0.85,&#10;            }}&gt;&#10;                一个数据集，&#10;            &lt;/Text&gt;&#10;            &lt;Text style={{&#10;                color: '#FFFFFF', fontSize: 80,&#10;                fontWeight: 'bold', lineHeight: 1.05,&#10;            }}&gt;&#10;                两个基准&#10;            &lt;/Text&gt;&#10;            &lt;Box style={{ width: 80, height: 4, borderRadius: 2, background: '#FFC247' }} /&gt;&#10;            &lt;Text style={{ color: '#FFFFFF', fontSize: 16, lineHeight: 1.6, opacity: 0.85 }}&gt;&#10;                同时考察目标检测器和多模态大模型在 OOD 下的真实能力&#10;            &lt;/Text&gt;&#10;        &lt;/Box&gt;&#10;        &lt;Box style={{ width: '58%', height: '100%', flexDirection: 'row', gap: 24 }}&gt;&#10;            &lt;Box style={{&#10;                flex: 1, height: '100%',&#10;                borderRadius: 20,&#10;                background: 'rgba(255,255,255,0.1)',&#10;                border: '2px solid rgba(255,255,255,0.32)',&#10;                paddingTop: 28, paddingBottom: 28,&#10;                paddingLeft: 24, paddingRight: 24,&#10;                gap: 18, justifyContent: 'space-between',&#10;            }}&gt;&#10;                &lt;Box style={{ gap: 12 }}&gt;&#10;                    &lt;Box style={{&#10;                        paddingLeft: 12, paddingRight: 12,&#10;                        paddingTop: 6, paddingBottom: 6,&#10;                        borderRadius: 14,&#10;                        background: '#FFC247',&#10;                        alignSelf: 'flex-start',&#10;                    }}&gt;&#10;                        &lt;Text style={{ color: '#1A2230', fontSize: 13, fontWeight: 'bold', letterSpacing: 1 }}&gt;DETECTOR BENCHMARK&lt;/Text&gt;&#10;                    &lt;/Box&gt;&#10;                    &lt;Text style={{&#10;                        color: '#FFFFFF', fontSize: 64,&#10;                        fontWeight: 'bold', lineHeight: 1,&#10;                    }}&gt;O(OD)²&lt;/Text&gt;&#10;                    &lt;Text style={{ color: '#FFFFFF', fontSize: 18, lineHeight: 1.5, opacity: 0.85 }}&gt;&#10;                        OOD in Object Detection&lt;br /&gt;评估检测器在自然分布偏移下的目标检测能力&#10;                    &lt;/Text&gt;&#10;                &lt;/Box&gt;&#10;                &lt;Box style={{ gap: 8 }}&gt;&#10;                    {['6 个目标域', '覆盖多种偏移类型', '衡量 backbone / neck / head'].map((t, i) =&gt; (&#10;                        &lt;Box key={i} style={{ flexDirection: 'row', alignItems: 'center', gap: 10 }}&gt;&#10;                            &lt;Box style={{ width: 8, height: 8, borderRadius: 4, background: '#FFC247' }} /&gt;&#10;                            &lt;Text style={{ color: '#FFFFFF', fontSize: 14, opacity: 0.85 }}&gt;{t}&lt;/Text&gt;&#10;                        &lt;/Box&gt;&#10;                    ))}&#10;                &lt;/Box&gt;&#10;            &lt;/Box&gt;&#10;            &lt;Box style={{&#10;                flex: 1, height: '100%',&#10;                borderRadius: 20,&#10;                background: 'rgba(255,255,255,0.1)',&#10;                border: '2px solid rgba(255,255,255,0.32)',&#10;                paddingTop: 28, paddingBottom: 28,&#10;                paddingLeft: 24, paddingRight: 24,&#10;                gap: 18, justifyContent: 'space-between',&#10;            }}&gt;&#10;                &lt;Box style={{ gap: 12 }}&gt;&#10;                    &lt;Box style={{&#10;                        paddingLeft: 12, paddingRight: 12,&#10;                        paddingTop: 6, paddingBottom: 6,&#10;                        borderRadius: 14,&#10;                        background: '#2BC5C0',&#10;                        alignSelf: 'flex-start',&#10;                    }}&gt;&#10;                        &lt;Text style={{ color: '#1A2230', fontSize: 13, fontWeight: 'bold', letterSpacing: 1 }}&gt;MLLM BENCHMARK&lt;/Text&gt;&#10;                    &lt;/Box&gt;&#10;                    &lt;Text style={{&#10;                        color: '#FFFFFF', fontSize: 64,&#10;                        fontWeight: 'bold', lineHeight: 1,&#10;                    }}&gt;OODG&lt;/Text&gt;&#10;                    &lt;Text style={{ color: '#FFFFFF', fontSize: 18, lineHeight: 1.5, opacity: 0.85 }}&gt;&#10;                        OOD Grounding&lt;br /&gt;评估 MLLM 在 ICL 偏移下的视觉 grounding 能力&#10;                    &lt;/Text&gt;&#10;                &lt;/Box&gt;&#10;                &lt;Box style={{ gap: 8 }}&gt;&#10;                    {['3 类任务', '5 种评测设置', '聚焦 ICL 分布偏移'].map((t, i) =&gt; (&#10;                        &lt;Box key={i} style={{ flexDirection: 'row', alignItems: 'center', gap: 10 }}&gt;&#10;                            &lt;Box style={{ width: 8, height: 8, borderRadius: 4, background: '#2BC5C0' }} /&gt;&#10;                            &lt;Text style={{ color: '#FFFFFF', fontSize: 14, opacity: 0.85 }}&gt;{t}&lt;/Text&gt;&#10;                        &lt;/Box&gt;&#10;                    ))}&#10;                &lt;/Box&gt;&#10;            &lt;/Box&gt;&#10;        &lt;/Box&gt;&#10;    &lt;/Box&gt;&#10;    &lt;Box style={{&#10;        position: 'absolute', bottom: 0, left: 0, width: '100%', height: 36,&#10;        background: 'rgba(0,0,0,0.25)',&#10;        flexDirection: 'row', alignItems: 'center',&#10;        justifyContent: 'space-between',&#10;        paddingLeft: 40, paddingRight: 40,&#10;    }}&gt;&#10;        &lt;Text style={{ color: '#FFFFFF', fontSize: 12, letterSpacing: 1, opacity: 0.7 }}&gt;COUNTS · 基准导览&lt;/Text&gt;&#10;        &lt;Text style={{ color: '#FFFFFF', fontSize: 12, opacity: 0.7 }}&gt;10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2230"/>
              </a:gs>
              <a:gs pos="60000">
                <a:srgbClr val="1E4FA8"/>
              </a:gs>
              <a:gs pos="100000">
                <a:srgbClr val="5B7FC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33400" y="2200275"/>
            <a:ext cx="441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FFC247"/>
                </a:solidFill>
                <a:latin typeface="Microsoft YaHei"/>
                <a:ea typeface="Microsoft YaHei"/>
              </a:rPr>
              <a:t>CHAPTER 04 · </a:t>
            </a:r>
            <a:r>
              <a:rPr lang="zh-CN" sz="1050" b="1" spc="300">
                <a:solidFill>
                  <a:srgbClr val="FFC247"/>
                </a:solidFill>
                <a:latin typeface="Microsoft YaHei"/>
                <a:ea typeface="Microsoft YaHei"/>
              </a:rPr>
              <a:t>基准与实验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33400" y="3057525"/>
            <a:ext cx="4419600" cy="9620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6000" b="1">
                <a:solidFill>
                  <a:srgbClr val="FFFFFF"/>
                </a:solidFill>
                <a:latin typeface="Microsoft YaHei"/>
                <a:ea typeface="Microsoft YaHei"/>
              </a:rPr>
              <a:t>两个基准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533400" y="41719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5257800" y="533400"/>
            <a:ext cx="3086100" cy="5791200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5486400" y="800100"/>
            <a:ext cx="1943100" cy="26670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600700" y="8572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1A2230"/>
                </a:solidFill>
                <a:latin typeface="Microsoft YaHei"/>
                <a:ea typeface="Microsoft YaHei"/>
              </a:rPr>
              <a:t>DETECTOR BENCHMARK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486400" y="1181100"/>
            <a:ext cx="26289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>O(OD)²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5486400" y="54673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5486400" y="5705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5486400" y="5943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8572500" y="533400"/>
            <a:ext cx="3086100" cy="5791200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8801100" y="800100"/>
            <a:ext cx="1628775" cy="266700"/>
          </a:xfrm>
          <a:prstGeom prst="roundRect">
            <a:avLst>
              <a:gd name="adj" fmla="val 50000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915400" y="857250"/>
            <a:ext cx="1400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1A2230"/>
                </a:solidFill>
                <a:latin typeface="Microsoft YaHei"/>
                <a:ea typeface="Microsoft YaHei"/>
              </a:rPr>
              <a:t>MLLM BENCHMARK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801100" y="1181100"/>
            <a:ext cx="26289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>OODG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8801100" y="54673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8801100" y="5705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8801100" y="5943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33400" y="2514600"/>
            <a:ext cx="4419600" cy="390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100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一个数据集，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33400" y="4362450"/>
            <a:ext cx="44196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同时考察目标检测器和多模态大模型在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OOD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下的真实能力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486400" y="2028825"/>
            <a:ext cx="26289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OOD in Object Detection</a:t>
            </a:r>
            <a:endParaRPr/>
          </a:p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评估检测器在自然分布偏移下的目标检测能力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5657850" y="5419725"/>
            <a:ext cx="657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6 </a:t>
            </a: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个目标域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657850" y="565785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覆盖多种偏移类型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657850" y="5895975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衡量</a:t>
            </a:r>
            <a:r>
              <a:rPr lang="en-US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backbone / neck / head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801100" y="2028825"/>
            <a:ext cx="26289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OOD Grounding</a:t>
            </a:r>
            <a:endParaRPr/>
          </a:p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评估</a:t>
            </a:r>
            <a:r>
              <a:rPr lang="en-US" sz="13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MLLM </a:t>
            </a:r>
            <a:r>
              <a:rPr lang="zh-CN" sz="13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在</a:t>
            </a:r>
            <a:r>
              <a:rPr lang="en-US" sz="13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ICL </a:t>
            </a:r>
            <a:r>
              <a:rPr lang="zh-CN" sz="13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偏移下的视觉</a:t>
            </a:r>
            <a:r>
              <a:rPr lang="en-US" sz="13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grounding </a:t>
            </a:r>
            <a:r>
              <a:rPr lang="zh-CN" sz="13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能力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972550" y="5419725"/>
            <a:ext cx="523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3 </a:t>
            </a: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类任务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972550" y="5657850"/>
            <a:ext cx="790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5 </a:t>
            </a: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种评测设置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972550" y="5895975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聚焦</a:t>
            </a:r>
            <a:r>
              <a:rPr lang="en-US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ICL </a:t>
            </a: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分布偏移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0" y="6515100"/>
            <a:ext cx="12192000" cy="3429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1162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COUNTS · </a:t>
            </a:r>
            <a:r>
              <a:rPr lang="zh-CN" sz="900" spc="7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基准导览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1420475" y="66198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10 / 18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6" name="" descr="&lt;Slide padding={0}&gt;&#10;    &lt;Box style={{&#10;        width: '100%', height: 80,&#10;        flexDirection: 'row', alignItems: 'center',&#10;        paddingLeft: 40, paddingRight: 40,&#10;        background: '#FFFFFF',&#10;        borderBottom: '2px solid #F0F5FC',&#10;    }}&gt;&#10;        &lt;Box style={{ width: 40, height: 4, borderRadius: 2, background: '#FFC247', marginRight: 14 }} /&gt;&#10;        &lt;Text style={{ color: '#FFC247', fontSize: 14, fontWeight: 'bold', letterSpacing: 2 }}&gt;CHAPTER 04 · O(OD)² 基准设计&lt;/Text&gt;&#10;        &lt;Box style={{ flex: 1 }} /&gt;&#10;        &lt;Text style={{ color: '#8B97A8', fontSize: 13 }}&gt;页 11 / 18&lt;/Text&gt;&#10;    &lt;/Box&gt;&#10;    &lt;Box style={{&#10;        width: '100%', height: 560,&#10;        paddingLeft: 48, paddingRight: 48,&#10;        paddingTop: 24, paddingBottom: 24,&#10;        flexDirection: 'row', gap: 32,&#10;    }}&gt;&#10;        &lt;Box style={{ width: '32%', height: '100%', gap: 14, justifyContent: 'flex-start' }}&gt;&#10;            &lt;Text style={{ color: '#FFC247', fontSize: 13, fontWeight: 'bold', letterSpacing: 3 }}&gt;TARGET DOMAINS&lt;/Text&gt;&#10;            &lt;Text style={{ color: '#1A2230', fontSize: 38, fontWeight: 'bold', lineHeight: 1.2 }}&gt;&#10;                6 个目标域&lt;br /&gt;测出真本事&#10;            &lt;/Text&gt;&#10;            &lt;Box style={{ width: 60, height: 4, borderRadius: 2, background: '#FFC247' }} /&gt;&#10;            &lt;Text style={{ color: '#4A5568', fontSize: 14, lineHeight: 1.65 }}&gt;&#10;                训练时使用其他 8 个域，目标域完全不出现；这样才能测出模型对&quot;未知域&quot;的真实泛化能力。&#10;            &lt;/Text&gt;&#10;            &lt;Box style={{ gap: 8, marginTop: 8 }}&gt;&#10;                {[&#10;                    { d: 'sky', n: 'sky' },&#10;                    { d: 'occlusion', n: 'occlusion' },&#10;                    { d: 'grass', n: 'grass' },&#10;                    { d: 'water', n: 'water' },&#10;                    { d: 'dim', n: 'dim' },&#10;                    { d: 'handmake', n: 'handmake' },&#10;                ].map((d, i) =&gt; (&#10;                    &lt;Box key={i} style={{&#10;                        paddingLeft: 14, paddingRight: 14,&#10;                        paddingTop: 8, paddingBottom: 8,&#10;                        borderRadius: 10,&#10;                        background: '#F0F5FC',&#10;                        border: '1px solid #1E4FA8',&#10;                    }}&gt;&#10;                        &lt;Text style={{ color: '#1E4FA8', fontSize: 14, fontWeight: 600 }}&gt;目标域 · {d.d}&lt;/Text&gt;&#10;                    &lt;/Box&gt;&#10;                ))}&#10;            &lt;/Box&gt;&#10;        &lt;/Box&gt;&#10;        &lt;Box style={{ width: '64%', height: '100%', gap: 14 }}&gt;&#10;            &lt;Text style={{ color: '#1A2230', fontSize: 18, fontWeight: 'bold' }}&gt;每个目标域对应一类独特偏移类型&lt;/Text&gt;&#10;            &lt;Box style={{&#10;                width: '100%', height: '100%',&#10;                flexDirection: 'row', flexWrap: 'wrap',&#10;                gap: 14,&#10;            }}&gt;&#10;                {[&#10;                    {&#10;                        d: 'sky', type: '拍摄角度偏移',&#10;                        desc: '天空背景下目标离相机较远或从低角度拍摄，带来光照与尺度变化。',&#10;                        color: '#1E4FA8',&#10;                    },&#10;                    {&#10;                        d: 'occlusion', type: '遮挡偏移',&#10;                        desc: '目标部分或完全被遮挡（如人群中被他人遮挡），考验检测器推断能力。',&#10;                        color: '#FF8A4C',&#10;                    },&#10;                    {&#10;                        d: 'grass / water', type: '复杂背景纹理',&#10;                        desc: '草地/水面引入复杂背景纹理与反射，容易让检测 head 误激活。',&#10;                        color: '#2BC5C0',&#10;                    },&#10;                    {&#10;                        d: 'dim', type: '低光照偏移',&#10;                        desc: '黄昏/黎明/逆光下目标融合背景，纹理模糊，考验细节特征提取。',&#10;                        color: '#5B7FCE',&#10;                    },&#10;                ].map((m, idx) =&gt; (&#10;                    &lt;Box key={idx} style={{&#10;                        flexBasis: 'calc(50% - 7px)',&#10;                        flexGrow: 1,&#10;                        height: 'calc(50% - 8px)',&#10;                        minWidth: 280,&#10;                        borderRadius: 12,&#10;                        background: '#FFFFFF',&#10;                        border: `1.5px solid ${m.color}`,&#10;                        paddingTop: 16, paddingBottom: 16,&#10;                        paddingLeft: 20, paddingRight: 20,&#10;                        gap: 8,&#10;                    }}&gt;&#10;                        &lt;Box style={{ flexDirection: 'row', alignItems: 'center', gap: 10 }}&gt;&#10;                            &lt;Box style={{&#10;                                paddingLeft: 10, paddingRight: 10,&#10;                                paddingTop: 4, paddingBottom: 4,&#10;                                borderRadius: 8, background: m.color,&#10;                            }}&gt;&#10;                                &lt;Text style={{ color: '#FFFFFF', fontSize: 11, fontWeight: 'bold', letterSpacing: 1 }}&gt;{m.d.toUpperCase()}&lt;/Text&gt;&#10;                            &lt;/Box&gt;&#10;                            &lt;Text style={{ color: '#1A2230', fontSize: 18, fontWeight: 'bold' }}&gt;{m.type}&lt;/Text&gt;&#10;                        &lt;/Box&gt;&#10;                        &lt;Text style={{ color: '#4A5568', fontSize: 13, lineHeight: 1.55 }}&gt;{m.desc}&lt;/Text&gt;&#10;                    &lt;/Box&gt;&#10;                ))}&#10;            &lt;/Box&gt;&#10;            &lt;Box style={{&#10;                width: '100%', borderRadius: 12,&#10;                background: 'linear-gradient(135deg, #F0F5FC 0%, #E8EFF8 100%)',&#10;                paddingLeft: 18, paddingRight: 18,&#10;                paddingTop: 14, paddingBottom: 14,&#10;                gap: 6,&#10;            }}&gt;&#10;                &lt;Text style={{ color: '#1E4FA8', fontSize: 12, fontWeight: 'bold', letterSpacing: 2 }}&gt;DESIGN NOTE&lt;/Text&gt;&#10;                &lt;Text style={{ color: '#1A2230', fontSize: 14, lineHeight: 1.55 }}&gt;&#10;                    在多目标域评估 + 完整训练集设置下，模型若仅在单域上看起来&quot;不错&quot;——不能代表真实部署能力。&#10;                &lt;/Text&gt;&#10;            &lt;/Box&gt;&#10;        &lt;/Box&gt;&#10;    &lt;/Box&gt;&#10;    &lt;Box style={{&#10;        position: 'absolute', bottom: 0, left: 0, width: '100%', height: 32,&#10;        background: '#F7F9FC',&#10;        flexDirection: 'row', alignItems: 'center',&#10;        justifyContent: 'space-between',&#10;        paddingLeft: 40, paddingRight: 40,&#10;        borderTop: '1px solid #E5E7EB',&#10;    }}&gt;&#10;        &lt;Text style={{ color: '#8B97A8', fontSize: 12 }}&gt;COUNTS · 跨域目标检测与多模态 grounding&lt;/Text&gt;&#10;        &lt;Text style={{ color: '#4A5568', fontSize: 12 }}&gt;11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 rot="0" flipH="0" flipV="0"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0" y="0"/>
            <a:ext cx="12192000" cy="762000"/>
          </a:xfrm>
          <a:custGeom>
            <a:pathLst>
              <a:path w="1280" h="80">
                <a:moveTo>
                  <a:pt x="0" y="78"/>
                </a:moveTo>
                <a:lnTo>
                  <a:pt x="1280" y="78"/>
                </a:lnTo>
                <a:lnTo>
                  <a:pt x="1280" y="80"/>
                </a:lnTo>
                <a:lnTo>
                  <a:pt x="0" y="80"/>
                </a:lnTo>
                <a:close/>
              </a:path>
            </a:pathLst>
          </a:custGeom>
          <a:solidFill>
            <a:srgbClr val="F0F5FC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381000" y="352425"/>
            <a:ext cx="381000" cy="3810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95350" y="295275"/>
            <a:ext cx="2505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C247"/>
                </a:solidFill>
                <a:latin typeface="Microsoft YaHei"/>
                <a:ea typeface="Microsoft YaHei"/>
              </a:rPr>
              <a:t>CHAPTER 04 · O(OD)² </a:t>
            </a:r>
            <a:r>
              <a:rPr lang="zh-CN" sz="1050" b="1" spc="150">
                <a:solidFill>
                  <a:srgbClr val="FFC247"/>
                </a:solidFill>
                <a:latin typeface="Microsoft YaHei"/>
                <a:ea typeface="Microsoft YaHei"/>
              </a:rPr>
              <a:t>基准设计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229975" y="295275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页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11 / 18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57200" y="990600"/>
            <a:ext cx="3609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FFC247"/>
                </a:solidFill>
                <a:latin typeface="Microsoft YaHei"/>
                <a:ea typeface="Microsoft YaHei"/>
              </a:rPr>
              <a:t>TARGET DOMAINS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57200" y="1276350"/>
            <a:ext cx="3609975" cy="1047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850" b="1">
                <a:solidFill>
                  <a:srgbClr val="1A2230"/>
                </a:solidFill>
                <a:latin typeface="Microsoft YaHei"/>
                <a:ea typeface="Microsoft YaHei"/>
              </a:rPr>
              <a:t>6 </a:t>
            </a:r>
            <a:r>
              <a:rPr lang="zh-CN" sz="2850" b="1">
                <a:solidFill>
                  <a:srgbClr val="1A2230"/>
                </a:solidFill>
                <a:latin typeface="Microsoft YaHei"/>
                <a:ea typeface="Microsoft YaHei"/>
              </a:rPr>
              <a:t>个目标域</a:t>
            </a:r>
            <a:endParaRPr/>
          </a:p>
          <a:p>
            <a:pPr>
              <a:lnSpc>
                <a:spcPct val="120000"/>
              </a:lnSpc>
            </a:pPr>
            <a:r>
              <a:rPr lang="zh-CN" sz="2850" b="1">
                <a:solidFill>
                  <a:srgbClr val="1A2230"/>
                </a:solidFill>
                <a:latin typeface="Microsoft YaHei"/>
                <a:ea typeface="Microsoft YaHei"/>
              </a:rPr>
              <a:t>测出真本事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457200" y="24574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57200" y="2628900"/>
            <a:ext cx="36099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训练时使用其他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8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个域，目标域完全不出现；这样才能测出模型对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未知域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的真实泛化能力。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457200" y="3371850"/>
            <a:ext cx="3609975" cy="314325"/>
          </a:xfrm>
          <a:prstGeom prst="roundRect">
            <a:avLst>
              <a:gd name="adj" fmla="val 30303"/>
            </a:avLst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90550" y="3448050"/>
            <a:ext cx="3343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Microsoft YaHei"/>
                <a:ea typeface="Microsoft YaHei"/>
              </a:rPr>
              <a:t>目标域</a:t>
            </a: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 · </a:t>
            </a: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sky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457200" y="3762375"/>
            <a:ext cx="3609975" cy="314325"/>
          </a:xfrm>
          <a:prstGeom prst="roundRect">
            <a:avLst>
              <a:gd name="adj" fmla="val 30303"/>
            </a:avLst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90550" y="3838575"/>
            <a:ext cx="3343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Microsoft YaHei"/>
                <a:ea typeface="Microsoft YaHei"/>
              </a:rPr>
              <a:t>目标域</a:t>
            </a: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 · </a:t>
            </a: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occlusion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457200" y="4152900"/>
            <a:ext cx="3609975" cy="314325"/>
          </a:xfrm>
          <a:prstGeom prst="roundRect">
            <a:avLst>
              <a:gd name="adj" fmla="val 30303"/>
            </a:avLst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90550" y="4229100"/>
            <a:ext cx="3343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Microsoft YaHei"/>
                <a:ea typeface="Microsoft YaHei"/>
              </a:rPr>
              <a:t>目标域</a:t>
            </a: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 · </a:t>
            </a: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grass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457200" y="4543425"/>
            <a:ext cx="3609975" cy="314325"/>
          </a:xfrm>
          <a:prstGeom prst="roundRect">
            <a:avLst>
              <a:gd name="adj" fmla="val 30303"/>
            </a:avLst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90550" y="4619625"/>
            <a:ext cx="3343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Microsoft YaHei"/>
                <a:ea typeface="Microsoft YaHei"/>
              </a:rPr>
              <a:t>目标域</a:t>
            </a: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 · </a:t>
            </a: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water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457200" y="4933950"/>
            <a:ext cx="3609975" cy="314325"/>
          </a:xfrm>
          <a:prstGeom prst="roundRect">
            <a:avLst>
              <a:gd name="adj" fmla="val 30303"/>
            </a:avLst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90550" y="5010150"/>
            <a:ext cx="3343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Microsoft YaHei"/>
                <a:ea typeface="Microsoft YaHei"/>
              </a:rPr>
              <a:t>目标域</a:t>
            </a: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 · </a:t>
            </a: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dim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457200" y="5324475"/>
            <a:ext cx="3609975" cy="314325"/>
          </a:xfrm>
          <a:prstGeom prst="roundRect">
            <a:avLst>
              <a:gd name="adj" fmla="val 30303"/>
            </a:avLst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90550" y="5400675"/>
            <a:ext cx="3343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Microsoft YaHei"/>
                <a:ea typeface="Microsoft YaHei"/>
              </a:rPr>
              <a:t>目标域</a:t>
            </a: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 · </a:t>
            </a: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handmake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371975" y="990600"/>
            <a:ext cx="7219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每个目标域对应一类独特偏移类型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4371975" y="1333500"/>
            <a:ext cx="3543300" cy="176212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4562475" y="1485900"/>
            <a:ext cx="428625" cy="209550"/>
          </a:xfrm>
          <a:prstGeom prst="roundRect">
            <a:avLst>
              <a:gd name="adj" fmla="val 3636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657725" y="1524000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FFFFF"/>
                </a:solidFill>
                <a:latin typeface="Microsoft YaHei"/>
                <a:ea typeface="Microsoft YaHei"/>
              </a:rPr>
              <a:t>SKY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086350" y="148590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拍摄角度偏移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562475" y="1771650"/>
            <a:ext cx="31623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天空背景下目标离相机较远或从低角度拍摄，带来光照与尺度变化。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8048625" y="1333500"/>
            <a:ext cx="3543300" cy="176212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FF8A4C"/>
            </a:solidFill>
            <a:prstDash val="solid"/>
          </a:ln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8239125" y="1485900"/>
            <a:ext cx="923925" cy="209550"/>
          </a:xfrm>
          <a:prstGeom prst="roundRect">
            <a:avLst>
              <a:gd name="adj" fmla="val 36364"/>
            </a:avLst>
          </a:prstGeom>
          <a:solidFill>
            <a:srgbClr val="FF8A4C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334375" y="1524000"/>
            <a:ext cx="733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FFFFF"/>
                </a:solidFill>
                <a:latin typeface="Microsoft YaHei"/>
                <a:ea typeface="Microsoft YaHei"/>
              </a:rPr>
              <a:t>OCCLUSION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258300" y="14859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遮挡偏移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239125" y="1771650"/>
            <a:ext cx="31623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目标部分或完全被遮挡（如人群中被他人遮挡），考验检测器推断能力。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4371975" y="3238500"/>
            <a:ext cx="3543300" cy="176212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2BC5C0"/>
            </a:solidFill>
            <a:prstDash val="solid"/>
          </a:ln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4562475" y="3390900"/>
            <a:ext cx="1181100" cy="209550"/>
          </a:xfrm>
          <a:prstGeom prst="roundRect">
            <a:avLst>
              <a:gd name="adj" fmla="val 36364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657725" y="3429000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FFFFF"/>
                </a:solidFill>
                <a:latin typeface="Microsoft YaHei"/>
                <a:ea typeface="Microsoft YaHei"/>
              </a:rPr>
              <a:t>GRASS / WATER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838825" y="339090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复杂背景纹理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562475" y="3676650"/>
            <a:ext cx="31623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草地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水面引入复杂背景纹理与反射，容易让检测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head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误激活。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8048625" y="3238500"/>
            <a:ext cx="3543300" cy="176212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5B7FCE"/>
            </a:solidFill>
            <a:prstDash val="solid"/>
          </a:ln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8239125" y="3390900"/>
            <a:ext cx="447675" cy="209550"/>
          </a:xfrm>
          <a:prstGeom prst="roundRect">
            <a:avLst>
              <a:gd name="adj" fmla="val 36364"/>
            </a:avLst>
          </a:prstGeom>
          <a:solidFill>
            <a:srgbClr val="5B7FCE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334375" y="3429000"/>
            <a:ext cx="257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FFFFF"/>
                </a:solidFill>
                <a:latin typeface="Microsoft YaHei"/>
                <a:ea typeface="Microsoft YaHei"/>
              </a:rPr>
              <a:t>DIM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782050" y="33909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低光照偏移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239125" y="3676650"/>
            <a:ext cx="31623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黄昏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黎明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逆光下目标融合背景，纹理模糊，考验细节特征提取。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4371975" y="5143500"/>
            <a:ext cx="721995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F0F5FC"/>
              </a:gs>
              <a:gs pos="100000">
                <a:srgbClr val="E8EFF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4543425" y="5276850"/>
            <a:ext cx="6877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1E4FA8"/>
                </a:solidFill>
                <a:latin typeface="Microsoft YaHei"/>
                <a:ea typeface="Microsoft YaHei"/>
              </a:rPr>
              <a:t>DESIGN NOTE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543425" y="5476875"/>
            <a:ext cx="68770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在多目标域评估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完整训练集设置下，模型若仅在单域上看起来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不错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"——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不能代表真实部署能力。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0" y="6562725"/>
            <a:ext cx="12192000" cy="2952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0" y="6553200"/>
            <a:ext cx="12192000" cy="304800"/>
          </a:xfrm>
          <a:custGeom>
            <a:pathLst>
              <a:path w="1280" h="3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81000" y="6638925"/>
            <a:ext cx="2333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COUNTS ·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跨域目标检测与多模态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grounding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420475" y="66389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06" name="" descr="&lt;Slide padding={0}&gt;&#10;    &lt;Box style={{&#10;        width: '100%', height: 80,&#10;        flexDirection: 'row', alignItems: 'center',&#10;        paddingLeft: 40, paddingRight: 40,&#10;        background: '#FFFFFF',&#10;        borderBottom: '2px solid #F0F5FC',&#10;    }}&gt;&#10;        &lt;Box style={{ width: 40, height: 4, borderRadius: 2, background: '#2BC5C0', marginRight: 14 }} /&gt;&#10;        &lt;Text style={{ color: '#2BC5C0', fontSize: 14, fontWeight: 'bold', letterSpacing: 2 }}&gt;CHAPTER 04 · OODG 基准设计&lt;/Text&gt;&#10;        &lt;Box style={{ flex: 1 }} /&gt;&#10;        &lt;Text style={{ color: '#8B97A8', fontSize: 13 }}&gt;页 12 / 18&lt;/Text&gt;&#10;    &lt;/Box&gt;&#10;    &lt;Box style={{&#10;        width: '100%', height: 560,&#10;        paddingLeft: 48, paddingRight: 48,&#10;        paddingTop: 22, paddingBottom: 22,&#10;        gap: 16,&#10;    }}&gt;&#10;        &lt;Box style={{ width: '100%', gap: 6 }}&gt;&#10;            &lt;Text style={{ color: '#1E4FA8', fontSize: 13, fontWeight: 'bold', letterSpacing: 3 }}&gt;5 SETTINGS × 3 TASKS&lt;/Text&gt;&#10;            &lt;Text style={{ color: '#1A2230', fontSize: 30, fontWeight: 'bold' }}&gt;&#10;                OODG · 在 ICL 阶段定义 OOD 偏移&#10;            &lt;/Text&gt;&#10;            &lt;Text style={{ color: '#4A5568', fontSize: 14, lineHeight: 1.55 }}&gt;&#10;                多模态大模型训练数据通常不透明，因此 OODG 把&quot;分布偏移&quot;定义为&#10;                &lt;span style={{ fontWeight: 'bold', color: '#1E4FA8' }}&gt;ICE（上下文示例）与测试样本&lt;/span&gt;之间的差异。&#10;            &lt;/Text&gt;&#10;        &lt;/Box&gt;&#10;        &lt;Box style={{ width: '100%', flexDirection: 'row', gap: 12 }}&gt;&#10;            {[&#10;                { tag: 'T1', title: 'Visual Grounding', desc: '高亮边界框后模型返回视觉概念', color: '#1E4FA8' },&#10;                { tag: 'T2', title: 'Recognition &amp; Localization', desc: '模型输出指定目标的边界框坐标', color: '#2BC5C0' },&#10;                { tag: 'T3', title: 'Visual &amp; Semantic Mapping', desc: '颜色框与文本描述的跨模态对齐', color: '#FF8A4C' },&#10;            ].map((t, idx) =&gt; (&#10;                &lt;Box key={idx} style={{&#10;                    flex: 1,&#10;                    paddingTop: 14, paddingBottom: 14,&#10;                    paddingLeft: 18, paddingRight: 18,&#10;                    borderRadius: 12,&#10;                    background: '#F0F5FC',&#10;                    border: `1.5px solid ${t.color}`,&#10;                    gap: 6,&#10;                }}&gt;&#10;                    &lt;Box style={{ flexDirection: 'row', alignItems: 'center', gap: 8 }}&gt;&#10;                        &lt;Box style={{&#10;                            paddingLeft: 8, paddingRight: 8,&#10;                            paddingTop: 3, paddingBottom: 3,&#10;                            borderRadius: 6, background: t.color,&#10;                        }}&gt;&#10;                            &lt;Text style={{ color: '#FFFFFF', fontSize: 11, fontWeight: 'bold' }}&gt;{t.tag}&lt;/Text&gt;&#10;                        &lt;/Box&gt;&#10;                        &lt;Text style={{ color: '#1A2230', fontSize: 15, fontWeight: 'bold' }}&gt;{t.title}&lt;/Text&gt;&#10;                    &lt;/Box&gt;&#10;                    &lt;Text style={{ color: '#4A5568', fontSize: 12, lineHeight: 1.4 }}&gt;{t.desc}&lt;/Text&gt;&#10;                &lt;/Box&gt;&#10;            ))}&#10;        &lt;/Box&gt;&#10;        &lt;Box style={{ width: '100%', flex: 1, gap: 10 }}&gt;&#10;            &lt;Text style={{ color: '#8B97A8', fontSize: 12, fontWeight: 'bold', letterSpacing: 2 }}&gt;5 种评测设置&lt;/Text&gt;&#10;            {[&#10;                {&#10;                    n: '①', t: 'Zero-shot Generalization',&#10;                    d: '不提供示例，考察模型跨多个域识别视觉概念的能力——基线水准。',&#10;                    c: '#1E4FA8', bg: '#E8EFF8',&#10;                },&#10;                {&#10;                    n: '②', t: 'IID ICL',&#10;                    d: 'ICE 与测试样本同分布，考察模型在 ICL 下能否提升。',&#10;                    c: '#5B7FCE', bg: '#DCE7F8',&#10;                },&#10;                {&#10;                    n: '③', t: 'Covariate Shift',&#10;                    d: 'ICE 与测试来自不同域，自然发生的输入分布变化。',&#10;                    c: '#FF8A4C', bg: '#FFEAD8',&#10;                },&#10;                {&#10;                    n: '④', t: 'Label Shift',&#10;                    d: 'ICE 与测试之间存在标签分布偏移，测试时未知类别分布。',&#10;                    c: '#FFC247', bg: '#FFEFC9',&#10;                },&#10;                {&#10;                    n: '⑤', t: 'Spurious Correlation',&#10;                    d: 'ICE 中图像特征-标签形成伪相关（如昏暗 → 猫），考察是否被误导。',&#10;                    c: '#2BC5C0', bg: '#DAF6F4',&#10;                },&#10;            ].map((row, idx) =&gt; (&#10;                &lt;Box key={idx} style={{&#10;                    width: '100%',&#10;                    flexDirection: 'row', alignItems: 'center',&#10;                    paddingLeft: 16, paddingRight: 16,&#10;                    paddingTop: 10, paddingBottom: 10,&#10;                    borderRadius: 10,&#10;                    background: '#FFFFFF',&#10;                    border: '1px solid #E5E7EB',&#10;                    gap: 14,&#10;                }}&gt;&#10;                    &lt;Box style={{&#10;                        width: 36, height: 36, borderRadius: 18,&#10;                        background: row.c,&#10;                        justifyContent: 'center', alignItems: 'center',&#10;                    }}&gt;&#10;                        &lt;Text style={{ color: '#FFFFFF', fontSize: 14, fontWeight: 'bold' }}&gt;{row.n}&lt;/Text&gt;&#10;                    &lt;/Box&gt;&#10;                    &lt;Text style={{ color: '#1A2230', fontSize: 16, fontWeight: 'bold', width: 230 }}&gt;{row.t}&lt;/Text&gt;&#10;                    &lt;Text style={{ color: '#4A5568', fontSize: 13, flex: 1, lineHeight: 1.5 }}&gt;{row.d}&lt;/Text&gt;&#10;                    &lt;Box style={{&#10;                        paddingLeft: 10, paddingRight: 10,&#10;                        paddingTop: 4, paddingBottom: 4,&#10;                        borderRadius: 8, background: row.bg,&#10;                    }}&gt;&#10;                        &lt;Text style={{ color: row.c, fontSize: 11, fontWeight: 'bold', letterSpacing: 1 }}&gt;SETTING {row.n[0]}&lt;/Text&gt;&#10;                    &lt;/Box&gt;&#10;                &lt;/Box&gt;&#10;            ))}&#10;        &lt;/Box&gt;&#10;    &lt;/Box&gt;&#10;    &lt;Box style={{&#10;        position: 'absolute', bottom: 0, left: 0, width: '100%', height: 32,&#10;        background: '#F7F9FC',&#10;        flexDirection: 'row', alignItems: 'center',&#10;        justifyContent: 'space-between',&#10;        paddingLeft: 40, paddingRight: 40,&#10;        borderTop: '1px solid #E5E7EB',&#10;    }}&gt;&#10;        &lt;Text style={{ color: '#8B97A8', fontSize: 12 }}&gt;COUNTS · 跨域目标检测与多模态 grounding&lt;/Text&gt;&#10;        &lt;Text style={{ color: '#4A5568', fontSize: 12 }}&gt;12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0" y="0"/>
            <a:ext cx="12192000" cy="762000"/>
          </a:xfrm>
          <a:custGeom>
            <a:pathLst>
              <a:path w="1280" h="80">
                <a:moveTo>
                  <a:pt x="0" y="78"/>
                </a:moveTo>
                <a:lnTo>
                  <a:pt x="1280" y="78"/>
                </a:lnTo>
                <a:lnTo>
                  <a:pt x="1280" y="80"/>
                </a:lnTo>
                <a:lnTo>
                  <a:pt x="0" y="80"/>
                </a:lnTo>
                <a:close/>
              </a:path>
            </a:pathLst>
          </a:custGeom>
          <a:solidFill>
            <a:srgbClr val="F0F5FC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381000" y="352425"/>
            <a:ext cx="381000" cy="38100"/>
          </a:xfrm>
          <a:prstGeom prst="roundRect">
            <a:avLst>
              <a:gd name="adj" fmla="val 50000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95350" y="29527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2BC5C0"/>
                </a:solidFill>
                <a:latin typeface="Microsoft YaHei"/>
                <a:ea typeface="Microsoft YaHei"/>
              </a:rPr>
              <a:t>CHAPTER 04 · OODG </a:t>
            </a:r>
            <a:r>
              <a:rPr lang="zh-CN" sz="1050" b="1" spc="150">
                <a:solidFill>
                  <a:srgbClr val="2BC5C0"/>
                </a:solidFill>
                <a:latin typeface="Microsoft YaHei"/>
                <a:ea typeface="Microsoft YaHei"/>
              </a:rPr>
              <a:t>基准设计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1229975" y="295275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页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12 / 18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57200" y="971550"/>
            <a:ext cx="11277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1E4FA8"/>
                </a:solidFill>
                <a:latin typeface="Microsoft YaHei"/>
                <a:ea typeface="Microsoft YaHei"/>
              </a:rPr>
              <a:t>5 SETTINGS × 3 TASKS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57200" y="1181100"/>
            <a:ext cx="11277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A2230"/>
                </a:solidFill>
                <a:latin typeface="Microsoft YaHei"/>
                <a:ea typeface="Microsoft YaHei"/>
              </a:rPr>
              <a:t>OODG · </a:t>
            </a: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在</a:t>
            </a:r>
            <a:r>
              <a:rPr lang="en-US" sz="2250" b="1">
                <a:solidFill>
                  <a:srgbClr val="1A2230"/>
                </a:solidFill>
                <a:latin typeface="Microsoft YaHei"/>
                <a:ea typeface="Microsoft YaHei"/>
              </a:rPr>
              <a:t> ICL </a:t>
            </a: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阶段定义</a:t>
            </a:r>
            <a:r>
              <a:rPr lang="en-US" sz="2250" b="1">
                <a:solidFill>
                  <a:srgbClr val="1A2230"/>
                </a:solidFill>
                <a:latin typeface="Microsoft YaHei"/>
                <a:ea typeface="Microsoft YaHei"/>
              </a:rPr>
              <a:t> OOD </a:t>
            </a: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偏移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57200" y="1581150"/>
            <a:ext cx="112776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多模态大模型训练数据通常不透明，因此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OODG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把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分布偏移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定义为</a:t>
            </a: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ICE</a:t>
            </a:r>
            <a:r>
              <a:rPr lang="zh-CN" sz="1050" b="1">
                <a:solidFill>
                  <a:srgbClr val="1E4FA8"/>
                </a:solidFill>
                <a:latin typeface="Microsoft YaHei"/>
                <a:ea typeface="Microsoft YaHei"/>
              </a:rPr>
              <a:t>（上下文示例）与测试样本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之间的差异。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457200" y="1990725"/>
            <a:ext cx="3686175" cy="714375"/>
          </a:xfrm>
          <a:prstGeom prst="roundRect">
            <a:avLst>
              <a:gd name="adj" fmla="val 16000"/>
            </a:avLst>
          </a:prstGeom>
          <a:solidFill>
            <a:srgbClr val="F0F5FC"/>
          </a:solidFill>
          <a:ln w="190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628650" y="2124075"/>
            <a:ext cx="285750" cy="1905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04850" y="2152650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T1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90600" y="2133600"/>
            <a:ext cx="125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Visual Grounding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28650" y="2371725"/>
            <a:ext cx="33432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高亮边界框后模型返回视觉概念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4257675" y="1990725"/>
            <a:ext cx="3676650" cy="714375"/>
          </a:xfrm>
          <a:prstGeom prst="roundRect">
            <a:avLst>
              <a:gd name="adj" fmla="val 16000"/>
            </a:avLst>
          </a:prstGeom>
          <a:solidFill>
            <a:srgbClr val="F0F5FC"/>
          </a:solidFill>
          <a:ln w="19050">
            <a:solidFill>
              <a:srgbClr val="2BC5C0"/>
            </a:solidFill>
            <a:prstDash val="solid"/>
          </a:ln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4429125" y="2124075"/>
            <a:ext cx="285750" cy="190500"/>
          </a:xfrm>
          <a:prstGeom prst="roundRect">
            <a:avLst>
              <a:gd name="adj" fmla="val 30000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505325" y="2152650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T2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791075" y="2133600"/>
            <a:ext cx="1943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Recognition &amp; Localization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429125" y="2371725"/>
            <a:ext cx="33337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模型输出指定目标的边界框坐标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8048625" y="1990725"/>
            <a:ext cx="3686175" cy="714375"/>
          </a:xfrm>
          <a:prstGeom prst="roundRect">
            <a:avLst>
              <a:gd name="adj" fmla="val 16000"/>
            </a:avLst>
          </a:prstGeom>
          <a:solidFill>
            <a:srgbClr val="F0F5FC"/>
          </a:solidFill>
          <a:ln w="19050">
            <a:solidFill>
              <a:srgbClr val="FF8A4C"/>
            </a:solidFill>
            <a:prstDash val="solid"/>
          </a:ln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8220075" y="2124075"/>
            <a:ext cx="285750" cy="190500"/>
          </a:xfrm>
          <a:prstGeom prst="roundRect">
            <a:avLst>
              <a:gd name="adj" fmla="val 30000"/>
            </a:avLst>
          </a:prstGeom>
          <a:solidFill>
            <a:srgbClr val="FF8A4C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296275" y="2152650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T3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582025" y="213360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Visual &amp; Semantic Mapping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220075" y="2371725"/>
            <a:ext cx="33432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颜色框与文本描述的跨模态对齐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57200" y="2857500"/>
            <a:ext cx="11277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8B97A8"/>
                </a:solidFill>
                <a:latin typeface="Microsoft YaHei"/>
                <a:ea typeface="Microsoft YaHei"/>
              </a:rPr>
              <a:t>5 </a:t>
            </a:r>
            <a:r>
              <a:rPr lang="zh-CN" sz="900" b="1" spc="150">
                <a:solidFill>
                  <a:srgbClr val="8B97A8"/>
                </a:solidFill>
                <a:latin typeface="Microsoft YaHei"/>
                <a:ea typeface="Microsoft YaHei"/>
              </a:rPr>
              <a:t>种评测设置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457200" y="3095625"/>
            <a:ext cx="112776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609600" y="31908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14375" y="32861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085850" y="3267075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Zero-shot Generalization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3409950" y="3248025"/>
            <a:ext cx="7162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不提供示例，考察模型跨多个域识别视觉概念的能力——基线水准。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10706100" y="3257550"/>
            <a:ext cx="876300" cy="209550"/>
          </a:xfrm>
          <a:prstGeom prst="roundRect">
            <a:avLst>
              <a:gd name="adj" fmla="val 36364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0801350" y="3295650"/>
            <a:ext cx="685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1E4FA8"/>
                </a:solidFill>
                <a:latin typeface="Microsoft YaHei"/>
                <a:ea typeface="Microsoft YaHei"/>
              </a:rPr>
              <a:t>SETTING </a:t>
            </a:r>
            <a:r>
              <a:rPr sz="825" b="1" spc="75">
                <a:solidFill>
                  <a:srgbClr val="1E4FA8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457200" y="3724275"/>
            <a:ext cx="112776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609600" y="38195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5B7FCE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14375" y="39147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085850" y="3895725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IID ICL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3409950" y="3876675"/>
            <a:ext cx="7162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ICE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与测试样本同分布，考察模型在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ICL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下能否提升。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10706100" y="3886200"/>
            <a:ext cx="876300" cy="209550"/>
          </a:xfrm>
          <a:prstGeom prst="roundRect">
            <a:avLst>
              <a:gd name="adj" fmla="val 36364"/>
            </a:avLst>
          </a:prstGeom>
          <a:solidFill>
            <a:srgbClr val="DCE7F8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0801350" y="3924300"/>
            <a:ext cx="685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5B7FCE"/>
                </a:solidFill>
                <a:latin typeface="Microsoft YaHei"/>
                <a:ea typeface="Microsoft YaHei"/>
              </a:rPr>
              <a:t>SETTING </a:t>
            </a:r>
            <a:r>
              <a:rPr sz="825" b="1" spc="75">
                <a:solidFill>
                  <a:srgbClr val="5B7FCE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457200" y="4352925"/>
            <a:ext cx="112776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609600" y="44481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F8A4C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14375" y="45434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085850" y="4524375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Covariate Shift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3409950" y="4505325"/>
            <a:ext cx="7162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ICE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与测试来自不同域，自然发生的输入分布变化。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10706100" y="4514850"/>
            <a:ext cx="876300" cy="209550"/>
          </a:xfrm>
          <a:prstGeom prst="roundRect">
            <a:avLst>
              <a:gd name="adj" fmla="val 36364"/>
            </a:avLst>
          </a:prstGeom>
          <a:solidFill>
            <a:srgbClr val="FFEAD8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0801350" y="4552950"/>
            <a:ext cx="685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F8A4C"/>
                </a:solidFill>
                <a:latin typeface="Microsoft YaHei"/>
                <a:ea typeface="Microsoft YaHei"/>
              </a:rPr>
              <a:t>SETTING </a:t>
            </a:r>
            <a:r>
              <a:rPr sz="825" b="1" spc="75">
                <a:solidFill>
                  <a:srgbClr val="FF8A4C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457200" y="4981575"/>
            <a:ext cx="112776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609600" y="50768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14375" y="51720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085850" y="5153025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Label Shift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3409950" y="5133975"/>
            <a:ext cx="7162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ICE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与测试之间存在标签分布偏移，测试时未知类别分布。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10706100" y="5143500"/>
            <a:ext cx="876300" cy="209550"/>
          </a:xfrm>
          <a:prstGeom prst="roundRect">
            <a:avLst>
              <a:gd name="adj" fmla="val 36364"/>
            </a:avLst>
          </a:prstGeom>
          <a:solidFill>
            <a:srgbClr val="FFEFC9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0801350" y="5181600"/>
            <a:ext cx="685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FC247"/>
                </a:solidFill>
                <a:latin typeface="Microsoft YaHei"/>
                <a:ea typeface="Microsoft YaHei"/>
              </a:rPr>
              <a:t>SETTING </a:t>
            </a:r>
            <a:r>
              <a:rPr sz="825" b="1" spc="75">
                <a:solidFill>
                  <a:srgbClr val="FFC247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457200" y="5610225"/>
            <a:ext cx="112776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609600" y="57054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14375" y="58007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085850" y="5781675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Spurious Correlation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3409950" y="5762625"/>
            <a:ext cx="7162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ICE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中图像特征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-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标签形成伪相关（如昏暗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猫），考察是否被误导。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10706100" y="5772150"/>
            <a:ext cx="876300" cy="209550"/>
          </a:xfrm>
          <a:prstGeom prst="roundRect">
            <a:avLst>
              <a:gd name="adj" fmla="val 36364"/>
            </a:avLst>
          </a:prstGeom>
          <a:solidFill>
            <a:srgbClr val="DAF6F4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0801350" y="5810250"/>
            <a:ext cx="685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2BC5C0"/>
                </a:solidFill>
                <a:latin typeface="Microsoft YaHei"/>
                <a:ea typeface="Microsoft YaHei"/>
              </a:rPr>
              <a:t>SETTING </a:t>
            </a:r>
            <a:r>
              <a:rPr sz="825" b="1" spc="75">
                <a:solidFill>
                  <a:srgbClr val="2BC5C0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0" y="6562725"/>
            <a:ext cx="12192000" cy="2952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0" y="6553200"/>
            <a:ext cx="12192000" cy="304800"/>
          </a:xfrm>
          <a:custGeom>
            <a:pathLst>
              <a:path w="1280" h="3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381000" y="6638925"/>
            <a:ext cx="2333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COUNTS ·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跨域目标检测与多模态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grounding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1420475" y="66389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12 / 18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>
    <p:spTree>
      <p:nvGrpSpPr>
        <p:cNvPr id="170" name="" descr="&lt;Slide padding={0}&gt;&#10;    &lt;Box style={{&#10;        width: '100%', height: 80,&#10;        flexDirection: 'row', alignItems: 'center',&#10;        paddingLeft: 40, paddingRight: 40,&#10;        background: '#FFFFFF',&#10;        borderBottom: '2px solid #F0F5FC',&#10;    }}&gt;&#10;        &lt;Box style={{ width: 40, height: 4, borderRadius: 2, background: '#FFC247', marginRight: 14 }} /&gt;&#10;        &lt;Text style={{ color: '#FFC247', fontSize: 14, fontWeight: 'bold', letterSpacing: 2 }}&gt;CHAPTER 04 · O(OD)² 实验结果&lt;/Text&gt;&#10;        &lt;Box style={{ flex: 1 }} /&gt;&#10;        &lt;Text style={{ color: '#8B97A8', fontSize: 13 }}&gt;页 13 / 18&lt;/Text&gt;&#10;    &lt;/Box&gt;&#10;    &lt;Box style={{&#10;        width: '100%', height: 560,&#10;        paddingLeft: 40, paddingRight: 40,&#10;        paddingTop: 22, paddingBottom: 22,&#10;        gap: 14,&#10;    }}&gt;&#10;        &lt;Box style={{ width: '100%', flexDirection: 'row', alignItems: 'baseline', justifyContent: 'space-between' }}&gt;&#10;            &lt;Box style={{ gap: 4 }}&gt;&#10;                &lt;Text style={{ color: '#1E4FA8', fontSize: 13, fontWeight: 'bold', letterSpacing: 3 }}&gt;TABLE 2 · OOD mAP&lt;/Text&gt;&#10;                &lt;Text style={{ color: '#1A2230', fontSize: 24, fontWeight: 'bold' }}&gt;&#10;                    DINO/DINOv2 表现最佳 · IID 强 ≠ OOD 强&#10;                &lt;/Text&gt;&#10;            &lt;/Box&gt;&#10;            &lt;Text style={{ color: '#8B97A8', fontSize: 12 }}&gt;基于 8 张 RTX 4090 · MMDetection&lt;/Text&gt;&#10;        &lt;/Box&gt;&#10;        &lt;Box style={{&#10;            width: '100%', flex: 1,&#10;            flexDirection: 'row', gap: 18,&#10;        }}&gt;&#10;            &lt;Box style={{ flex: 1, height: '100%' }}&gt;&#10;                &lt;Chart&#10;                    style={{ width: '100%', height: '100%' }}&#10;                    chartType='barChart'&#10;                    barDirection='bar'&#10;                    grouping='clustered'&#10;                    background='#FFFFFF'&#10;                    colors={['#5B7FCE', '#FFC247']}&#10;                    titleColor='#1A2230'&#10;                    legendColor='#4A5568'&#10;                    axisColor='#8B97A8'&#10;                    title='各检测器 OOD vs IID 性能'&#10;                    data={[&#10;                        ['Detector', 'OOD mAP', 'IID mAP'],&#10;                        ['Faster R-CNN', 0.149, 0.385],&#10;                        ['RetinaNet', 0.146, 0.391],&#10;                        ['YOLOv9', 0.150, 0.402],&#10;                        ['DETR', 0.168, 0.418],&#10;                        ['DINO', 0.213, 0.461],&#10;                        ['DINOv2', 0.213, 0.467],&#10;                    ]}&#10;                /&gt;&#10;            &lt;/Box&gt;&#10;            &lt;Box style={{ width: 360, height: '100%', gap: 12 }}&gt;&#10;                &lt;Box style={{&#10;                    width: '100%', borderRadius: 12,&#10;                    background: 'linear-gradient(135deg, #FFC247 0%, #FF8A4C 100%)',&#10;                    paddingTop: 16, paddingBottom: 16,&#10;                    paddingLeft: 18, paddingRight: 18,&#10;                    gap: 8,&#10;                }}&gt;&#10;                    &lt;Text style={{ color: '#FFFFFF', fontSize: 11, fontWeight: 'bold', letterSpacing: 2 }}&gt;KEY FINDING&lt;/Text&gt;&#10;                    &lt;Text style={{ color: '#FFFFFF', fontSize: 18, fontWeight: 'bold', lineHeight: 1.4 }}&gt;&#10;                        OOD mAP 仅及 IID 的 30-50%&#10;                    &lt;/Text&gt;&#10;                    &lt;Text style={{ color: '#FFFFFF', fontSize: 13, lineHeight: 1.6, opacity: 0.95 }}&gt;&#10;                        即使最强检测器 DINO/DINOv2，OOD mAP 也只有 IID 的一半左右。&#10;                    &lt;/Text&gt;&#10;                &lt;/Box&gt;&#10;                {[&#10;                    { tag: 'neck 升级的反效果', desc: 'NAS-FPN 等更强 neck 在跨域泛化中反而更弱', c: '#1E4FA8' },&#10;                    { tag: 'head 是关键', desc: '两阶段检测器中，修改 head 比增强 backbone 更明显', c: '#2BC5C0' },&#10;                    { tag: '训练策略很重要', desc: 'Sup_timm 相对 ImageNet 预训练提升 18.9%', c: '#FF8A4C' },&#10;                ].map((row, idx) =&gt; (&#10;                    &lt;Box key={idx} style={{&#10;                        width: '100%',&#10;                        paddingTop: 12, paddingBottom: 12,&#10;                        paddingLeft: 16, paddingRight: 16,&#10;                        borderRadius: 10,&#10;                        background: '#FFFFFF',&#10;                        border: `1px solid ${row.c}`,&#10;                        gap: 6,&#10;                    }}&gt;&#10;                        &lt;Text style={{ color: row.c, fontSize: 13, fontWeight: 'bold' }}&gt;· {row.tag}&lt;/Text&gt;&#10;                        &lt;Text style={{ color: '#4A5568', fontSize: 12, lineHeight: 1.5 }}&gt;{row.desc}&lt;/Text&gt;&#10;                    &lt;/Box&gt;&#10;                ))}&#10;            &lt;/Box&gt;&#10;        &lt;/Box&gt;&#10;        &lt;Box style={{&#10;            width: '100%', height: 40,&#10;            borderRadius: 10,&#10;            background: '#F0F5FC',&#10;            paddingLeft: 16, paddingRight: 16,&#10;            flexDirection: 'row', alignItems: 'center',&#10;            gap: 12,&#10;        }}&gt;&#10;            &lt;Box style={{&#10;                paddingLeft: 10, paddingRight: 10,&#10;                paddingTop: 4, paddingBottom: 4,&#10;                borderRadius: 8, background: '#1E4FA8',&#10;            }}&gt;&#10;                &lt;Text style={{ color: '#FFFFFF', fontSize: 11, fontWeight: 'bold', letterSpacing: 1 }}&gt;INSIGHT&lt;/Text&gt;&#10;            &lt;/Box&gt;&#10;            &lt;Text style={{ color: '#1A2230', fontSize: 14, flex: 1 }}&gt;&#10;                堆 backbone / 扩预训练数据未必提升 OOD 泛化，&lt;span style={{ fontWeight: 'bold', color: '#1E4FA8' }}&gt;head 优化与训练策略是关键路径&lt;/span&gt;。&#10;            &lt;/Text&gt;&#10;        &lt;/Box&gt;&#10;    &lt;/Box&gt;&#10;    &lt;Box style={{&#10;        position: 'absolute', bottom: 0, left: 0, width: '100%', height: 32,&#10;        background: '#F7F9FC',&#10;        flexDirection: 'row', alignItems: 'center',&#10;        justifyContent: 'space-between',&#10;        paddingLeft: 40, paddingRight: 40,&#10;        borderTop: '1px solid #E5E7EB',&#10;    }}&gt;&#10;        &lt;Text style={{ color: '#8B97A8', fontSize: 12 }}&gt;COUNTS · 跨域目标检测与多模态 grounding&lt;/Text&gt;&#10;        &lt;Text style={{ color: '#4A5568', fontSize: 12 }}&gt;13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 rot="0" flipH="0" flipV="0"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0" y="0"/>
            <a:ext cx="12192000" cy="762000"/>
          </a:xfrm>
          <a:custGeom>
            <a:pathLst>
              <a:path w="1280" h="80">
                <a:moveTo>
                  <a:pt x="0" y="78"/>
                </a:moveTo>
                <a:lnTo>
                  <a:pt x="1280" y="78"/>
                </a:lnTo>
                <a:lnTo>
                  <a:pt x="1280" y="80"/>
                </a:lnTo>
                <a:lnTo>
                  <a:pt x="0" y="80"/>
                </a:lnTo>
                <a:close/>
              </a:path>
            </a:pathLst>
          </a:custGeom>
          <a:solidFill>
            <a:srgbClr val="F0F5FC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381000" y="352425"/>
            <a:ext cx="381000" cy="3810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95350" y="295275"/>
            <a:ext cx="2505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C247"/>
                </a:solidFill>
                <a:latin typeface="Microsoft YaHei"/>
                <a:ea typeface="Microsoft YaHei"/>
              </a:rPr>
              <a:t>CHAPTER 04 · O(OD)² </a:t>
            </a:r>
            <a:r>
              <a:rPr lang="zh-CN" sz="1050" b="1" spc="150">
                <a:solidFill>
                  <a:srgbClr val="FFC247"/>
                </a:solidFill>
                <a:latin typeface="Microsoft YaHei"/>
                <a:ea typeface="Microsoft YaHei"/>
              </a:rPr>
              <a:t>实验结果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1229975" y="295275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页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13 / 18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381000" y="971550"/>
            <a:ext cx="467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1E4FA8"/>
                </a:solidFill>
                <a:latin typeface="Microsoft YaHei"/>
                <a:ea typeface="Microsoft YaHei"/>
              </a:rPr>
              <a:t>TABLE 2 · OOD mAP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81000" y="1162050"/>
            <a:ext cx="46767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DINO/DINOv2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表现最佳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· IID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强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≠ OOD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强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934575" y="971550"/>
            <a:ext cx="1876425" cy="4667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基于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8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张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RTX 4090 · MMDetection</a:t>
            </a:r>
            <a:endParaRPr/>
          </a:p>
        </p:txBody>
      </p:sp>
      <p:graphicFrame>
        <p:nvGraphicFramePr>
          <p:cNvPr id="179" name="179"/>
          <p:cNvGraphicFramePr/>
          <p:nvPr/>
        </p:nvGraphicFramePr>
        <p:xfrm rot="0" flipH="0" flipV="0">
          <a:off x="381000" y="1571625"/>
          <a:ext cx="7829550" cy="3800475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80" name=""/>
          <p:cNvSpPr/>
          <p:nvPr/>
        </p:nvSpPr>
        <p:spPr>
          <a:xfrm rot="0" flipH="0" flipV="0">
            <a:off x="8382000" y="1571625"/>
            <a:ext cx="3429000" cy="1362075"/>
          </a:xfrm>
          <a:prstGeom prst="roundRect">
            <a:avLst>
              <a:gd name="adj" fmla="val 8392"/>
            </a:avLst>
          </a:prstGeom>
          <a:gradFill>
            <a:gsLst>
              <a:gs pos="0">
                <a:srgbClr val="FFC247"/>
              </a:gs>
              <a:gs pos="100000">
                <a:srgbClr val="FF8A4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553450" y="1724025"/>
            <a:ext cx="3086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50">
                <a:solidFill>
                  <a:srgbClr val="FFFFFF"/>
                </a:solidFill>
                <a:latin typeface="Microsoft YaHei"/>
                <a:ea typeface="Microsoft YaHei"/>
              </a:rPr>
              <a:t>KEY FINDING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553450" y="1933575"/>
            <a:ext cx="30861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OOD mAP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仅及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 IID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的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 30-50%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8382000" y="3048000"/>
            <a:ext cx="3429000" cy="6477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534400" y="3162300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· </a:t>
            </a: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neck </a:t>
            </a:r>
            <a:r>
              <a:rPr lang="zh-CN" sz="975" b="1">
                <a:solidFill>
                  <a:srgbClr val="1E4FA8"/>
                </a:solidFill>
                <a:latin typeface="Microsoft YaHei"/>
                <a:ea typeface="Microsoft YaHei"/>
              </a:rPr>
              <a:t>升级的反效果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534400" y="3371850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NAS-FPN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等更强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 neck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在跨域泛化中反而更弱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8382000" y="3810000"/>
            <a:ext cx="3429000" cy="6477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2BC5C0"/>
            </a:solidFill>
            <a:prstDash val="solid"/>
          </a:ln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534400" y="3924300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BC5C0"/>
                </a:solidFill>
                <a:latin typeface="Microsoft YaHei"/>
                <a:ea typeface="Microsoft YaHei"/>
              </a:rPr>
              <a:t>· </a:t>
            </a:r>
            <a:r>
              <a:rPr lang="en-US" sz="975" b="1">
                <a:solidFill>
                  <a:srgbClr val="2BC5C0"/>
                </a:solidFill>
                <a:latin typeface="Microsoft YaHei"/>
                <a:ea typeface="Microsoft YaHei"/>
              </a:rPr>
              <a:t>head </a:t>
            </a:r>
            <a:r>
              <a:rPr lang="zh-CN" sz="975" b="1">
                <a:solidFill>
                  <a:srgbClr val="2BC5C0"/>
                </a:solidFill>
                <a:latin typeface="Microsoft YaHei"/>
                <a:ea typeface="Microsoft YaHei"/>
              </a:rPr>
              <a:t>是关键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534400" y="4133850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两阶段检测器中，修改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 head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比增强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 backbone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更明显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8382000" y="4572000"/>
            <a:ext cx="3429000" cy="6477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8A4C"/>
            </a:solidFill>
            <a:prstDash val="solid"/>
          </a:ln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534400" y="4686300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8A4C"/>
                </a:solidFill>
                <a:latin typeface="Microsoft YaHei"/>
                <a:ea typeface="Microsoft YaHei"/>
              </a:rPr>
              <a:t>· </a:t>
            </a:r>
            <a:r>
              <a:rPr lang="zh-CN" sz="975" b="1">
                <a:solidFill>
                  <a:srgbClr val="FF8A4C"/>
                </a:solidFill>
                <a:latin typeface="Microsoft YaHei"/>
                <a:ea typeface="Microsoft YaHei"/>
              </a:rPr>
              <a:t>训练策略很重要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534400" y="4895850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Sup_timm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相对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 ImageNet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预训练提升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 18.9%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381000" y="5505450"/>
            <a:ext cx="11430000" cy="381000"/>
          </a:xfrm>
          <a:prstGeom prst="roundRect">
            <a:avLst>
              <a:gd name="adj" fmla="val 2500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533400" y="5591175"/>
            <a:ext cx="714375" cy="209550"/>
          </a:xfrm>
          <a:prstGeom prst="roundRect">
            <a:avLst>
              <a:gd name="adj" fmla="val 3636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28650" y="5629275"/>
            <a:ext cx="523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FFFFF"/>
                </a:solidFill>
                <a:latin typeface="Microsoft YaHei"/>
                <a:ea typeface="Microsoft YaHei"/>
              </a:rPr>
              <a:t>INSIGHT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362075" y="5619750"/>
            <a:ext cx="10296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堆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 backbone /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扩预训练数据未必提升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 OOD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泛化，</a:t>
            </a: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head </a:t>
            </a:r>
            <a:r>
              <a:rPr lang="zh-CN" sz="1050" b="1">
                <a:solidFill>
                  <a:srgbClr val="1E4FA8"/>
                </a:solidFill>
                <a:latin typeface="Microsoft YaHei"/>
                <a:ea typeface="Microsoft YaHei"/>
              </a:rPr>
              <a:t>优化与训练策略是关键路径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553450" y="2305050"/>
            <a:ext cx="30861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即使最强检测器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 DINO/DINOv2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，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OOD mAP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也只有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 IID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的一半左右。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0" y="6562725"/>
            <a:ext cx="12192000" cy="2952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0" y="6553200"/>
            <a:ext cx="12192000" cy="304800"/>
          </a:xfrm>
          <a:custGeom>
            <a:pathLst>
              <a:path w="1280" h="3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381000" y="6638925"/>
            <a:ext cx="2333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COUNTS ·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跨域目标检测与多模态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grounding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1420475" y="66389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13 / 18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>
    <p:spTree>
      <p:nvGrpSpPr>
        <p:cNvPr id="201" name="" descr="&lt;Slide padding={0}&gt;&#10;    &lt;Box style={{&#10;        width: '100%', height: 80,&#10;        flexDirection: 'row', alignItems: 'center',&#10;        paddingLeft: 40, paddingRight: 40,&#10;        background: '#FFFFFF',&#10;        borderBottom: '2px solid #F0F5FC',&#10;    }}&gt;&#10;        &lt;Box style={{ width: 40, height: 4, borderRadius: 2, background: '#2BC5C0', marginRight: 14 }} /&gt;&#10;        &lt;Text style={{ color: '#2BC5C0', fontSize: 14, fontWeight: 'bold', letterSpacing: 2 }}&gt;CHAPTER 04 · OODG 实验结果&lt;/Text&gt;&#10;        &lt;Box style={{ flex: 1 }} /&gt;&#10;        &lt;Text style={{ color: '#8B97A8', fontSize: 13 }}&gt;页 14 / 18&lt;/Text&gt;&#10;    &lt;/Box&gt;&#10;    &lt;Box style={{&#10;        width: '100%', height: 560,&#10;        paddingLeft: 40, paddingRight: 40,&#10;        paddingTop: 22, paddingBottom: 22,&#10;        flexDirection: 'row', gap: 22,&#10;    }}&gt;&#10;        &lt;Box style={{ width: '58%', height: '100%' }}&gt;&#10;            &lt;Box style={{&#10;                width: '100%', height: '100%',&#10;                borderRadius: 14,&#10;                border: '1.5px solid #D6DCE5',&#10;                background: '#FFFFFF',&#10;                paddingTop: 18, paddingBottom: 18,&#10;                paddingLeft: 18, paddingRight: 18,&#10;                gap: 8,&#10;            }}&gt;&#10;                &lt;Box style={{ flexDirection: 'row', justifyContent: 'space-between', alignItems: 'baseline' }}&gt;&#10;                    &lt;Box style={{ gap: 2 }}&gt;&#10;                        &lt;Text style={{ color: '#1E4FA8', fontSize: 12, fontWeight: 'bold', letterSpacing: 2 }}&gt;TABLE 4 · VISUAL GROUNDING&lt;/Text&gt;&#10;                        &lt;Text style={{ color: '#1A2230', fontSize: 18, fontWeight: 'bold' }}&gt;不同 ICL 设置下的 grounding 准确率&lt;/Text&gt;&#10;                    &lt;/Box&gt;&#10;                    &lt;Box style={{ flexDirection: 'row', gap: 14 }}&gt;&#10;                        &lt;Box style={{ flexDirection: 'row', alignItems: 'center', gap: 6 }}&gt;&#10;                            &lt;Box style={{ width: 12, height: 12, borderRadius: 2, background: '#1E4FA8' }} /&gt;&#10;                            &lt;Text style={{ color: '#4A5568', fontSize: 12 }}&gt;GPT-4o&lt;/Text&gt;&#10;                        &lt;/Box&gt;&#10;                        &lt;Box style={{ flexDirection: 'row', alignItems: 'center', gap: 6 }}&gt;&#10;                            &lt;Box style={{ width: 12, height: 12, borderRadius: 2, background: '#FF8A4C' }} /&gt;&#10;                            &lt;Text style={{ color: '#4A5568', fontSize: 12 }}&gt;Gemini-1.5&lt;/Text&gt;&#10;                        &lt;/Box&gt;&#10;                    &lt;/Box&gt;&#10;                &lt;/Box&gt;&#10;                &lt;Chart&#10;                    style={{ width: '100%', flex: 1, minHeight: 280 }}&#10;                    chartType='lineChart'&#10;                    grouping='standard'&#10;                    background='#FFFFFF'&#10;                    colors={['#1E4FA8', '#FF8A4C']}&#10;                    titleColor='#1A2230'&#10;                    legendColor='#8B97A8'&#10;                    axisColor='#8B97A8'&#10;                    data={[&#10;                        ['ICL Setting', 'GPT-4o', 'Gemini-1.5'],&#10;                        ['Zero-shot', 0.659, 0.591],&#10;                        ['IID ICL', 0.668, 0.670],&#10;                        ['IID ICL+', 0.675, 0.689],&#10;                        ['Covariate', 0.580, 0.358],&#10;                        ['Covariate+', 0.612, 0.346],&#10;                        ['Label', 0.605, 0.317],&#10;                        ['Label+', 0.591, 0.297],&#10;                    ]}&#10;                /&gt;&#10;            &lt;/Box&gt;&#10;        &lt;/Box&gt;&#10;        &lt;Box style={{ width: '40%', height: '100%', gap: 12 }}&gt;&#10;            &lt;Box style={{&#10;                width: '100%',&#10;                borderRadius: 12,&#10;                background: 'linear-gradient(135deg, #1E4FA8 0%, #5B7FCE 100%)',&#10;                paddingTop: 16, paddingBottom: 16,&#10;                paddingLeft: 18, paddingRight: 18,&#10;                gap: 10,&#10;            }}&gt;&#10;                &lt;Text style={{ color: '#FFC247', fontSize: 11, fontWeight: 'bold', letterSpacing: 2 }}&gt;ZERO-SHOT BASELINE&lt;/Text&gt;&#10;                &lt;Box style={{ flexDirection: 'row', gap: 22 }}&gt;&#10;                    &lt;Box&gt;&#10;                        &lt;Text style={{ color: '#FFFFFF', fontSize: 32, fontWeight: 'bold', lineHeight: 1 }}&gt;65.9%&lt;/Text&gt;&#10;                        &lt;Text style={{ color: '#FFFFFF', fontSize: 12, opacity: 0.85 }}&gt;GPT-4o&lt;/Text&gt;&#10;                    &lt;/Box&gt;&#10;                    &lt;Box style={{ width: 1, background: 'rgba(255,255,255,0.4)' }} /&gt;&#10;                    &lt;Box&gt;&#10;                        &lt;Text style={{ color: '#FFFFFF', fontSize: 32, fontWeight: 'bold', lineHeight: 1 }}&gt;59.1%&lt;/Text&gt;&#10;                        &lt;Text style={{ color: '#FFFFFF', fontSize: 12, opacity: 0.85 }}&gt;Gemini-1.5&lt;/Text&gt;&#10;                    &lt;/Box&gt;&#10;                    &lt;Box style={{ width: 1, background: 'rgba(255,255,255,0.4)' }} /&gt;&#10;                    &lt;Box&gt;&#10;                        &lt;Text style={{ color: '#FFFFFF', fontSize: 32, fontWeight: 'bold', lineHeight: 1 }}&gt;62.5%&lt;/Text&gt;&#10;                        &lt;Text style={{ color: '#FFFFFF', fontSize: 12, opacity: 0.85 }}&gt;GLaMM&lt;/Text&gt;&#10;                    &lt;/Box&gt;&#10;                &lt;/Box&gt;&#10;            &lt;/Box&gt;&#10;            &lt;Box style={{&#10;                width: '100%',&#10;                borderRadius: 12,&#10;                background: 'linear-gradient(135deg, #FF8A4C 0%, #FFC247 100%)',&#10;                paddingTop: 14, paddingBottom: 14,&#10;                paddingLeft: 18, paddingRight: 18,&#10;                gap: 6,&#10;            }}&gt;&#10;                &lt;Text style={{ color: '#FFFFFF', fontSize: 11, fontWeight: 'bold', letterSpacing: 2 }}&gt;GEMINI 协变量偏移&lt;/Text&gt;&#10;                &lt;Box style={{ flexDirection: 'row', alignItems: 'baseline', gap: 8 }}&gt;&#10;                    &lt;Text style={{ color: '#FFFFFF', fontSize: 32, fontWeight: 'bold' }}&gt;57.0%&lt;/Text&gt;&#10;                    &lt;Text style={{ color: '#FFFFFF', fontSize: 20 }}&gt;→&lt;/Text&gt;&#10;                    &lt;Text style={{ color: '#FFFFFF', fontSize: 32, fontWeight: 'bold' }}&gt;28.0%&lt;/Text&gt;&#10;                &lt;/Box&gt;&#10;                &lt;Text style={{ color: '#FFFFFF', fontSize: 13, lineHeight: 1.5, opacity: 0.95 }}&gt;&#10;                    相对下降 &lt;span style={{ fontWeight: 'bold' }}&gt;50.88%&lt;/span&gt;，比 GPT-4o 的 12.1% 严重得多。&#10;                &lt;/Text&gt;&#10;            &lt;/Box&gt;&#10;            &lt;Box style={{&#10;                width: '100%',&#10;                flex: 1,&#10;                borderRadius: 12,&#10;                background: '#FFFFFF',&#10;                border: '1.5px solid #1E4FA8',&#10;                paddingTop: 14, paddingBottom: 14,&#10;                paddingLeft: 16, paddingRight: 16,&#10;                gap: 8,&#10;            }}&gt;&#10;                &lt;Text style={{ color: '#1E4FA8', fontSize: 11, fontWeight: 'bold', letterSpacing: 2 }}&gt;RECOGNITION &amp; LOCALIZATION · TABLE 5&lt;/Text&gt;&#10;                &lt;Text style={{ color: '#1A2230', fontSize: 13, lineHeight: 1.55 }}&gt;&#10;                    整体 mAP 很低：Zero-shot GPT-4o = &lt;span style={{ fontWeight: 'bold', color: '#1E4FA8' }}&gt;0.106&lt;/span&gt;，&#10;                    Gemini-1.5 = 0.082；&lt;span style={{ fontWeight: 'bold', color: '#FF8A4C' }}&gt;协变量偏移下 Gemini 整体 mAP 跌至 0.000&lt;/span&gt;。&#10;                &lt;/Text&gt;&#10;                &lt;Text style={{ color: '#4A5568', fontSize: 12, lineHeight: 1.5 }}&gt;&#10;                    说明当前 MLLM 在精确坐标定位上远未成熟。&#10;                &lt;/Text&gt;&#10;            &lt;/Box&gt;&#10;        &lt;/Box&gt;&#10;    &lt;/Box&gt;&#10;    &lt;Box style={{&#10;        position: 'absolute', bottom: 0, left: 0, width: '100%', height: 32,&#10;        background: '#F7F9FC',&#10;        flexDirection: 'row', alignItems: 'center',&#10;        justifyContent: 'space-between',&#10;        paddingLeft: 40, paddingRight: 40,&#10;        borderTop: '1px solid #E5E7EB',&#10;    }}&gt;&#10;        &lt;Text style={{ color: '#8B97A8', fontSize: 12 }}&gt;COUNTS · 跨域目标检测与多模态 grounding&lt;/Text&gt;&#10;        &lt;Text style={{ color: '#4A5568', fontSize: 12 }}&gt;14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/>
          <p:nvPr/>
        </p:nvSpPr>
        <p:spPr>
          <a:xfrm rot="0" flipH="0" flipV="0"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0" y="0"/>
            <a:ext cx="12192000" cy="762000"/>
          </a:xfrm>
          <a:custGeom>
            <a:pathLst>
              <a:path w="1280" h="80">
                <a:moveTo>
                  <a:pt x="0" y="78"/>
                </a:moveTo>
                <a:lnTo>
                  <a:pt x="1280" y="78"/>
                </a:lnTo>
                <a:lnTo>
                  <a:pt x="1280" y="80"/>
                </a:lnTo>
                <a:lnTo>
                  <a:pt x="0" y="80"/>
                </a:lnTo>
                <a:close/>
              </a:path>
            </a:pathLst>
          </a:custGeom>
          <a:solidFill>
            <a:srgbClr val="F0F5FC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381000" y="352425"/>
            <a:ext cx="381000" cy="38100"/>
          </a:xfrm>
          <a:prstGeom prst="roundRect">
            <a:avLst>
              <a:gd name="adj" fmla="val 50000"/>
            </a:avLst>
          </a:prstGeom>
          <a:solidFill>
            <a:srgbClr val="2BC5C0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95350" y="29527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2BC5C0"/>
                </a:solidFill>
                <a:latin typeface="Microsoft YaHei"/>
                <a:ea typeface="Microsoft YaHei"/>
              </a:rPr>
              <a:t>CHAPTER 04 · OODG </a:t>
            </a:r>
            <a:r>
              <a:rPr lang="zh-CN" sz="1050" b="1" spc="150">
                <a:solidFill>
                  <a:srgbClr val="2BC5C0"/>
                </a:solidFill>
                <a:latin typeface="Microsoft YaHei"/>
                <a:ea typeface="Microsoft YaHei"/>
              </a:rPr>
              <a:t>实验结果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1229975" y="295275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页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14 / 18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381000" y="971550"/>
            <a:ext cx="6629400" cy="4914900"/>
          </a:xfrm>
          <a:prstGeom prst="roundRect">
            <a:avLst>
              <a:gd name="adj" fmla="val 2713"/>
            </a:avLst>
          </a:prstGeom>
          <a:solidFill>
            <a:srgbClr val="FFFFFF"/>
          </a:solidFill>
          <a:ln w="1905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52450" y="1143000"/>
            <a:ext cx="2933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1E4FA8"/>
                </a:solidFill>
                <a:latin typeface="Microsoft YaHei"/>
                <a:ea typeface="Microsoft YaHei"/>
              </a:rPr>
              <a:t>TABLE 4 · VISUAL GROUNDING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52450" y="1304925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不同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 ICL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设置下的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 grounding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准确率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5343525" y="12763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514975" y="125730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GPT-4o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067425" y="12763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8A4C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238875" y="1257300"/>
            <a:ext cx="60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Gemini-1.5</a:t>
            </a:r>
            <a:endParaRPr/>
          </a:p>
        </p:txBody>
      </p:sp>
      <p:graphicFrame>
        <p:nvGraphicFramePr>
          <p:cNvPr id="214" name="214"/>
          <p:cNvGraphicFramePr/>
          <p:nvPr/>
        </p:nvGraphicFramePr>
        <p:xfrm rot="0" flipH="0" flipV="0">
          <a:off x="552450" y="1590675"/>
          <a:ext cx="6286500" cy="4124325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15" name=""/>
          <p:cNvSpPr/>
          <p:nvPr/>
        </p:nvSpPr>
        <p:spPr>
          <a:xfrm rot="0" flipH="0" flipV="0">
            <a:off x="7219950" y="971550"/>
            <a:ext cx="4572000" cy="1047750"/>
          </a:xfrm>
          <a:prstGeom prst="roundRect">
            <a:avLst>
              <a:gd name="adj" fmla="val 10909"/>
            </a:avLst>
          </a:prstGeom>
          <a:gradFill>
            <a:gsLst>
              <a:gs pos="0">
                <a:srgbClr val="1E4FA8"/>
              </a:gs>
              <a:gs pos="100000">
                <a:srgbClr val="5B7FC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391400" y="1123950"/>
            <a:ext cx="422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50">
                <a:solidFill>
                  <a:srgbClr val="FFC247"/>
                </a:solidFill>
                <a:latin typeface="Microsoft YaHei"/>
                <a:ea typeface="Microsoft YaHei"/>
              </a:rPr>
              <a:t>ZERO-SHOT BASELINE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391400" y="1352550"/>
            <a:ext cx="9429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65.9%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8543925" y="1352550"/>
            <a:ext cx="9525" cy="51435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763000" y="1352550"/>
            <a:ext cx="9429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59.1%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9915525" y="1352550"/>
            <a:ext cx="9525" cy="51435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0134600" y="1352550"/>
            <a:ext cx="9429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62.5%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7219950" y="2133600"/>
            <a:ext cx="4572000" cy="1114425"/>
          </a:xfrm>
          <a:prstGeom prst="roundRect">
            <a:avLst>
              <a:gd name="adj" fmla="val 10256"/>
            </a:avLst>
          </a:prstGeom>
          <a:gradFill>
            <a:gsLst>
              <a:gs pos="0">
                <a:srgbClr val="FF8A4C"/>
              </a:gs>
              <a:gs pos="100000">
                <a:srgbClr val="FFC247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391400" y="2266950"/>
            <a:ext cx="422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50">
                <a:solidFill>
                  <a:srgbClr val="FFFFFF"/>
                </a:solidFill>
                <a:latin typeface="Microsoft YaHei"/>
                <a:ea typeface="Microsoft YaHei"/>
              </a:rPr>
              <a:t>GEMINI </a:t>
            </a:r>
            <a:r>
              <a:rPr lang="zh-CN" sz="825" b="1" spc="150">
                <a:solidFill>
                  <a:srgbClr val="FFFFFF"/>
                </a:solidFill>
                <a:latin typeface="Microsoft YaHei"/>
                <a:ea typeface="Microsoft YaHei"/>
              </a:rPr>
              <a:t>协变量偏移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391400" y="2457450"/>
            <a:ext cx="9429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57.0%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410575" y="2457450"/>
            <a:ext cx="190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FFFFFF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677275" y="2457450"/>
            <a:ext cx="9429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28.0%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7219950" y="3362325"/>
            <a:ext cx="4572000" cy="2524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372350" y="3495675"/>
            <a:ext cx="4267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50">
                <a:solidFill>
                  <a:srgbClr val="1E4FA8"/>
                </a:solidFill>
                <a:latin typeface="Microsoft YaHei"/>
                <a:ea typeface="Microsoft YaHei"/>
              </a:rPr>
              <a:t>RECOGNITION &amp; LOCALIZATION · TABLE 5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372350" y="3705225"/>
            <a:ext cx="42672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整体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> mAP 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很低：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>Zero-shot GPT-4o = </a:t>
            </a: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0.106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> Gemini-1.5 = 0.082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；</a:t>
            </a:r>
            <a:r>
              <a:rPr lang="zh-CN" sz="975" b="1">
                <a:solidFill>
                  <a:srgbClr val="FF8A4C"/>
                </a:solidFill>
                <a:latin typeface="Microsoft YaHei"/>
                <a:ea typeface="Microsoft YaHei"/>
              </a:rPr>
              <a:t>协变量偏移下</a:t>
            </a:r>
            <a:r>
              <a:rPr lang="en-US" sz="975" b="1">
                <a:solidFill>
                  <a:srgbClr val="FF8A4C"/>
                </a:solidFill>
                <a:latin typeface="Microsoft YaHei"/>
                <a:ea typeface="Microsoft YaHei"/>
              </a:rPr>
              <a:t> Gemini </a:t>
            </a:r>
            <a:r>
              <a:rPr lang="zh-CN" sz="975" b="1">
                <a:solidFill>
                  <a:srgbClr val="FF8A4C"/>
                </a:solidFill>
                <a:latin typeface="Microsoft YaHei"/>
                <a:ea typeface="Microsoft YaHei"/>
              </a:rPr>
              <a:t>整体</a:t>
            </a:r>
            <a:r>
              <a:rPr lang="en-US" sz="975" b="1">
                <a:solidFill>
                  <a:srgbClr val="FF8A4C"/>
                </a:solidFill>
                <a:latin typeface="Microsoft YaHei"/>
                <a:ea typeface="Microsoft YaHei"/>
              </a:rPr>
              <a:t> mAP </a:t>
            </a:r>
            <a:r>
              <a:rPr lang="zh-CN" sz="975" b="1">
                <a:solidFill>
                  <a:srgbClr val="FF8A4C"/>
                </a:solidFill>
                <a:latin typeface="Microsoft YaHei"/>
                <a:ea typeface="Microsoft YaHei"/>
              </a:rPr>
              <a:t>跌至</a:t>
            </a:r>
            <a:r>
              <a:rPr lang="en-US" sz="975" b="1">
                <a:solidFill>
                  <a:srgbClr val="FF8A4C"/>
                </a:solidFill>
                <a:latin typeface="Microsoft YaHei"/>
                <a:ea typeface="Microsoft YaHei"/>
              </a:rPr>
              <a:t> 0.000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372350" y="4248150"/>
            <a:ext cx="42672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说明当前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 MLLM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在精确坐标定位上远未成熟。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391400" y="1724025"/>
            <a:ext cx="942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GPT-4o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763000" y="1724025"/>
            <a:ext cx="942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Gemini-1.5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0134600" y="1724025"/>
            <a:ext cx="942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GLaMM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7391400" y="2886075"/>
            <a:ext cx="42291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相对下降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en-US" sz="975" b="1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50.88%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，比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 GPT-4o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的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 12.1%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严重得多。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0" y="6562725"/>
            <a:ext cx="12192000" cy="2952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0" y="6553200"/>
            <a:ext cx="12192000" cy="304800"/>
          </a:xfrm>
          <a:custGeom>
            <a:pathLst>
              <a:path w="1280" h="3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381000" y="6638925"/>
            <a:ext cx="2333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COUNTS ·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跨域目标检测与多模态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grounding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1420475" y="66389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14 / 18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39" name="" descr="&lt;Slide padding={0}&gt;&#10;    &lt;Box style={{&#10;        width: '100%', height: 80,&#10;        flexDirection: 'row', alignItems: 'center',&#10;        paddingLeft: 40, paddingRight: 40,&#10;        background: '#FFFFFF',&#10;        borderBottom: '2px solid #F0F5FC',&#10;    }}&gt;&#10;        &lt;Box style={{ width: 40, height: 4, borderRadius: 2, background: '#FF8A4C', marginRight: 14 }} /&gt;&#10;        &lt;Text style={{ color: '#FF8A4C', fontSize: 14, fontWeight: 'bold', letterSpacing: 2 }}&gt;CHAPTER 04 · ICL 双刃剑&lt;/Text&gt;&#10;        &lt;Box style={{ flex: 1 }} /&gt;&#10;        &lt;Text style={{ color: '#8B97A8', fontSize: 13 }}&gt;页 15 / 18&lt;/Text&gt;&#10;    &lt;/Box&gt;&#10;    &lt;Box style={{&#10;        width: '100%', height: 560,&#10;        paddingLeft: 48, paddingRight: 48,&#10;        paddingTop: 24, paddingBottom: 24,&#10;        gap: 18,&#10;    }}&gt;&#10;        &lt;Box style={{ width: '100%', gap: 6 }}&gt;&#10;            &lt;Text style={{ color: '#FF8A4C', fontSize: 13, fontWeight: 'bold', letterSpacing: 3 }}&gt;COUNTERINTUITIVE FINDING&lt;/Text&gt;&#10;            &lt;Text style={{ color: '#1A2230', fontSize: 28, fontWeight: 'bold', lineHeight: 1.3 }}&gt;&#10;                越会利用示例的模型，在分布偏移时跌得越狠。&#10;            &lt;/Text&gt;&#10;            &lt;Text style={{ color: '#4A5568', fontSize: 14, lineHeight: 1.6 }}&gt;&#10;                同分布下 Gemini 显著受益于 ICL，但协变量偏移中却因被带偏而严重降级——展示了 MLLM 知识提取的双面性。&#10;            &lt;/Text&gt;&#10;        &lt;/Box&gt;&#10;        &lt;Box style={{ width: '100%', flex: 1, flexDirection: 'row', gap: 18 }}&gt;&#10;            &lt;Box style={{&#10;                flex: 1, height: '100%',&#10;                borderRadius: 16,&#10;                background: 'linear-gradient(135deg, #1E4FA8 0%, #5B7FCE 100%)',&#10;                paddingTop: 22, paddingBottom: 22,&#10;                paddingLeft: 22, paddingRight: 22,&#10;                gap: 14,&#10;            }}&gt;&#10;                &lt;Box style={{&#10;                    paddingLeft: 12, paddingRight: 12,&#10;                    paddingTop: 5, paddingBottom: 5,&#10;                    borderRadius: 12, background: 'rgba(255,255,255,0.18)',&#10;                    alignSelf: 'flex-start',&#10;                }}&gt;&#10;                    &lt;Text style={{ color: '#FFFFFF', fontSize: 11, fontWeight: 'bold', letterSpacing: 1 }}&gt;GPT-4o · 稳健派&lt;/Text&gt;&#10;                &lt;/Box&gt;&#10;                &lt;Text style={{ color: '#FFFFFF', fontSize: 36, fontWeight: 'bold', lineHeight: 1.2 }}&gt;&#10;                    表现稳定&#10;                &lt;/Text&gt;&#10;                &lt;Box style={{ gap: 10 }}&gt;&#10;                    &lt;Box style={{ gap: 6 }}&gt;&#10;                        &lt;Text style={{ color: '#FFC247', fontSize: 12, fontWeight: 'bold' }}&gt;· IID 下提升小&lt;/Text&gt;&#10;                        &lt;Text style={{ color: '#FFFFFF', fontSize: 13, lineHeight: 1.5, opacity: 0.95 }}&gt;&#10;                            从 IID ICL 看，GPT-4o 没有出现 Gemini 那种明显的&quot;借力&quot;提升。&#10;                        &lt;/Text&gt;&#10;                    &lt;/Box&gt;&#10;                    &lt;Box style={{ gap: 6 }}&gt;&#10;                        &lt;Text style={{ color: '#FFC247', fontSize: 12, fontWeight: 'bold' }}&gt;· 偏移下下降轻&lt;/Text&gt;&#10;                        &lt;Text style={{ color: '#FFFFFF', fontSize: 13, lineHeight: 1.5, opacity: 0.95 }}&gt;&#10;                            协变量偏移下最大相对降幅仅 &lt;span style={{ fontWeight: 'bold' }}&gt;12.1%&lt;/span&gt;。&#10;                        &lt;/Text&gt;&#10;                    &lt;/Box&gt;&#10;                    &lt;Box style={{ gap: 6 }}&gt;&#10;                        &lt;Text style={{ color: '#FFC247', fontSize: 12, fontWeight: 'bold' }}&gt;· 解读&lt;/Text&gt;&#10;                        &lt;Text style={{ color: '#FFFFFF', fontSize: 13, lineHeight: 1.5, opacity: 0.95 }}&gt;&#10;                            GPT-4o 对 ICE 的依赖有限，更接近&quot;看图说话&quot;，不容易被示例带偏。&#10;                        &lt;/Text&gt;&#10;                    &lt;/Box&gt;&#10;                &lt;/Box&gt;&#10;            &lt;/Box&gt;&#10;            &lt;Box style={{&#10;                flex: 1, height: '100%',&#10;                borderRadius: 16,&#10;                background: 'linear-gradient(135deg, #FF8A4C 0%, #FFC247 100%)',&#10;                paddingTop: 22, paddingBottom: 22,&#10;                paddingLeft: 22, paddingRight: 22,&#10;                gap: 14,&#10;            }}&gt;&#10;                &lt;Box style={{&#10;                    paddingLeft: 12, paddingRight: 12,&#10;                    paddingTop: 5, paddingBottom: 5,&#10;                    borderRadius: 12, background: 'rgba(255,255,255,0.25)',&#10;                    alignSelf: 'flex-start',&#10;                }}&gt;&#10;                    &lt;Text style={{ color: '#FFFFFF', fontSize: 11, fontWeight: 'bold', letterSpacing: 1 }}&gt;Gemini-1.5 · 易感派&lt;/Text&gt;&#10;                &lt;/Box&gt;&#10;                &lt;Text style={{ color: '#FFFFFF', fontSize: 36, fontWeight: 'bold', lineHeight: 1.2 }}&gt;&#10;                    高敏感型&#10;                &lt;/Text&gt;&#10;                &lt;Box style={{ gap: 10 }}&gt;&#10;                    &lt;Box style={{ gap: 6 }}&gt;&#10;                        &lt;Text style={{ color: '#1A2230', fontSize: 12, fontWeight: 'bold' }}&gt;· IID 下大幅提升&lt;/Text&gt;&#10;                        &lt;Text style={{ color: '#FFFFFF', fontSize: 13, lineHeight: 1.5, opacity: 0.95 }}&gt;&#10;                            Zero-shot 59.1% → IID ICL+ 提升至 &lt;span style={{ fontWeight: 'bold' }}&gt;68.9%&lt;/span&gt;。&#10;                        &lt;/Text&gt;&#10;                    &lt;/Box&gt;&#10;                    &lt;Box style={{ gap: 6 }}&gt;&#10;                        &lt;Text style={{ color: '#1A2230', fontSize: 12, fontWeight: 'bold' }}&gt;· 偏移下严重跌&lt;/Text&gt;&#10;                        &lt;Text style={{ color: '#FFFFFF', fontSize: 13, lineHeight: 1.5, opacity: 0.95 }}&gt;&#10;                            协变量偏移下平均准确率从最高 57.0% 跌到 28.0%，相对下降 &lt;span style={{ fontWeight: 'bold' }}&gt;50.88%&lt;/span&gt;。&#10;                        &lt;/Text&gt;&#10;                    &lt;/Box&gt;&#10;                    &lt;Box style={{ gap: 6 }}&gt;&#10;                        &lt;Text style={{ color: '#1A2230', fontSize: 12, fontWeight: 'bold' }}&gt;· 解读&lt;/Text&gt;&#10;                        &lt;Text style={{ color: '#FFFFFF', fontSize: 13, lineHeight: 1.5, opacity: 0.95 }}&gt;&#10;                            Gemini 倾向于&quot;重&quot;用 ICE，一旦示例有偏，可能学到伪相关而产生严重误判。&#10;                        &lt;/Text&gt;&#10;                    &lt;/Box&gt;&#10;                &lt;/Box&gt;&#10;            &lt;/Box&gt;&#10;        &lt;/Box&gt;&#10;        &lt;Box style={{&#10;            width: '100%', height: 60,&#10;            borderRadius: 12,&#10;            background: 'linear-gradient(90deg, #1A2230 0%, #2BC5C0 100%)',&#10;            paddingLeft: 22, paddingRight: 22,&#10;            flexDirection: 'row', alignItems: 'center',&#10;            gap: 18,&#10;        }}&gt;&#10;            &lt;Box style={{&#10;                width: 40, height: 40, borderRadius: 20,&#10;                background: '#FFC247',&#10;                justifyContent: 'center', alignItems: 'center',&#10;            }}&gt;&#10;                &lt;Text style={{ color: '#1A2230', fontSize: 18, fontWeight: 'bold' }}&gt;!&lt;/Text&gt;&#10;            &lt;/Box&gt;&#10;            &lt;Text style={{ color: '#FFFFFF', fontSize: 15, lineHeight: 1.5, flex: 1 }}&gt;&#10;                &lt;span style={{ fontWeight: 'bold' }}&gt;研究问题被打开：&lt;/span&gt;&#10;                MLLM 应当如何区分&quot;事实信息&quot;与 ICE 引入的&quot;统计偏差&quot;？何时该学 ICE，何时该无视 ICE？&#10;            &lt;/Text&gt;&#10;        &lt;/Box&gt;&#10;    &lt;/Box&gt;&#10;    &lt;Box style={{&#10;        position: 'absolute', bottom: 0, left: 0, width: '100%', height: 32,&#10;        background: '#F7F9FC',&#10;        flexDirection: 'row', alignItems: 'center',&#10;        justifyContent: 'space-between',&#10;        paddingLeft: 40, paddingRight: 40,&#10;        borderTop: '1px solid #E5E7EB',&#10;    }}&gt;&#10;        &lt;Text style={{ color: '#8B97A8', fontSize: 12 }}&gt;COUNTS · 跨域目标检测与多模态 grounding&lt;/Text&gt;&#10;        &lt;Text style={{ color: '#4A5568', fontSize: 12 }}&gt;15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"/>
          <p:cNvSpPr/>
          <p:nvPr/>
        </p:nvSpPr>
        <p:spPr>
          <a:xfrm rot="0" flipH="0" flipV="0"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0" y="0"/>
            <a:ext cx="12192000" cy="762000"/>
          </a:xfrm>
          <a:custGeom>
            <a:pathLst>
              <a:path w="1280" h="80">
                <a:moveTo>
                  <a:pt x="0" y="78"/>
                </a:moveTo>
                <a:lnTo>
                  <a:pt x="1280" y="78"/>
                </a:lnTo>
                <a:lnTo>
                  <a:pt x="1280" y="80"/>
                </a:lnTo>
                <a:lnTo>
                  <a:pt x="0" y="80"/>
                </a:lnTo>
                <a:close/>
              </a:path>
            </a:pathLst>
          </a:custGeom>
          <a:solidFill>
            <a:srgbClr val="F0F5FC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381000" y="352425"/>
            <a:ext cx="381000" cy="38100"/>
          </a:xfrm>
          <a:prstGeom prst="roundRect">
            <a:avLst>
              <a:gd name="adj" fmla="val 50000"/>
            </a:avLst>
          </a:prstGeom>
          <a:solidFill>
            <a:srgbClr val="FF8A4C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95350" y="29527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8A4C"/>
                </a:solidFill>
                <a:latin typeface="Microsoft YaHei"/>
                <a:ea typeface="Microsoft YaHei"/>
              </a:rPr>
              <a:t>CHAPTER 04 · ICL </a:t>
            </a:r>
            <a:r>
              <a:rPr lang="zh-CN" sz="1050" b="1" spc="150">
                <a:solidFill>
                  <a:srgbClr val="FF8A4C"/>
                </a:solidFill>
                <a:latin typeface="Microsoft YaHei"/>
                <a:ea typeface="Microsoft YaHei"/>
              </a:rPr>
              <a:t>双刃剑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1229975" y="295275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页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15 / 18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57200" y="990600"/>
            <a:ext cx="11277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FF8A4C"/>
                </a:solidFill>
                <a:latin typeface="Microsoft YaHei"/>
                <a:ea typeface="Microsoft YaHei"/>
              </a:rPr>
              <a:t>COUNTERINTUITIVE FINDING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57200" y="1200150"/>
            <a:ext cx="11277600" cy="4191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越会利用示例的模型，在分布偏移时跌得越狠。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57200" y="1676400"/>
            <a:ext cx="11277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同分布下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Gemini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显著受益于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ICL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，但协变量偏移中却因被带偏而严重降级——展示了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MLLM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知识提取的双面性。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457200" y="2105025"/>
            <a:ext cx="5553075" cy="3019425"/>
          </a:xfrm>
          <a:prstGeom prst="roundRect">
            <a:avLst>
              <a:gd name="adj" fmla="val 5047"/>
            </a:avLst>
          </a:prstGeom>
          <a:gradFill>
            <a:gsLst>
              <a:gs pos="0">
                <a:srgbClr val="1E4FA8"/>
              </a:gs>
              <a:gs pos="100000">
                <a:srgbClr val="5B7FC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666750" y="2314575"/>
            <a:ext cx="116205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81050" y="2362200"/>
            <a:ext cx="933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FFFFF"/>
                </a:solidFill>
                <a:latin typeface="Microsoft YaHei"/>
                <a:ea typeface="Microsoft YaHei"/>
              </a:rPr>
              <a:t>GPT-4o · </a:t>
            </a:r>
            <a:r>
              <a:rPr lang="zh-CN" sz="825" b="1" spc="75">
                <a:solidFill>
                  <a:srgbClr val="FFFFFF"/>
                </a:solidFill>
                <a:latin typeface="Microsoft YaHei"/>
                <a:ea typeface="Microsoft YaHei"/>
              </a:rPr>
              <a:t>稳健派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66750" y="2676525"/>
            <a:ext cx="5133975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表现稳定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66750" y="3305175"/>
            <a:ext cx="513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C247"/>
                </a:solidFill>
                <a:latin typeface="Microsoft YaHei"/>
                <a:ea typeface="Microsoft YaHei"/>
              </a:rPr>
              <a:t>· IID </a:t>
            </a:r>
            <a:r>
              <a:rPr lang="zh-CN" sz="900" b="1">
                <a:solidFill>
                  <a:srgbClr val="FFC247"/>
                </a:solidFill>
                <a:latin typeface="Microsoft YaHei"/>
                <a:ea typeface="Microsoft YaHei"/>
              </a:rPr>
              <a:t>下提升小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66750" y="3829050"/>
            <a:ext cx="513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C247"/>
                </a:solidFill>
                <a:latin typeface="Microsoft YaHei"/>
                <a:ea typeface="Microsoft YaHei"/>
              </a:rPr>
              <a:t>· </a:t>
            </a:r>
            <a:r>
              <a:rPr lang="zh-CN" sz="900" b="1">
                <a:solidFill>
                  <a:srgbClr val="FFC247"/>
                </a:solidFill>
                <a:latin typeface="Microsoft YaHei"/>
                <a:ea typeface="Microsoft YaHei"/>
              </a:rPr>
              <a:t>偏移下下降轻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66750" y="4352925"/>
            <a:ext cx="513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C247"/>
                </a:solidFill>
                <a:latin typeface="Microsoft YaHei"/>
                <a:ea typeface="Microsoft YaHei"/>
              </a:rPr>
              <a:t>· </a:t>
            </a:r>
            <a:r>
              <a:rPr lang="zh-CN" sz="900" b="1">
                <a:solidFill>
                  <a:srgbClr val="FFC247"/>
                </a:solidFill>
                <a:latin typeface="Microsoft YaHei"/>
                <a:ea typeface="Microsoft YaHei"/>
              </a:rPr>
              <a:t>解读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181725" y="2105025"/>
            <a:ext cx="5553075" cy="3019425"/>
          </a:xfrm>
          <a:prstGeom prst="roundRect">
            <a:avLst>
              <a:gd name="adj" fmla="val 5047"/>
            </a:avLst>
          </a:prstGeom>
          <a:gradFill>
            <a:gsLst>
              <a:gs pos="0">
                <a:srgbClr val="FF8A4C"/>
              </a:gs>
              <a:gs pos="100000">
                <a:srgbClr val="FFC247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6391275" y="2314575"/>
            <a:ext cx="139065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505575" y="2362200"/>
            <a:ext cx="1162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FFFFF"/>
                </a:solidFill>
                <a:latin typeface="Microsoft YaHei"/>
                <a:ea typeface="Microsoft YaHei"/>
              </a:rPr>
              <a:t>Gemini-1.5 · </a:t>
            </a:r>
            <a:r>
              <a:rPr lang="zh-CN" sz="825" b="1" spc="75">
                <a:solidFill>
                  <a:srgbClr val="FFFFFF"/>
                </a:solidFill>
                <a:latin typeface="Microsoft YaHei"/>
                <a:ea typeface="Microsoft YaHei"/>
              </a:rPr>
              <a:t>易感派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391275" y="2676525"/>
            <a:ext cx="5133975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高敏感型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391275" y="3305175"/>
            <a:ext cx="513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A2230"/>
                </a:solidFill>
                <a:latin typeface="Microsoft YaHei"/>
                <a:ea typeface="Microsoft YaHei"/>
              </a:rPr>
              <a:t>· IID </a:t>
            </a:r>
            <a:r>
              <a:rPr lang="zh-CN" sz="900" b="1">
                <a:solidFill>
                  <a:srgbClr val="1A2230"/>
                </a:solidFill>
                <a:latin typeface="Microsoft YaHei"/>
                <a:ea typeface="Microsoft YaHei"/>
              </a:rPr>
              <a:t>下大幅提升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391275" y="3829050"/>
            <a:ext cx="513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A2230"/>
                </a:solidFill>
                <a:latin typeface="Microsoft YaHei"/>
                <a:ea typeface="Microsoft YaHei"/>
              </a:rPr>
              <a:t>· </a:t>
            </a:r>
            <a:r>
              <a:rPr lang="zh-CN" sz="900" b="1">
                <a:solidFill>
                  <a:srgbClr val="1A2230"/>
                </a:solidFill>
                <a:latin typeface="Microsoft YaHei"/>
                <a:ea typeface="Microsoft YaHei"/>
              </a:rPr>
              <a:t>偏移下严重跌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391275" y="4352925"/>
            <a:ext cx="513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A2230"/>
                </a:solidFill>
                <a:latin typeface="Microsoft YaHei"/>
                <a:ea typeface="Microsoft YaHei"/>
              </a:rPr>
              <a:t>· </a:t>
            </a:r>
            <a:r>
              <a:rPr lang="zh-CN" sz="900" b="1">
                <a:solidFill>
                  <a:srgbClr val="1A2230"/>
                </a:solidFill>
                <a:latin typeface="Microsoft YaHei"/>
                <a:ea typeface="Microsoft YaHei"/>
              </a:rPr>
              <a:t>解读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457200" y="5295900"/>
            <a:ext cx="11277600" cy="5715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1A2230"/>
              </a:gs>
              <a:gs pos="100000">
                <a:srgbClr val="2BC5C0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666750" y="53911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28675" y="5476875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219200" y="5457825"/>
            <a:ext cx="10306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研究问题被打开：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MLLM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应当如何区分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事实信息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 ICE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引入的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统计偏差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？何时该学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 ICE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，何时该无视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 ICE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？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66750" y="3505200"/>
            <a:ext cx="51339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从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 IID ICL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看，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GPT-4o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没有出现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 Gemini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那种明显的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借力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提升。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66750" y="4029075"/>
            <a:ext cx="51339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协变量偏移下最大相对降幅仅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en-US" sz="975" b="1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12.1%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66750" y="4552950"/>
            <a:ext cx="51339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GPT-4o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对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 ICE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的依赖有限，更接近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看图说话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，不容易被示例带偏。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391275" y="3505200"/>
            <a:ext cx="51339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Zero-shot 59.1% → IID ICL+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提升至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en-US" sz="975" b="1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68.9%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391275" y="4029075"/>
            <a:ext cx="51339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协变量偏移下平均准确率从最高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 57.0%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跌到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 28.0%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，相对下降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en-US" sz="975" b="1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50.88%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391275" y="4552950"/>
            <a:ext cx="51339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Gemini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倾向于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重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用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 ICE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，一旦示例有偏，可能学到伪相关而产生严重误判。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0" y="6562725"/>
            <a:ext cx="12192000" cy="2952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0" y="6553200"/>
            <a:ext cx="12192000" cy="304800"/>
          </a:xfrm>
          <a:custGeom>
            <a:pathLst>
              <a:path w="1280" h="3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381000" y="6638925"/>
            <a:ext cx="2333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COUNTS ·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跨域目标检测与多模态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grounding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1420475" y="66389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15 / 18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76" name="" descr="&lt;Slide padding={0}&gt;&#10;    &lt;Box style={{&#10;        width: '100%', height: '100%',&#10;        background: 'linear-gradient(135deg, #1A2230 0%, #1E4FA8 50%, #5B7FCE 100%)',&#10;        paddingLeft: 64, paddingRight: 64,&#10;        paddingTop: 48, paddingBottom: 48,&#10;        justifyContent: 'center',&#10;        alignItems: 'center',&#10;    }}&gt;&#10;        &lt;Box style={{&#10;            width: '100%', maxWidth: 960,&#10;            gap: 24,&#10;            alignItems: 'center',&#10;        }}&gt;&#10;            &lt;Box style={{&#10;                paddingLeft: 16, paddingRight: 16,&#10;                paddingTop: 8, paddingBottom: 8,&#10;                borderRadius: 16,&#10;                background: 'rgba(255,255,255,0.18)',&#10;                border: '1px solid rgba(255,255,255,0.4)',&#10;            }}&gt;&#10;                &lt;Text style={{ color: '#FFC247', fontSize: 14, fontWeight: 'bold', letterSpacing: 4 }}&gt;CHAPTER 05 · 结论&lt;/Text&gt;&#10;            &lt;/Box&gt;&#10;            &lt;Text style={{&#10;                color: '#FFFFFF', fontSize: 64,&#10;                fontWeight: 'bold', textAlign: 'center',&#10;                lineHeight: 1.3,&#10;            }}&gt;&#10;                把 OOD 评测&lt;br /&gt;推到真正困难的任务上&#10;            &lt;/Text&gt;&#10;            &lt;Box style={{&#10;                width: 100, height: 4,&#10;                borderRadius: 2, background: '#FFC247',&#10;            }} /&gt;&#10;            &lt;Box style={{&#10;                width: '100%', maxWidth: 880,&#10;                paddingLeft: 32, paddingRight: 32,&#10;                paddingTop: 24, paddingBottom: 24,&#10;                borderRadius: 18,&#10;                background: 'rgba(255,255,255,0.10)',&#10;                border: '1.5px solid rgba(255,255,255,0.32)',&#10;                gap: 14,&#10;            }}&gt;&#10;                &lt;Text style={{ color: '#FFC247', fontSize: 13, fontWeight: 'bold', letterSpacing: 2 }}&gt;TWO KEY CONCLUSIONS&lt;/Text&gt;&#10;                &lt;Text style={{ color: '#FFFFFF', fontSize: 22, lineHeight: 1.5 }}&gt;&#10;                    &lt;span style={{ fontWeight: 'bold' }}&gt;①&lt;/span&gt; 目标检测器在 IID 上变强，并不等于在 OOD 上也稳——head 优化与训练策略是关键。&#10;                &lt;/Text&gt;&#10;                &lt;Text style={{ color: '#FFFFFF', fontSize: 22, lineHeight: 1.5 }}&gt;&#10;                    &lt;span style={{ fontWeight: 'bold' }}&gt;②&lt;/span&gt; 多模态大模型的 ICL 是双刃剑——同分布下能帮忙，错配时反而把模型带偏。&#10;                &lt;/Text&gt;&#10;            &lt;/Box&gt;&#10;            &lt;Text style={{ color: '#FFFFFF', fontSize: 16, lineHeight: 1.6, opacity: 0.85, textAlign: 'center', maxWidth: 720 }}&gt;&#10;                COUNTS 让我们第一次能够系统考察目标检测和 grounding 在自然分布偏移下的真实能力——&#10;                这是推动鲁棒视觉系统走向真实部署的关键基础设施。&#10;            &lt;/Text&gt;&#10;        &lt;/Box&gt;&#10;    &lt;/Box&gt;&#10;    &lt;Box style={{&#10;        position: 'absolute', bottom: 0, left: 0, width: '100%', height: 36,&#10;        background: 'rgba(0,0,0,0.25)',&#10;        flexDirection: 'row', alignItems: 'center',&#10;        justifyContent: 'space-between',&#10;        paddingLeft: 40, paddingRight: 40,&#10;    }}&gt;&#10;        &lt;Text style={{ color: '#FFFFFF', fontSize: 12, letterSpacing: 1, opacity: 0.7 }}&gt;COUNTS · 结论&lt;/Text&gt;&#10;        &lt;Text style={{ color: '#FFFFFF', fontSize: 12, opacity: 0.7 }}&gt;16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2230"/>
              </a:gs>
              <a:gs pos="50000">
                <a:srgbClr val="1E4FA8"/>
              </a:gs>
              <a:gs pos="100000">
                <a:srgbClr val="5B7FC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5029200" y="542925"/>
            <a:ext cx="2133600" cy="314325"/>
          </a:xfrm>
          <a:prstGeom prst="roundRect">
            <a:avLst>
              <a:gd name="adj" fmla="val 48485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5181600" y="619125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FFC247"/>
                </a:solidFill>
                <a:latin typeface="Microsoft YaHei"/>
                <a:ea typeface="Microsoft YaHei"/>
              </a:rPr>
              <a:t>CHAPTER 05 · </a:t>
            </a:r>
            <a:r>
              <a:rPr lang="zh-CN" sz="1050" b="1" spc="300">
                <a:solidFill>
                  <a:srgbClr val="FFC247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3048000" y="1085850"/>
            <a:ext cx="6096000" cy="190500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把</a:t>
            </a: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> OOD </a:t>
            </a: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评测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推到真正困难的任务上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5619750" y="3219450"/>
            <a:ext cx="952500" cy="3810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1905000" y="3486150"/>
            <a:ext cx="8382000" cy="2019300"/>
          </a:xfrm>
          <a:prstGeom prst="roundRect">
            <a:avLst>
              <a:gd name="adj" fmla="val 8491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2209800" y="3714750"/>
            <a:ext cx="777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FFC247"/>
                </a:solidFill>
                <a:latin typeface="Microsoft YaHei"/>
                <a:ea typeface="Microsoft YaHei"/>
              </a:rPr>
              <a:t>TWO KEY CONCLUSIONS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2209800" y="4000500"/>
            <a:ext cx="77724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目标检测器在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 IID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上变强，并不等于在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 OOD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上也稳——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head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优化与训练策略是关键。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2209800" y="4895850"/>
            <a:ext cx="77724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多模态大模型的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 ICL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是双刃剑——同分布下能帮忙，错配时反而把模型带偏。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524000" y="5734050"/>
            <a:ext cx="9144000" cy="5905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0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COUNTS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让我们第一次能够系统考察目标检测和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grounding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在自然分布偏移下的真实能力——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这是推动鲁棒视觉系统走向真实部署的关键基础设施。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0" y="6515100"/>
            <a:ext cx="12192000" cy="3429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COUNTS · </a:t>
            </a:r>
            <a:r>
              <a:rPr lang="zh-CN" sz="900" spc="7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1420475" y="66198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16 / 18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90" name="" descr="&lt;Slide padding={0}&gt;&#10;    &lt;Box style={{&#10;        width: '100%', height: 80,&#10;        flexDirection: 'row', alignItems: 'center',&#10;        paddingLeft: 40, paddingRight: 40,&#10;        background: '#FFFFFF',&#10;        borderBottom: '2px solid #F0F5FC',&#10;    }}&gt;&#10;        &lt;Box style={{ width: 40, height: 4, borderRadius: 2, background: '#FFC247', marginRight: 14 }} /&gt;&#10;        &lt;Text style={{ color: '#FFC247', fontSize: 14, fontWeight: 'bold', letterSpacing: 2 }}&gt;CHAPTER 05 · 研究价值与应用&lt;/Text&gt;&#10;        &lt;Box style={{ flex: 1 }} /&gt;&#10;        &lt;Text style={{ color: '#8B97A8', fontSize: 13 }}&gt;页 17 / 18&lt;/Text&gt;&#10;    &lt;/Box&gt;&#10;    &lt;Box style={{&#10;        width: '100%', height: 560,&#10;        paddingLeft: 48, paddingRight: 48,&#10;        paddingTop: 22, paddingBottom: 22,&#10;        gap: 14,&#10;    }}&gt;&#10;        &lt;Box style={{ width: '100%', gap: 6 }}&gt;&#10;            &lt;Text style={{ color: '#1E4FA8', fontSize: 13, fontWeight: 'bold', letterSpacing: 3 }}&gt;BROADER IMPACT&lt;/Text&gt;&#10;            &lt;Text style={{ color: '#1A2230', fontSize: 30, fontWeight: 'bold' }}&gt;&#10;                从评测到真实部署：COUNTS 启发的下一步&#10;            &lt;/Text&gt;&#10;        &lt;/Box&gt;&#10;        &lt;Box style={{&#10;            width: '100%', height: 220,&#10;            borderRadius: 14,&#10;            background: 'linear-gradient(135deg, #F0F5FC 0%, #E8EFF8 100%)',&#10;            paddingTop: 18, paddingBottom: 18,&#10;            paddingLeft: 24, paddingRight: 24,&#10;            gap: 14,&#10;        }}&gt;&#10;            &lt;Box style={{ flexDirection: 'row', alignItems: 'center', justifyContent: 'space-between' }}&gt;&#10;                &lt;Text style={{ color: '#1E4FA8', fontSize: 14, fontWeight: 'bold', letterSpacing: 2 }}&gt;DEPLOYMENT SCENARIOS&lt;/Text&gt;&#10;                &lt;Box style={{&#10;                    paddingLeft: 10, paddingRight: 10,&#10;                    paddingTop: 4, paddingBottom: 4,&#10;                    borderRadius: 8, background: '#FFC247',&#10;                }}&gt;&#10;                    &lt;Text style={{ color: '#1A2230', fontSize: 11, fontWeight: 'bold', letterSpacing: 1 }}&gt;REAL-WORLD&lt;/Text&gt;&#10;                &lt;/Box&gt;&#10;            &lt;/Box&gt;&#10;            &lt;Box style={{ flexDirection: 'row', gap: 16 }}&gt;&#10;                {[&#10;                    { icon: '🚗', name: '自动驾驶', desc: '雪天/逆光/遮挡下仍需准确定位行人、车辆与障碍物', color: '#1E4FA8' },&#10;                    { icon: '🤖', name: '机器人具身智能', desc: '复杂背景与新场景下的视觉 grounding 对交互至关重要', color: '#2BC5C0' },&#10;                    { icon: '🎥', name: '智能监控', desc: '不同光照与天气下的目标识别与告警', color: '#FF8A4C' },&#10;                    { icon: '🛡️', name: '内容审核', desc: '对图片内容的细粒度 grounding 与违规判定', color: '#FFC247' },&#10;                ].map((s, i) =&gt; (&#10;                    &lt;Box key={i} style={{&#10;                        flex: 1, height: 110,&#10;                        borderRadius: 12,&#10;                        background: '#FFFFFF',&#10;                        border: `1.5px solid ${s.color}`,&#10;                        paddingTop: 14, paddingBottom: 14,&#10;                        paddingLeft: 14, paddingRight: 14,&#10;                        gap: 6,&#10;                    }}&gt;&#10;                        &lt;Box style={{ flexDirection: 'row', alignItems: 'center', gap: 8 }}&gt;&#10;                            &lt;Text style={{ fontSize: 24 }}&gt;{s.icon}&lt;/Text&gt;&#10;                            &lt;Text style={{ color: '#1A2230', fontSize: 16, fontWeight: 'bold' }}&gt;{s.name}&lt;/Text&gt;&#10;                        &lt;/Box&gt;&#10;                        &lt;Text style={{ color: '#4A5568', fontSize: 12, lineHeight: 1.5 }}&gt;{s.desc}&lt;/Text&gt;&#10;                    &lt;/Box&gt;&#10;                ))}&#10;            &lt;/Box&gt;&#10;        &lt;/Box&gt;&#10;        &lt;Box style={{ width: '100%', flex: 1, gap: 10 }}&gt;&#10;            &lt;Box style={{&#10;                width: '100%', height: 88,&#10;                borderRadius: 12,&#10;                background: 'linear-gradient(90deg, #1E4FA8 0%, #2BC5C0 100%)',&#10;                paddingLeft: 22, paddingRight: 22,&#10;                flexDirection: 'row', alignItems: 'center',&#10;                gap: 16,&#10;            }}&gt;&#10;                &lt;Box style={{&#10;                    width: 48, height: 48, borderRadius: 24,&#10;                    background: '#FFFFFF',&#10;                    justifyContent: 'center', alignItems: 'center',&#10;                }}&gt;&#10;                    &lt;Text style={{ color: '#1E4FA8', fontSize: 22, fontWeight: 'bold' }}&gt;↗&lt;/Text&gt;&#10;                &lt;/Box&gt;&#10;                &lt;Box style={{ gap: 2, flex: 1 }}&gt;&#10;                    &lt;Text style={{ color: '#FFC247', fontSize: 11, fontWeight: 'bold', letterSpacing: 2 }}&gt;NEXT STEPS&lt;/Text&gt;&#10;                    &lt;Text style={{ color: '#FFFFFF', fontSize: 16, lineHeight: 1.4 }}&gt;&#10;                        用 COUNTS 对 MLLM 进行 SFT，&lt;span style={{ fontWeight: 'bold' }}&gt;研究 SFT 阶段分布偏移的影响&lt;/span&gt;——&#10;                        本文尚未覆盖，但数据已就绪。&#10;                    &lt;/Text&gt;&#10;                &lt;/Box&gt;&#10;            &lt;/Box&gt;&#10;            &lt;Box style={{&#10;                width: '100%', height: 70,&#10;                borderRadius: 12,&#10;                background: '#FFFFFF',&#10;                border: '1.5px dashed #FFC247',&#10;                paddingLeft: 22, paddingRight: 22,&#10;                flexDirection: 'row', alignItems: 'center',&#10;                gap: 16,&#10;            }}&gt;&#10;                &lt;Box style={{&#10;                    paddingLeft: 10, paddingRight: 10,&#10;                    paddingTop: 4, paddingBottom: 4,&#10;                    borderRadius: 8, background: '#FFC247',&#10;                }}&gt;&#10;                    &lt;Text style={{ color: '#1A2230', fontSize: 11, fontWeight: 'bold', letterSpacing: 1 }}&gt;TAKEAWAY&lt;/Text&gt;&#10;                &lt;/Box&gt;&#10;                &lt;Text style={{ color: '#1A2230', fontSize: 14, lineHeight: 1.5, flex: 1 }}&gt;&#10;                    鲁棒视觉系统的下一步，不是堆更大模型，而是&lt;span style={{ fontWeight: 'bold', color: '#1E4FA8' }}&gt;对偏移本身给出可信评测与针对性缓解&lt;/span&gt;。&#10;                &lt;/Text&gt;&#10;            &lt;/Box&gt;&#10;        &lt;/Box&gt;&#10;    &lt;/Box&gt;&#10;    &lt;Box style={{&#10;        position: 'absolute', bottom: 0, left: 0, width: '100%', height: 32,&#10;        background: '#F7F9FC',&#10;        flexDirection: 'row', alignItems: 'center',&#10;        justifyContent: 'space-between',&#10;        paddingLeft: 40, paddingRight: 40,&#10;        borderTop: '1px solid #E5E7EB',&#10;    }}&gt;&#10;        &lt;Text style={{ color: '#8B97A8', fontSize: 12 }}&gt;COUNTS · 跨域目标检测与多模态 grounding&lt;/Text&gt;&#10;        &lt;Text style={{ color: '#4A5568', fontSize: 12 }}&gt;17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 rot="0" flipH="0" flipV="0"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0" y="0"/>
            <a:ext cx="12192000" cy="762000"/>
          </a:xfrm>
          <a:custGeom>
            <a:pathLst>
              <a:path w="1280" h="80">
                <a:moveTo>
                  <a:pt x="0" y="78"/>
                </a:moveTo>
                <a:lnTo>
                  <a:pt x="1280" y="78"/>
                </a:lnTo>
                <a:lnTo>
                  <a:pt x="1280" y="80"/>
                </a:lnTo>
                <a:lnTo>
                  <a:pt x="0" y="80"/>
                </a:lnTo>
                <a:close/>
              </a:path>
            </a:pathLst>
          </a:custGeom>
          <a:solidFill>
            <a:srgbClr val="F0F5FC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381000" y="352425"/>
            <a:ext cx="381000" cy="3810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95350" y="295275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C247"/>
                </a:solidFill>
                <a:latin typeface="Microsoft YaHei"/>
                <a:ea typeface="Microsoft YaHei"/>
              </a:rPr>
              <a:t>CHAPTER 05 · </a:t>
            </a:r>
            <a:r>
              <a:rPr lang="zh-CN" sz="1050" b="1" spc="150">
                <a:solidFill>
                  <a:srgbClr val="FFC247"/>
                </a:solidFill>
                <a:latin typeface="Microsoft YaHei"/>
                <a:ea typeface="Microsoft YaHei"/>
              </a:rPr>
              <a:t>研究价值与应用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1229975" y="295275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页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17 / 18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57200" y="971550"/>
            <a:ext cx="11277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1E4FA8"/>
                </a:solidFill>
                <a:latin typeface="Microsoft YaHei"/>
                <a:ea typeface="Microsoft YaHei"/>
              </a:rPr>
              <a:t>BROADER IMPACT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57200" y="1181100"/>
            <a:ext cx="11277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从评测到真实部署：</a:t>
            </a:r>
            <a:r>
              <a:rPr lang="en-US" sz="2250" b="1">
                <a:solidFill>
                  <a:srgbClr val="1A2230"/>
                </a:solidFill>
                <a:latin typeface="Microsoft YaHei"/>
                <a:ea typeface="Microsoft YaHei"/>
              </a:rPr>
              <a:t>COUNTS </a:t>
            </a: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启发的下一步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457200" y="1657350"/>
            <a:ext cx="11277600" cy="2095500"/>
          </a:xfrm>
          <a:prstGeom prst="roundRect">
            <a:avLst>
              <a:gd name="adj" fmla="val 6364"/>
            </a:avLst>
          </a:prstGeom>
          <a:gradFill>
            <a:gsLst>
              <a:gs pos="0">
                <a:srgbClr val="F0F5FC"/>
              </a:gs>
              <a:gs pos="100000">
                <a:srgbClr val="E8EFF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85800" y="1857375"/>
            <a:ext cx="2162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1E4FA8"/>
                </a:solidFill>
                <a:latin typeface="Microsoft YaHei"/>
                <a:ea typeface="Microsoft YaHei"/>
              </a:rPr>
              <a:t>DEPLOYMENT SCENARIOS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10487025" y="1828800"/>
            <a:ext cx="1019175" cy="209550"/>
          </a:xfrm>
          <a:prstGeom prst="roundRect">
            <a:avLst>
              <a:gd name="adj" fmla="val 36364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0582275" y="1866900"/>
            <a:ext cx="828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1A2230"/>
                </a:solidFill>
                <a:latin typeface="Microsoft YaHei"/>
                <a:ea typeface="Microsoft YaHei"/>
              </a:rPr>
              <a:t>REAL-WORLD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685800" y="2171700"/>
            <a:ext cx="25908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19150" y="2305050"/>
            <a:ext cx="314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chemeClr val="tx1"/>
                </a:solidFill>
                <a:latin typeface="Microsoft YaHei"/>
                <a:ea typeface="Microsoft YaHei"/>
              </a:rPr>
              <a:t>🚗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209675" y="23526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自动驾驶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19150" y="2638425"/>
            <a:ext cx="23241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雪天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逆光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遮挡下仍需准确定位行人、车辆与障碍物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3429000" y="2171700"/>
            <a:ext cx="25908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BC5C0"/>
            </a:solidFill>
            <a:prstDash val="solid"/>
          </a:ln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3562350" y="2305050"/>
            <a:ext cx="314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chemeClr val="tx1"/>
                </a:solidFill>
                <a:latin typeface="Microsoft YaHei"/>
                <a:ea typeface="Microsoft YaHei"/>
              </a:rPr>
              <a:t>🤖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3952875" y="235267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机器人具身智能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3562350" y="2638425"/>
            <a:ext cx="23241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复杂背景与新场景下的视觉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 grounding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对交互至关重要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6172200" y="2171700"/>
            <a:ext cx="25908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FF8A4C"/>
            </a:solidFill>
            <a:prstDash val="solid"/>
          </a:ln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305550" y="2305050"/>
            <a:ext cx="314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chemeClr val="tx1"/>
                </a:solidFill>
                <a:latin typeface="Microsoft YaHei"/>
                <a:ea typeface="Microsoft YaHei"/>
              </a:rPr>
              <a:t>🎥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696075" y="23526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智能监控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305550" y="2638425"/>
            <a:ext cx="23241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不同光照与天气下的目标识别与告警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8915400" y="2171700"/>
            <a:ext cx="25908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FFC247"/>
            </a:solidFill>
            <a:prstDash val="solid"/>
          </a:ln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9048750" y="2305050"/>
            <a:ext cx="314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chemeClr val="tx1"/>
                </a:solidFill>
                <a:latin typeface="Microsoft YaHei"/>
                <a:ea typeface="Microsoft YaHei"/>
              </a:rPr>
              <a:t>🛡️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439275" y="23526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内容审核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9048750" y="2638425"/>
            <a:ext cx="23241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对图片内容的细粒度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 grounding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与违规判定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457200" y="3886200"/>
            <a:ext cx="11277600" cy="83820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1E4FA8"/>
              </a:gs>
              <a:gs pos="100000">
                <a:srgbClr val="2BC5C0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666750" y="40767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90575" y="41814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1E4FA8"/>
                </a:solidFill>
                <a:latin typeface="Microsoft YaHei"/>
                <a:ea typeface="Microsoft YaHei"/>
              </a:rPr>
              <a:t>↗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276350" y="4105275"/>
            <a:ext cx="10248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50">
                <a:solidFill>
                  <a:srgbClr val="FFC247"/>
                </a:solidFill>
                <a:latin typeface="Microsoft YaHei"/>
                <a:ea typeface="Microsoft YaHei"/>
              </a:rPr>
              <a:t>NEXT STEPS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276350" y="4257675"/>
            <a:ext cx="102489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用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 COUNTS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对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 MLLM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进行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 SFT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研究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SFT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阶段分布偏移的影响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——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本文尚未覆盖，但数据已就绪。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457200" y="4819650"/>
            <a:ext cx="112776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FFC247"/>
            </a:solidFill>
            <a:prstDash val="dash"/>
          </a:ln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666750" y="5048250"/>
            <a:ext cx="885825" cy="209550"/>
          </a:xfrm>
          <a:prstGeom prst="roundRect">
            <a:avLst>
              <a:gd name="adj" fmla="val 36364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62000" y="5086350"/>
            <a:ext cx="695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1A2230"/>
                </a:solidFill>
                <a:latin typeface="Microsoft YaHei"/>
                <a:ea typeface="Microsoft YaHei"/>
              </a:rPr>
              <a:t>TAKEAWAY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704975" y="5029200"/>
            <a:ext cx="98202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鲁棒视觉系统的下一步，不是堆更大模型，而是</a:t>
            </a:r>
            <a:r>
              <a:rPr lang="zh-CN" sz="1050" b="1">
                <a:solidFill>
                  <a:srgbClr val="1E4FA8"/>
                </a:solidFill>
                <a:latin typeface="Microsoft YaHei"/>
                <a:ea typeface="Microsoft YaHei"/>
              </a:rPr>
              <a:t>对偏移本身给出可信评测与针对性缓解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0" y="6562725"/>
            <a:ext cx="12192000" cy="2952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0" y="6553200"/>
            <a:ext cx="12192000" cy="304800"/>
          </a:xfrm>
          <a:custGeom>
            <a:pathLst>
              <a:path w="1280" h="3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381000" y="6638925"/>
            <a:ext cx="2333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COUNTS ·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跨域目标检测与多模态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grounding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11420475" y="66389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17 / 18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31" name="" descr="&lt;Slide padding={0}&gt;&#10;    &lt;Box style={{&#10;        width: '100%', height: '100%',&#10;        background: 'linear-gradient(135deg, #1E4FA8 0%, #5B7FCE 60%, #2BC5C0 100%)',&#10;        justifyContent: 'center',&#10;        alignItems: 'center',&#10;        paddingTop: 60, paddingBottom: 60,&#10;        paddingLeft: 60, paddingRight: 60,&#10;    }}&gt;&#10;        &lt;Box style={{&#10;            width: '100%', maxWidth: 880,&#10;            gap: 24,&#10;            alignItems: 'center',&#10;        }}&gt;&#10;            &lt;Box style={{&#10;                width: 88, height: 88, borderRadius: 44,&#10;                background: 'rgba(255,255,255,0.2)',&#10;                border: '2px solid rgba(255,255,255,0.5)',&#10;                justifyContent: 'center', alignItems: 'center',&#10;            }}&gt;&#10;                &lt;Text style={{ color: '#FFFFFF', fontSize: 36, fontWeight: 'bold' }}&gt;?&lt;/Text&gt;&#10;            &lt;/Box&gt;&#10;            &lt;Text style={{ color: '#FFFFFF', fontSize: 22, opacity: 0.85, letterSpacing: 4 }}&gt;Q &amp; A&lt;/Text&gt;&#10;            &lt;Text style={{&#10;                color: '#FFFFFF', fontSize: 88,&#10;                fontWeight: 'bold', textAlign: 'center',&#10;                lineHeight: 1.1,&#10;            }}&gt;&#10;                感谢聆听&#10;            &lt;/Text&gt;&#10;            &lt;Text style={{&#10;                color: '#FFFFFF', fontSize: 18,&#10;                textAlign: 'center',&#10;                opacity: 0.9, lineHeight: 1.6, maxWidth: 600,&#10;            }}&gt;&#10;                欢迎讨论：在你自己的下游任务里，COUNTS 是否能帮你评估 OOD 风险？&#10;            &lt;/Text&gt;&#10;            &lt;Box style={{ width: 100, height: 4, borderRadius: 2, background: '#FFC247' }} /&gt;&#10;            &lt;Box style={{&#10;                width: '100%',&#10;                paddingTop: 22, paddingBottom: 22,&#10;                paddingLeft: 30, paddingRight: 30,&#10;                borderRadius: 16,&#10;                background: 'rgba(255,255,255,0.12)',&#10;                border: '1.5px solid rgba(255,255,255,0.32)',&#10;                gap: 12,&#10;            }}&gt;&#10;                &lt;Text style={{ color: '#FFC247', fontSize: 12, fontWeight: 'bold', letterSpacing: 3, textAlign: 'center' }}&gt;RESOURCES&lt;/Text&gt;&#10;                &lt;Box style={{ flexDirection: 'row', alignItems: 'center', justifyContent: 'space-between', gap: 20 }}&gt;&#10;                    &lt;Box style={{ gap: 4 }}&gt;&#10;                        &lt;Text style={{ color: '#FFFFFF', fontSize: 11, opacity: 0.7, letterSpacing: 2 }}&gt;PAPER&lt;/Text&gt;&#10;                        &lt;Text style={{ color: '#FFFFFF', fontSize: 16, fontWeight: 'bold' }}&gt;arXiv:2504.10158&lt;/Text&gt;&#10;                    &lt;/Box&gt;&#10;                    &lt;Box style={{ width: 1, height: 36, background: 'rgba(255,255,255,0.3)' }} /&gt;&#10;                    &lt;Box style={{ gap: 4 }}&gt;&#10;                        &lt;Text style={{ color: '#FFFFFF', fontSize: 11, opacity: 0.7, letterSpacing: 2 }}&gt;CODE&lt;/Text&gt;&#10;                        &lt;Text style={{ color: '#FFFFFF', fontSize: 14, fontWeight: 600 }}&gt;github.com/jiansheng-li/&lt;br /&gt;COUNTS_benchmark&lt;/Text&gt;&#10;                    &lt;/Box&gt;&#10;                    &lt;Box style={{ width: 1, height: 36, background: 'rgba(255,255,255,0.3)' }} /&gt;&#10;                    &lt;Box style={{ gap: 4 }}&gt;&#10;                        &lt;Text style={{ color: '#FFFFFF', fontSize: 11, opacity: 0.7, letterSpacing: 2 }}&gt;DATASET&lt;/Text&gt;&#10;                        &lt;Text style={{ color: '#FFFFFF', fontSize: 14, fontWeight: 600 }}&gt;huggingface.co/&lt;br /&gt;jianshengli/COUNTS&lt;/Text&gt;&#10;                    &lt;/Box&gt;&#10;                &lt;/Box&gt;&#10;            &lt;/Box&gt;&#10;            &lt;Text style={{ color: '#FFFFFF', fontSize: 14, textAlign: 'center', opacity: 0.7, marginTop: 16 }}&gt;&#10;                论文作者：Jiansheng Li, Xingxuan Zhang, Hao Zou 等 · 清华大学计算机科学系&#10;            &lt;/Text&gt;&#10;        &lt;/Box&gt;&#10;    &lt;/Box&gt;&#10;    &lt;Box style={{&#10;        position: 'absolute', bottom: 0, left: 0, width: '100%', height: 36,&#10;        background: 'rgba(0,0,0,0.2)',&#10;        flexDirection: 'row', alignItems: 'center',&#10;        justifyContent: 'space-between',&#10;        paddingLeft: 40, paddingRight: 40,&#10;    }}&gt;&#10;        &lt;Text style={{ color: '#FFFFFF', fontSize: 12, letterSpacing: 1, opacity: 0.7 }}&gt;COUNTS · 论文汇报 · 结束&lt;/Text&gt;&#10;        &lt;Text style={{ color: '#FFFFFF', fontSize: 12, opacity: 0.7 }}&gt;18 / 18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4FA8"/>
              </a:gs>
              <a:gs pos="60000">
                <a:srgbClr val="5B7FCE"/>
              </a:gs>
              <a:gs pos="100000">
                <a:srgbClr val="2BC5C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5676900" y="714375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254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010275" y="923925"/>
            <a:ext cx="1714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FFFFF"/>
                </a:solidFill>
                <a:latin typeface="Microsoft YaHei"/>
                <a:ea typeface="Microsoft YaHei"/>
              </a:rPr>
              <a:t>?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419600" y="2266950"/>
            <a:ext cx="3352800" cy="1114425"/>
          </a:xfrm>
          <a:prstGeom prst="rect"/>
        </p:spPr>
        <p:txBody>
          <a:bodyPr wrap="none" lIns="0" tIns="0" rIns="0" bIns="0"/>
          <a:p>
            <a:pPr algn="ctr">
              <a:lnSpc>
                <a:spcPct val="110000"/>
              </a:lnSpc>
            </a:pPr>
            <a:r>
              <a:rPr lang="zh-CN" sz="6600" b="1">
                <a:solidFill>
                  <a:srgbClr val="FFFFFF"/>
                </a:solidFill>
                <a:latin typeface="Microsoft YaHei"/>
                <a:ea typeface="Microsoft YaHei"/>
              </a:rPr>
              <a:t>感谢聆听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5619750" y="4171950"/>
            <a:ext cx="952500" cy="38100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/>
        </p:spPr>
        <p:txBody>
          <a:bodyPr/>
          <a:p/>
        </p:txBody>
      </p:sp>
      <p:sp>
        <p:nvSpPr>
          <p:cNvPr id="337" name=""/>
          <p:cNvSpPr/>
          <p:nvPr/>
        </p:nvSpPr>
        <p:spPr>
          <a:xfrm rot="0" flipH="0" flipV="0">
            <a:off x="1905000" y="4438650"/>
            <a:ext cx="8382000" cy="1171575"/>
          </a:xfrm>
          <a:prstGeom prst="roundRect">
            <a:avLst>
              <a:gd name="adj" fmla="val 13008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2190750" y="4648200"/>
            <a:ext cx="78105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 spc="225">
                <a:solidFill>
                  <a:srgbClr val="FFC247"/>
                </a:solidFill>
                <a:latin typeface="Microsoft YaHei"/>
                <a:ea typeface="Microsoft YaHei"/>
              </a:rPr>
              <a:t>RESOURCES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2190750" y="5143500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arXiv:2504.10158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4371975" y="4981575"/>
            <a:ext cx="9525" cy="3429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5238750" y="5076825"/>
            <a:ext cx="16859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github.com/jiansheng-li/</a:t>
            </a:r>
            <a:endParaRPr/>
          </a:p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COUNTS_benchmark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7772400" y="4981575"/>
            <a:ext cx="9525" cy="3429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629650" y="5076825"/>
            <a:ext cx="13716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huggingface.co/</a:t>
            </a:r>
            <a:endParaRPr/>
          </a:p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jianshengli/COUNTS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686425" y="1781175"/>
            <a:ext cx="819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3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Q &amp; A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3228975" y="3609975"/>
            <a:ext cx="5743575" cy="3333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欢迎讨论：在你自己的下游任务里，</a:t>
            </a:r>
            <a:r>
              <a:rPr lang="en-US"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COUNTS </a:t>
            </a:r>
            <a:r>
              <a:rPr lang="zh-CN"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是否能帮你评估</a:t>
            </a:r>
            <a:r>
              <a:rPr lang="en-US"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OOD </a:t>
            </a:r>
            <a:r>
              <a:rPr lang="zh-CN"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风险？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2190750" y="4972050"/>
            <a:ext cx="1333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PAPER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238750" y="4905375"/>
            <a:ext cx="16859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CODE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629650" y="4905375"/>
            <a:ext cx="137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DATASET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3695700" y="5991225"/>
            <a:ext cx="48006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论文作者：</a:t>
            </a:r>
            <a:r>
              <a:rPr lang="en-US" sz="10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Jiansheng Li, Xingxuan Zhang, Hao Zou </a:t>
            </a:r>
            <a:r>
              <a:rPr lang="zh-CN" sz="10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等</a:t>
            </a:r>
            <a:r>
              <a:rPr lang="en-US" sz="10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清华大学计算机科学系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0" y="6515100"/>
            <a:ext cx="12192000" cy="3429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1533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COUNTS · </a:t>
            </a:r>
            <a:r>
              <a:rPr lang="zh-CN" sz="900" spc="7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论文汇报</a:t>
            </a:r>
            <a:r>
              <a:rPr lang="en-US" sz="900" spc="7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00" spc="7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结束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11420475" y="66198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18 / 18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2026-08-05T12:17:18Z</dcterms:created>
  <dcterms:modified xsi:type="dcterms:W3CDTF">2026-08-05T12:17:18Z</dcterms:modified>
</cp:coreProperties>
</file>