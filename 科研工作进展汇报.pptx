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6" r:id="rId15"/>
    <p:sldId id="267" r:id="rId16"/>
    <p:sldId id="268" r:id="rId17"/>
    <p:sldId id="269" r:id="rId18"/>
    <p:sldId id="270" r:id="rId19"/>
    <p:sldId id="271" r:id="rId20"/>
    <p:sldId id="277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各位老师、同学好，今天汇报近期围绕牛只目标检测数据集、CowCV 平台和跨域泛化实验的科研工作进展。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汇报分为四部分：背景目标、数据和平台、实验结果、方法储备与计划。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第一部分说明为什么当前阶段不只做数据收集，而要推进到跨数据集泛化评测。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牛只目标检测是智慧畜牧的基础任务，但真实部署中的域差异非常明显。当前要让整理好的数据支撑可比较的泛化实验。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阶段性工作可以概括成三条线：数据、平台和实验。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第二部分进入数据整理和平台建设。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新数据集覆盖的视觉域差异比较明显，为后续跨域泛化实验提供基础。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处理流程的重点是先统一格式和验证可学性，再进入跨域分析。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实验设计的核心公平性是训练图片总量相同，用来比较数据多样性和单域专精训练哪个更重要。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CowCV 平台现在不仅完成镜像构建，也已经能在本机访问前端页面和 FastAPI Swagger 文档。下一页展示实际运行截图。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CowCV 平台现在不仅完成镜像构建，也已经能在本机访问前端页面和 FastAPI Swagger 文档。下一页展示实际运行截图。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第三部分进入实验结果。核心结论是混合训练在已覆盖域上效果很好，但面对完全未见域仍然不够。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单数据集模型有明显本域优势，但跨域平均表现不稳定。Merged 模型只用了每个数据集 150 张，却在四个测试集上保持高分。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旧数据集自训练验证显示这些数据本身可学，所以跨域低分主要来自没有覆盖到的场景分布。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YOLOv8m 能提升已覆盖域和定位精度，但面对没见过的域提升有限。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这页补充方法和框架掌握情况，说明目前已经具备完成目标检测实验闭环的基础能力。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YOLOv8m 能提升已覆盖域和定位精度，但面对没见过的域提升有限。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当前问题主要是数据域覆盖和 benchmark 深度。下一步可以先完成平台部署和 LODO 实验，再扩展更多模型。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总结来说，当前工作已经从数据整理推进到了可验证的实验阶段。关键发现是数据多样性很重要，但未知域泛化仍然是下一步要解决的问题。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以上是本阶段科研工作进展汇报，请各位老师和同学批评指正。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/>
      <p:sp>
        <p:nvSpPr>
          <p:cNvPr id="10" name="梯形 9"/>
          <p:cNvSpPr>
            <a:spLocks noGrp="1"/>
          </p:cNvSpPr>
          <p:nvPr/>
        </p:nvSpPr>
        <p:spPr>
          <a:xfrm rot="16200000">
            <a:off x="72797" y="79396"/>
            <a:ext cx="375889" cy="808817"/>
          </a:xfrm>
          <a:prstGeom prst="trapezoid">
            <a:avLst>
              <a:gd name="adj" fmla="val 7230"/>
            </a:avLst>
          </a:prstGeom>
          <a:gradFill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梯形 10"/>
          <p:cNvSpPr>
            <a:spLocks noGrp="1"/>
          </p:cNvSpPr>
          <p:nvPr/>
        </p:nvSpPr>
        <p:spPr>
          <a:xfrm rot="16200000">
            <a:off x="57549" y="238020"/>
            <a:ext cx="267255" cy="669682"/>
          </a:xfrm>
          <a:prstGeom prst="trapezoid">
            <a:avLst>
              <a:gd name="adj" fmla="val 7230"/>
            </a:avLst>
          </a:prstGeom>
          <a:gradFill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" name="Picture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264"/>
          <a:stretch>
            <a:fillRect/>
          </a:stretch>
        </p:blipFill>
        <p:spPr>
          <a:xfrm>
            <a:off x="11263773" y="205156"/>
            <a:ext cx="635716" cy="627680"/>
          </a:xfrm>
          <a:prstGeom prst="rect">
            <a:avLst/>
          </a:prstGeom>
        </p:spPr>
      </p:pic>
      <p:sp>
        <p:nvSpPr>
          <p:cNvPr id="13" name="灯片编号占位符 5"/>
          <p:cNvSpPr>
            <a:spLocks noGrp="1"/>
          </p:cNvSpPr>
          <p:nvPr>
            <p:ph type="sldNum" idx="4"/>
          </p:nvPr>
        </p:nvSpPr>
        <p:spPr>
          <a:xfrm>
            <a:off x="9332976" y="6474587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 hasCustomPrompt="1"/>
          </p:nvPr>
        </p:nvSpPr>
        <p:spPr/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/>
      <p:sp>
        <p:nvSpPr>
          <p:cNvPr id="10" name="梯形 9"/>
          <p:cNvSpPr>
            <a:spLocks noGrp="1"/>
          </p:cNvSpPr>
          <p:nvPr/>
        </p:nvSpPr>
        <p:spPr>
          <a:xfrm rot="16200000">
            <a:off x="72797" y="79396"/>
            <a:ext cx="375889" cy="808817"/>
          </a:xfrm>
          <a:prstGeom prst="trapezoid">
            <a:avLst>
              <a:gd name="adj" fmla="val 7230"/>
            </a:avLst>
          </a:prstGeom>
          <a:gradFill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梯形 10"/>
          <p:cNvSpPr>
            <a:spLocks noGrp="1"/>
          </p:cNvSpPr>
          <p:nvPr/>
        </p:nvSpPr>
        <p:spPr>
          <a:xfrm rot="16200000">
            <a:off x="57549" y="238020"/>
            <a:ext cx="267255" cy="669682"/>
          </a:xfrm>
          <a:prstGeom prst="trapezoid">
            <a:avLst>
              <a:gd name="adj" fmla="val 7230"/>
            </a:avLst>
          </a:prstGeom>
          <a:gradFill rotWithShape="0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" name="Picture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264"/>
          <a:stretch>
            <a:fillRect/>
          </a:stretch>
        </p:blipFill>
        <p:spPr>
          <a:xfrm>
            <a:off x="11263773" y="205156"/>
            <a:ext cx="635716" cy="627680"/>
          </a:xfrm>
          <a:prstGeom prst="rect">
            <a:avLst/>
          </a:prstGeom>
        </p:spPr>
      </p:pic>
      <p:sp>
        <p:nvSpPr>
          <p:cNvPr id="13" name="灯片编号占位符 5"/>
          <p:cNvSpPr>
            <a:spLocks noGrp="1"/>
          </p:cNvSpPr>
          <p:nvPr>
            <p:ph type="sldNum" idx="4"/>
          </p:nvPr>
        </p:nvSpPr>
        <p:spPr>
          <a:xfrm>
            <a:off x="9332976" y="6474587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 hasCustomPrompt="1"/>
          </p:nvPr>
        </p:nvSpPr>
        <p:spPr/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9332976" y="6474587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1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9332976" y="6474587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1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3"/>
          <p:cNvPicPr>
            <a:picLocks noChangeAspect="1"/>
          </p:cNvPicPr>
          <p:nvPr/>
        </p:nvPicPr>
        <p:blipFill rotWithShape="1">
          <a:blip r:embed="rId1"/>
          <a:srcRect l="9375" t="39498" r="10496" b="1702"/>
          <a:stretch>
            <a:fillRect/>
          </a:stretch>
        </p:blipFill>
        <p:spPr>
          <a:xfrm>
            <a:off x="0" y="0"/>
            <a:ext cx="12192000" cy="3349519"/>
          </a:xfrm>
          <a:prstGeom prst="rect">
            <a:avLst/>
          </a:prstGeom>
        </p:spPr>
      </p:pic>
      <p:sp>
        <p:nvSpPr>
          <p:cNvPr id="5" name="文本框 4"/>
          <p:cNvSpPr>
            <a:spLocks noGrp="1"/>
          </p:cNvSpPr>
          <p:nvPr/>
        </p:nvSpPr>
        <p:spPr>
          <a:xfrm>
            <a:off x="2084438" y="3946378"/>
            <a:ext cx="8023123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cap="none">
                <a:ln>
                  <a:noFill/>
                </a:ln>
                <a:solidFill>
                  <a:srgbClr val="006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科研工作进展</a:t>
            </a:r>
            <a:endParaRPr sz="5400" b="1" i="0" u="none" cap="none">
              <a:ln>
                <a:noFill/>
              </a:ln>
              <a:solidFill>
                <a:srgbClr val="006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3339894"/>
            <a:ext cx="12192000" cy="1290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3270038"/>
            <a:ext cx="12192000" cy="12904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3690395" y="5762260"/>
            <a:ext cx="481121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李宇骁 | 2026/7</a:t>
            </a:r>
            <a:endParaRPr sz="1800" b="0" i="0" u="none" cap="none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1"/>
          <p:cNvSpPr>
            <a:spLocks noGrp="1"/>
          </p:cNvSpPr>
          <p:nvPr/>
        </p:nvSpPr>
        <p:spPr>
          <a:xfrm>
            <a:off x="388427" y="0"/>
            <a:ext cx="4011561" cy="6858000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9" name="图片 15"/>
          <p:cNvPicPr>
            <a:picLocks noChangeAspect="1"/>
          </p:cNvPicPr>
          <p:nvPr/>
        </p:nvPicPr>
        <p:blipFill>
          <a:blip r:embed="rId1"/>
          <a:srcRect l="21836" r="37185"/>
          <a:stretch>
            <a:fillRect/>
          </a:stretch>
        </p:blipFill>
        <p:spPr>
          <a:xfrm>
            <a:off x="0" y="0"/>
            <a:ext cx="4215539" cy="6858000"/>
          </a:xfrm>
        </p:spPr>
      </p:pic>
      <p:sp>
        <p:nvSpPr>
          <p:cNvPr id="19" name="圆角矩形 1"/>
          <p:cNvSpPr>
            <a:spLocks noGrp="1"/>
          </p:cNvSpPr>
          <p:nvPr/>
        </p:nvSpPr>
        <p:spPr>
          <a:xfrm>
            <a:off x="0" y="0"/>
            <a:ext cx="4215539" cy="6858000"/>
          </a:xfrm>
          <a:prstGeom prst="roundRect">
            <a:avLst>
              <a:gd name="adj" fmla="val 0"/>
            </a:avLst>
          </a:prstGeom>
          <a:solidFill>
            <a:schemeClr val="accent1">
              <a:alpha val="60000"/>
            </a:schemeClr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文本框 104"/>
          <p:cNvSpPr>
            <a:spLocks noGrp="1"/>
          </p:cNvSpPr>
          <p:nvPr/>
        </p:nvSpPr>
        <p:spPr>
          <a:xfrm>
            <a:off x="1235075" y="2818465"/>
            <a:ext cx="18430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0" i="0" u="none" cap="none" spc="0">
                <a:ln>
                  <a:noFill/>
                </a:ln>
                <a:solidFill>
                  <a:prstClr val="white"/>
                </a:solidFill>
                <a:latin typeface="思源黑体 CN Bold"/>
                <a:ea typeface="思源黑体 CN Bold"/>
                <a:cs typeface="思源黑体 CN Bold"/>
              </a:rPr>
              <a:t>目录</a:t>
            </a:r>
            <a:endParaRPr sz="6000" b="0" i="0" u="none" cap="none" spc="0">
              <a:ln>
                <a:noFill/>
              </a:ln>
              <a:solidFill>
                <a:prstClr val="white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06" name="文本框 105"/>
          <p:cNvSpPr>
            <a:spLocks noGrp="1"/>
          </p:cNvSpPr>
          <p:nvPr/>
        </p:nvSpPr>
        <p:spPr>
          <a:xfrm>
            <a:off x="1354649" y="3700981"/>
            <a:ext cx="1536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white"/>
                </a:solidFill>
                <a:latin typeface="思源黑体 CN Light"/>
                <a:ea typeface="思源黑体 CN Light"/>
                <a:cs typeface="思源黑体 CN Light"/>
              </a:rPr>
              <a:t>CONTENTS</a:t>
            </a:r>
            <a:endParaRPr sz="1600" b="0" i="0" u="none" cap="none" spc="0">
              <a:ln>
                <a:noFill/>
              </a:ln>
              <a:solidFill>
                <a:prstClr val="whit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 flipV="1">
            <a:off x="2890500" y="2149889"/>
            <a:ext cx="844416" cy="6304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/>
          <p:cNvSpPr>
            <a:spLocks noGrp="1"/>
          </p:cNvSpPr>
          <p:nvPr/>
        </p:nvSpPr>
        <p:spPr>
          <a:xfrm flipV="1">
            <a:off x="497050" y="4244942"/>
            <a:ext cx="569277" cy="42499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/>
          <p:cNvSpPr>
            <a:spLocks noGrp="1"/>
          </p:cNvSpPr>
          <p:nvPr/>
        </p:nvSpPr>
        <p:spPr>
          <a:xfrm flipV="1">
            <a:off x="1038335" y="4065446"/>
            <a:ext cx="452566" cy="3378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/>
          <p:cNvSpPr>
            <a:spLocks noGrp="1"/>
          </p:cNvSpPr>
          <p:nvPr/>
        </p:nvSpPr>
        <p:spPr>
          <a:xfrm flipV="1">
            <a:off x="2943108" y="2543622"/>
            <a:ext cx="452566" cy="3378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矩形 1"/>
          <p:cNvSpPr>
            <a:spLocks noGrp="1"/>
          </p:cNvSpPr>
          <p:nvPr/>
        </p:nvSpPr>
        <p:spPr>
          <a:xfrm>
            <a:off x="5103707" y="1443841"/>
            <a:ext cx="6457025" cy="2214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1F2933"/>
                </a:solidFill>
              </a:defRPr>
            </a:pPr>
            <a:r>
              <a:rPr sz="2100" b="1" i="0" u="none" cap="none">
                <a:ln>
                  <a:noFill/>
                </a:ln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    研究背景与阶段目标</a:t>
            </a:r>
            <a:endParaRPr sz="2100" b="1" i="0" u="none" cap="none">
              <a:ln>
                <a:noFill/>
              </a:ln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>
              <a:buNone/>
              <a:defRPr sz="2100">
                <a:solidFill>
                  <a:srgbClr val="1F2933"/>
                </a:solidFill>
              </a:defRPr>
            </a:pPr>
            <a:r>
              <a:rPr sz="2100" b="1" i="0" u="none" cap="none">
                <a:ln>
                  <a:noFill/>
                </a:ln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第二部分    数据整理、标注与平台建设</a:t>
            </a:r>
            <a:endParaRPr sz="2100" b="1" i="0" u="none" cap="none">
              <a:ln>
                <a:noFill/>
              </a:ln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>
              <a:buNone/>
              <a:defRPr sz="2100">
                <a:solidFill>
                  <a:srgbClr val="1F2933"/>
                </a:solidFill>
              </a:defRPr>
            </a:pPr>
            <a:r>
              <a:rPr sz="2100" b="1" i="0" u="none" cap="none">
                <a:ln>
                  <a:noFill/>
                </a:ln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第三部分    Benchmark 设计与实验结果</a:t>
            </a:r>
            <a:endParaRPr sz="2100" b="1" i="0" u="none" cap="none">
              <a:ln>
                <a:noFill/>
              </a:ln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</a:p>
          <a:p>
            <a:pPr>
              <a:buNone/>
              <a:defRPr sz="2100">
                <a:solidFill>
                  <a:srgbClr val="1F2933"/>
                </a:solidFill>
              </a:defRPr>
            </a:pPr>
            <a:r>
              <a:rPr sz="2100" b="1" i="0" u="none" cap="none">
                <a:ln>
                  <a:noFill/>
                </a:ln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第四部分    方法储备、问题与下一步计划</a:t>
            </a:r>
            <a:endParaRPr sz="2100" b="1" i="0" u="none" cap="none">
              <a:ln>
                <a:noFill/>
              </a:ln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4"/>
          <p:cNvPicPr>
            <a:picLocks noChangeAspect="1"/>
          </p:cNvPicPr>
          <p:nvPr/>
        </p:nvPicPr>
        <p:blipFill rotWithShape="1">
          <a:blip r:embed="rId1"/>
          <a:srcRect l="16722" r="16722" b="9445"/>
          <a:stretch>
            <a:fillRect/>
          </a:stretch>
        </p:blipFill>
        <p:spPr>
          <a:xfrm>
            <a:off x="0" y="647700"/>
            <a:ext cx="12192000" cy="62103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1"/>
              </a:gs>
              <a:gs pos="100000">
                <a:schemeClr val="bg1">
                  <a:alpha val="0"/>
                </a:schemeClr>
              </a:gs>
              <a:gs pos="48000">
                <a:schemeClr val="bg1">
                  <a:alpha val="50000"/>
                </a:schemeClr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2759783" y="2358393"/>
            <a:ext cx="66724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rgbClr val="006D39"/>
                </a:solidFill>
              </a:defRPr>
            </a:pPr>
            <a:r>
              <a:rPr sz="3375" b="1" i="0" u="none" cap="none">
                <a:ln>
                  <a:noFill/>
                </a:ln>
                <a:solidFill>
                  <a:srgbClr val="006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背景与阶段目标</a:t>
            </a:r>
            <a:endParaRPr sz="3375" b="1" i="0" u="none" cap="none">
              <a:ln>
                <a:noFill/>
              </a:ln>
              <a:solidFill>
                <a:srgbClr val="006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3221216" y="3352801"/>
            <a:ext cx="5749567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500">
                <a:solidFill>
                  <a:srgbClr val="1F2933"/>
                </a:solidFill>
              </a:defRPr>
            </a:pPr>
            <a:r>
              <a:rPr sz="1500">
                <a:solidFill>
                  <a:srgbClr val="1F2933"/>
                </a:solidFill>
                <a:latin typeface="Segoe UI Light" panose="020B0502040204020203"/>
                <a:ea typeface="Segoe UI Light" panose="020B0502040204020203"/>
                <a:cs typeface="Segoe UI Light" panose="020B0502040204020203"/>
              </a:rPr>
              <a:t>为什么要把牛只数据整理推进到跨域 benchmark</a:t>
            </a:r>
            <a:endParaRPr sz="1500">
              <a:solidFill>
                <a:srgbClr val="1F2933"/>
              </a:solidFill>
              <a:latin typeface="Segoe UI Light" panose="020B0502040204020203"/>
              <a:ea typeface="Segoe UI Light" panose="020B0502040204020203"/>
              <a:cs typeface="Segoe UI Light" panose="020B0502040204020203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919235" y="1443985"/>
            <a:ext cx="2353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75" b="0">
                <a:solidFill>
                  <a:srgbClr val="006D39"/>
                </a:solidFill>
              </a:defRPr>
            </a:pPr>
            <a:r>
              <a:rPr sz="2475" b="0" i="0" u="none" cap="none">
                <a:ln>
                  <a:noFill/>
                </a:ln>
                <a:solidFill>
                  <a:srgbClr val="006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01</a:t>
            </a:r>
            <a:endParaRPr sz="2475" b="0" i="0" u="none" cap="none">
              <a:ln>
                <a:noFill/>
              </a:ln>
              <a:solidFill>
                <a:srgbClr val="006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24550" y="2171700"/>
            <a:ext cx="3429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研究动机：真实养殖场景需要跨域稳定的牛只检测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04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27" name="bullet-dot"/>
          <p:cNvSpPr>
            <a:spLocks noGrp="1"/>
          </p:cNvSpPr>
          <p:nvPr/>
        </p:nvSpPr>
        <p:spPr>
          <a:xfrm>
            <a:off x="876300" y="1333500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8" name="body-text"/>
          <p:cNvSpPr>
            <a:spLocks noGrp="1"/>
          </p:cNvSpPr>
          <p:nvPr/>
        </p:nvSpPr>
        <p:spPr>
          <a:xfrm>
            <a:off x="1104900" y="1257300"/>
            <a:ext cx="691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牛只检测可支撑定位、计数、行为分析、健康监测和精准管理。</a:t>
            </a:r>
            <a:endParaRPr sz="1575" b="0">
              <a:solidFill>
                <a:srgbClr val="1F2933"/>
              </a:solidFill>
            </a:endParaRPr>
          </a:p>
        </p:txBody>
      </p:sp>
      <p:sp>
        <p:nvSpPr>
          <p:cNvPr id="29" name="bullet-dot"/>
          <p:cNvSpPr>
            <a:spLocks noGrp="1"/>
          </p:cNvSpPr>
          <p:nvPr/>
        </p:nvSpPr>
        <p:spPr>
          <a:xfrm>
            <a:off x="876300" y="2000250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30" name="body-text"/>
          <p:cNvSpPr>
            <a:spLocks noGrp="1"/>
          </p:cNvSpPr>
          <p:nvPr/>
        </p:nvSpPr>
        <p:spPr>
          <a:xfrm>
            <a:off x="1104900" y="1924050"/>
            <a:ext cx="691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公开数据来源分散，采集设备、光照、视角和场景差异明显。</a:t>
            </a:r>
            <a:endParaRPr sz="1575" b="0">
              <a:solidFill>
                <a:srgbClr val="1F2933"/>
              </a:solidFill>
            </a:endParaRPr>
          </a:p>
        </p:txBody>
      </p:sp>
      <p:sp>
        <p:nvSpPr>
          <p:cNvPr id="31" name="bullet-dot"/>
          <p:cNvSpPr>
            <a:spLocks noGrp="1"/>
          </p:cNvSpPr>
          <p:nvPr/>
        </p:nvSpPr>
        <p:spPr>
          <a:xfrm>
            <a:off x="876300" y="2667000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32" name="body-text"/>
          <p:cNvSpPr>
            <a:spLocks noGrp="1"/>
          </p:cNvSpPr>
          <p:nvPr/>
        </p:nvSpPr>
        <p:spPr>
          <a:xfrm>
            <a:off x="1104900" y="2590800"/>
            <a:ext cx="691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标注格式不统一，VOC、COCO、CSV、CVAT XML 与 YOLO 并存。</a:t>
            </a:r>
            <a:endParaRPr sz="1575" b="0">
              <a:solidFill>
                <a:srgbClr val="1F2933"/>
              </a:solidFill>
            </a:endParaRPr>
          </a:p>
        </p:txBody>
      </p:sp>
      <p:sp>
        <p:nvSpPr>
          <p:cNvPr id="33" name="bullet-dot"/>
          <p:cNvSpPr>
            <a:spLocks noGrp="1"/>
          </p:cNvSpPr>
          <p:nvPr/>
        </p:nvSpPr>
        <p:spPr>
          <a:xfrm>
            <a:off x="876300" y="3333750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34" name="body-text"/>
          <p:cNvSpPr>
            <a:spLocks noGrp="1"/>
          </p:cNvSpPr>
          <p:nvPr/>
        </p:nvSpPr>
        <p:spPr>
          <a:xfrm>
            <a:off x="1104900" y="3257550"/>
            <a:ext cx="691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多数已有实验偏单一数据集，难以判断模型真实泛化能力。</a:t>
            </a:r>
            <a:endParaRPr sz="1575" b="0">
              <a:solidFill>
                <a:srgbClr val="1F2933"/>
              </a:solidFill>
            </a:endParaRPr>
          </a:p>
        </p:txBody>
      </p:sp>
      <p:sp>
        <p:nvSpPr>
          <p:cNvPr id="35" name="content-box"/>
          <p:cNvSpPr>
            <a:spLocks noGrp="1"/>
          </p:cNvSpPr>
          <p:nvPr/>
        </p:nvSpPr>
        <p:spPr>
          <a:xfrm>
            <a:off x="8334375" y="1571625"/>
            <a:ext cx="2619375" cy="2143125"/>
          </a:xfrm>
          <a:prstGeom prst="roundRect">
            <a:avLst>
              <a:gd name="adj" fmla="val 4444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6" name="body-text"/>
          <p:cNvSpPr>
            <a:spLocks noGrp="1"/>
          </p:cNvSpPr>
          <p:nvPr/>
        </p:nvSpPr>
        <p:spPr>
          <a:xfrm>
            <a:off x="8505825" y="1704975"/>
            <a:ext cx="2276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本阶段切入点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7" name="body-text"/>
          <p:cNvSpPr>
            <a:spLocks noGrp="1"/>
          </p:cNvSpPr>
          <p:nvPr/>
        </p:nvSpPr>
        <p:spPr>
          <a:xfrm>
            <a:off x="8505825" y="2066925"/>
            <a:ext cx="2276475" cy="155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263238"/>
                </a:solidFill>
              </a:defRPr>
            </a:pPr>
            <a:r>
              <a:rPr sz="1425" b="0">
                <a:solidFill>
                  <a:srgbClr val="263238"/>
                </a:solidFill>
              </a:rPr>
              <a:t>把数据整理、统一标注、平台建设和跨数据集评测整合为 CowCV 工作流。</a:t>
            </a:r>
            <a:endParaRPr sz="1425" b="0">
              <a:solidFill>
                <a:srgbClr val="263238"/>
              </a:solidFill>
            </a:endParaRPr>
          </a:p>
        </p:txBody>
      </p:sp>
      <p:sp>
        <p:nvSpPr>
          <p:cNvPr id="38" name="content-box"/>
          <p:cNvSpPr>
            <a:spLocks noGrp="1"/>
          </p:cNvSpPr>
          <p:nvPr/>
        </p:nvSpPr>
        <p:spPr>
          <a:xfrm>
            <a:off x="8334375" y="4000500"/>
            <a:ext cx="2619375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9" name="body-text"/>
          <p:cNvSpPr>
            <a:spLocks noGrp="1"/>
          </p:cNvSpPr>
          <p:nvPr/>
        </p:nvSpPr>
        <p:spPr>
          <a:xfrm>
            <a:off x="8505825" y="4133850"/>
            <a:ext cx="2276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核心问题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40" name="body-text"/>
          <p:cNvSpPr>
            <a:spLocks noGrp="1"/>
          </p:cNvSpPr>
          <p:nvPr/>
        </p:nvSpPr>
        <p:spPr>
          <a:xfrm>
            <a:off x="8505825" y="4495800"/>
            <a:ext cx="227647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模型在熟悉场景上高分，是否能稳定迁移到未见养殖环境？</a:t>
            </a:r>
            <a:endParaRPr sz="1350" b="0">
              <a:solidFill>
                <a:srgbClr val="26323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阶段性工作：已经形成数据、平台和实验三条主线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05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27" name="content-box"/>
          <p:cNvSpPr>
            <a:spLocks noGrp="1"/>
          </p:cNvSpPr>
          <p:nvPr/>
        </p:nvSpPr>
        <p:spPr>
          <a:xfrm>
            <a:off x="762000" y="1285875"/>
            <a:ext cx="3238500" cy="1619250"/>
          </a:xfrm>
          <a:prstGeom prst="roundRect">
            <a:avLst>
              <a:gd name="adj" fmla="val 5882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28" name="body-text"/>
          <p:cNvSpPr>
            <a:spLocks noGrp="1"/>
          </p:cNvSpPr>
          <p:nvPr/>
        </p:nvSpPr>
        <p:spPr>
          <a:xfrm>
            <a:off x="933450" y="1419225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数据资源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29" name="body-text"/>
          <p:cNvSpPr>
            <a:spLocks noGrp="1"/>
          </p:cNvSpPr>
          <p:nvPr/>
        </p:nvSpPr>
        <p:spPr>
          <a:xfrm>
            <a:off x="933450" y="1781175"/>
            <a:ext cx="2895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完成牛只检测、识别、姿态和行为相关数据集调研，形成候选库。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0" name="content-box"/>
          <p:cNvSpPr>
            <a:spLocks noGrp="1"/>
          </p:cNvSpPr>
          <p:nvPr/>
        </p:nvSpPr>
        <p:spPr>
          <a:xfrm>
            <a:off x="4476750" y="1285875"/>
            <a:ext cx="3238500" cy="1619250"/>
          </a:xfrm>
          <a:prstGeom prst="roundRect">
            <a:avLst>
              <a:gd name="adj" fmla="val 5882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1" name="body-text"/>
          <p:cNvSpPr>
            <a:spLocks noGrp="1"/>
          </p:cNvSpPr>
          <p:nvPr/>
        </p:nvSpPr>
        <p:spPr>
          <a:xfrm>
            <a:off x="4648200" y="1419225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平台建设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2" name="body-text"/>
          <p:cNvSpPr>
            <a:spLocks noGrp="1"/>
          </p:cNvSpPr>
          <p:nvPr/>
        </p:nvSpPr>
        <p:spPr>
          <a:xfrm>
            <a:off x="4648200" y="1781175"/>
            <a:ext cx="2895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修复 CowCV 前后端配置、路径解析和 Docker 构建流程。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3" name="content-box"/>
          <p:cNvSpPr>
            <a:spLocks noGrp="1"/>
          </p:cNvSpPr>
          <p:nvPr/>
        </p:nvSpPr>
        <p:spPr>
          <a:xfrm>
            <a:off x="8191500" y="1285875"/>
            <a:ext cx="3238500" cy="1619250"/>
          </a:xfrm>
          <a:prstGeom prst="roundRect">
            <a:avLst>
              <a:gd name="adj" fmla="val 5882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4" name="body-text"/>
          <p:cNvSpPr>
            <a:spLocks noGrp="1"/>
          </p:cNvSpPr>
          <p:nvPr/>
        </p:nvSpPr>
        <p:spPr>
          <a:xfrm>
            <a:off x="8362950" y="1419225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模型实验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5" name="body-text"/>
          <p:cNvSpPr>
            <a:spLocks noGrp="1"/>
          </p:cNvSpPr>
          <p:nvPr/>
        </p:nvSpPr>
        <p:spPr>
          <a:xfrm>
            <a:off x="8362950" y="1781175"/>
            <a:ext cx="2895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完成 YOLOv8n/v8m 的单数据集、混合训练和跨域测试。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6" name="body-text"/>
          <p:cNvSpPr>
            <a:spLocks noGrp="1"/>
          </p:cNvSpPr>
          <p:nvPr/>
        </p:nvSpPr>
        <p:spPr>
          <a:xfrm>
            <a:off x="1238250" y="3733800"/>
            <a:ext cx="971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006D39"/>
                </a:solidFill>
              </a:defRPr>
            </a:pPr>
            <a:r>
              <a:rPr sz="1875" b="1">
                <a:solidFill>
                  <a:srgbClr val="006D39"/>
                </a:solidFill>
              </a:rPr>
              <a:t>阶段目标：从“数据可用”推进到“结果可比较、问题可解释”。</a:t>
            </a:r>
            <a:endParaRPr sz="1875" b="1">
              <a:solidFill>
                <a:srgbClr val="006D39"/>
              </a:solidFill>
            </a:endParaRPr>
          </a:p>
        </p:txBody>
      </p:sp>
      <p:sp>
        <p:nvSpPr>
          <p:cNvPr id="37" name="table-cell"/>
          <p:cNvSpPr>
            <a:spLocks noGrp="1"/>
          </p:cNvSpPr>
          <p:nvPr/>
        </p:nvSpPr>
        <p:spPr>
          <a:xfrm>
            <a:off x="1619250" y="4619625"/>
            <a:ext cx="2984500" cy="357188"/>
          </a:xfrm>
          <a:prstGeom prst="rect">
            <a:avLst/>
          </a:prstGeom>
          <a:solidFill>
            <a:srgbClr val="006D39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38" name="body-text"/>
          <p:cNvSpPr>
            <a:spLocks noGrp="1"/>
          </p:cNvSpPr>
          <p:nvPr/>
        </p:nvSpPr>
        <p:spPr>
          <a:xfrm>
            <a:off x="1695450" y="4695825"/>
            <a:ext cx="28321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模块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39" name="table-cell"/>
          <p:cNvSpPr>
            <a:spLocks noGrp="1"/>
          </p:cNvSpPr>
          <p:nvPr/>
        </p:nvSpPr>
        <p:spPr>
          <a:xfrm>
            <a:off x="4603750" y="4619625"/>
            <a:ext cx="2984500" cy="357188"/>
          </a:xfrm>
          <a:prstGeom prst="rect">
            <a:avLst/>
          </a:prstGeom>
          <a:solidFill>
            <a:srgbClr val="006D39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0" name="body-text"/>
          <p:cNvSpPr>
            <a:spLocks noGrp="1"/>
          </p:cNvSpPr>
          <p:nvPr/>
        </p:nvSpPr>
        <p:spPr>
          <a:xfrm>
            <a:off x="4679950" y="4695825"/>
            <a:ext cx="28321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已完成内容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41" name="table-cell"/>
          <p:cNvSpPr>
            <a:spLocks noGrp="1"/>
          </p:cNvSpPr>
          <p:nvPr/>
        </p:nvSpPr>
        <p:spPr>
          <a:xfrm>
            <a:off x="7588250" y="4619625"/>
            <a:ext cx="2984500" cy="357188"/>
          </a:xfrm>
          <a:prstGeom prst="rect">
            <a:avLst/>
          </a:prstGeom>
          <a:solidFill>
            <a:srgbClr val="006D39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2" name="body-text"/>
          <p:cNvSpPr>
            <a:spLocks noGrp="1"/>
          </p:cNvSpPr>
          <p:nvPr/>
        </p:nvSpPr>
        <p:spPr>
          <a:xfrm>
            <a:off x="7664450" y="4695825"/>
            <a:ext cx="28321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当前状态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43" name="table-cell"/>
          <p:cNvSpPr>
            <a:spLocks noGrp="1"/>
          </p:cNvSpPr>
          <p:nvPr/>
        </p:nvSpPr>
        <p:spPr>
          <a:xfrm>
            <a:off x="1619250" y="4976813"/>
            <a:ext cx="2984500" cy="357188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4" name="body-text"/>
          <p:cNvSpPr>
            <a:spLocks noGrp="1"/>
          </p:cNvSpPr>
          <p:nvPr/>
        </p:nvSpPr>
        <p:spPr>
          <a:xfrm>
            <a:off x="1695450" y="5053013"/>
            <a:ext cx="28321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数据下载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45" name="table-cell"/>
          <p:cNvSpPr>
            <a:spLocks noGrp="1"/>
          </p:cNvSpPr>
          <p:nvPr/>
        </p:nvSpPr>
        <p:spPr>
          <a:xfrm>
            <a:off x="4603750" y="4976813"/>
            <a:ext cx="2984500" cy="357188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6" name="body-text"/>
          <p:cNvSpPr>
            <a:spLocks noGrp="1"/>
          </p:cNvSpPr>
          <p:nvPr/>
        </p:nvSpPr>
        <p:spPr>
          <a:xfrm>
            <a:off x="4679950" y="5053013"/>
            <a:ext cx="28321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8-Calves、XGain、COLO、MooTrack360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47" name="table-cell"/>
          <p:cNvSpPr>
            <a:spLocks noGrp="1"/>
          </p:cNvSpPr>
          <p:nvPr/>
        </p:nvSpPr>
        <p:spPr>
          <a:xfrm>
            <a:off x="7588250" y="4976813"/>
            <a:ext cx="2984500" cy="357188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8" name="body-text"/>
          <p:cNvSpPr>
            <a:spLocks noGrp="1"/>
          </p:cNvSpPr>
          <p:nvPr/>
        </p:nvSpPr>
        <p:spPr>
          <a:xfrm>
            <a:off x="7664450" y="5053013"/>
            <a:ext cx="28321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已整理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49" name="table-cell"/>
          <p:cNvSpPr>
            <a:spLocks noGrp="1"/>
          </p:cNvSpPr>
          <p:nvPr/>
        </p:nvSpPr>
        <p:spPr>
          <a:xfrm>
            <a:off x="1619250" y="5334000"/>
            <a:ext cx="2984500" cy="357188"/>
          </a:xfrm>
          <a:prstGeom prst="rect">
            <a:avLst/>
          </a:prstGeom>
          <a:solidFill>
            <a:srgbClr val="FFFFFF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50" name="body-text"/>
          <p:cNvSpPr>
            <a:spLocks noGrp="1"/>
          </p:cNvSpPr>
          <p:nvPr/>
        </p:nvSpPr>
        <p:spPr>
          <a:xfrm>
            <a:off x="1695450" y="5410200"/>
            <a:ext cx="28321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标注处理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51" name="table-cell"/>
          <p:cNvSpPr>
            <a:spLocks noGrp="1"/>
          </p:cNvSpPr>
          <p:nvPr/>
        </p:nvSpPr>
        <p:spPr>
          <a:xfrm>
            <a:off x="4603750" y="5334000"/>
            <a:ext cx="2984500" cy="357188"/>
          </a:xfrm>
          <a:prstGeom prst="rect">
            <a:avLst/>
          </a:prstGeom>
          <a:solidFill>
            <a:srgbClr val="FFFFFF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52" name="body-text"/>
          <p:cNvSpPr>
            <a:spLocks noGrp="1"/>
          </p:cNvSpPr>
          <p:nvPr/>
        </p:nvSpPr>
        <p:spPr>
          <a:xfrm>
            <a:off x="4679950" y="5410200"/>
            <a:ext cx="28321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多格式统一为 YOLO class 0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53" name="table-cell"/>
          <p:cNvSpPr>
            <a:spLocks noGrp="1"/>
          </p:cNvSpPr>
          <p:nvPr/>
        </p:nvSpPr>
        <p:spPr>
          <a:xfrm>
            <a:off x="7588250" y="5334000"/>
            <a:ext cx="2984500" cy="357188"/>
          </a:xfrm>
          <a:prstGeom prst="rect">
            <a:avLst/>
          </a:prstGeom>
          <a:solidFill>
            <a:srgbClr val="FFFFFF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54" name="body-text"/>
          <p:cNvSpPr>
            <a:spLocks noGrp="1"/>
          </p:cNvSpPr>
          <p:nvPr/>
        </p:nvSpPr>
        <p:spPr>
          <a:xfrm>
            <a:off x="7664450" y="5410200"/>
            <a:ext cx="28321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已训练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55" name="table-cell"/>
          <p:cNvSpPr>
            <a:spLocks noGrp="1"/>
          </p:cNvSpPr>
          <p:nvPr/>
        </p:nvSpPr>
        <p:spPr>
          <a:xfrm>
            <a:off x="1619250" y="5691188"/>
            <a:ext cx="2984500" cy="357188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56" name="body-text"/>
          <p:cNvSpPr>
            <a:spLocks noGrp="1"/>
          </p:cNvSpPr>
          <p:nvPr/>
        </p:nvSpPr>
        <p:spPr>
          <a:xfrm>
            <a:off x="1695450" y="5767388"/>
            <a:ext cx="28321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实验设计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57" name="table-cell"/>
          <p:cNvSpPr>
            <a:spLocks noGrp="1"/>
          </p:cNvSpPr>
          <p:nvPr/>
        </p:nvSpPr>
        <p:spPr>
          <a:xfrm>
            <a:off x="4603750" y="5691188"/>
            <a:ext cx="2984500" cy="357188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58" name="body-text"/>
          <p:cNvSpPr>
            <a:spLocks noGrp="1"/>
          </p:cNvSpPr>
          <p:nvPr/>
        </p:nvSpPr>
        <p:spPr>
          <a:xfrm>
            <a:off x="4679950" y="5767388"/>
            <a:ext cx="28321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N×M 矩阵、自测、未见域测试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59" name="table-cell"/>
          <p:cNvSpPr>
            <a:spLocks noGrp="1"/>
          </p:cNvSpPr>
          <p:nvPr/>
        </p:nvSpPr>
        <p:spPr>
          <a:xfrm>
            <a:off x="7588250" y="5691188"/>
            <a:ext cx="2984500" cy="357188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60" name="body-text"/>
          <p:cNvSpPr>
            <a:spLocks noGrp="1"/>
          </p:cNvSpPr>
          <p:nvPr/>
        </p:nvSpPr>
        <p:spPr>
          <a:xfrm>
            <a:off x="7664450" y="5767388"/>
            <a:ext cx="28321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第一轮完成</a:t>
            </a:r>
            <a:endParaRPr sz="1125" b="0">
              <a:solidFill>
                <a:srgbClr val="1F29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4"/>
          <p:cNvPicPr>
            <a:picLocks noChangeAspect="1"/>
          </p:cNvPicPr>
          <p:nvPr/>
        </p:nvPicPr>
        <p:blipFill rotWithShape="1">
          <a:blip r:embed="rId1"/>
          <a:srcRect l="16722" r="16722" b="9445"/>
          <a:stretch>
            <a:fillRect/>
          </a:stretch>
        </p:blipFill>
        <p:spPr>
          <a:xfrm>
            <a:off x="0" y="647700"/>
            <a:ext cx="12192000" cy="62103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1"/>
              </a:gs>
              <a:gs pos="100000">
                <a:schemeClr val="bg1">
                  <a:alpha val="0"/>
                </a:schemeClr>
              </a:gs>
              <a:gs pos="48000">
                <a:schemeClr val="bg1">
                  <a:alpha val="50000"/>
                </a:schemeClr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2759783" y="2358393"/>
            <a:ext cx="667243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rgbClr val="006D39"/>
                </a:solidFill>
              </a:defRPr>
            </a:pPr>
            <a:r>
              <a:rPr sz="3375" b="1" i="0" u="none" cap="none">
                <a:ln>
                  <a:noFill/>
                </a:ln>
                <a:solidFill>
                  <a:srgbClr val="006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数据整理与平台建设</a:t>
            </a:r>
            <a:endParaRPr sz="3375" b="1" i="0" u="none" cap="none">
              <a:ln>
                <a:noFill/>
              </a:ln>
              <a:solidFill>
                <a:srgbClr val="006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3221216" y="3352801"/>
            <a:ext cx="5749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500">
                <a:solidFill>
                  <a:srgbClr val="1F2933"/>
                </a:solidFill>
              </a:defRPr>
            </a:pPr>
            <a:r>
              <a:rPr sz="1500">
                <a:solidFill>
                  <a:srgbClr val="1F2933"/>
                </a:solidFill>
                <a:latin typeface="Segoe UI Light" panose="020B0502040204020203"/>
                <a:ea typeface="Segoe UI Light" panose="020B0502040204020203"/>
                <a:cs typeface="Segoe UI Light" panose="020B0502040204020203"/>
              </a:rPr>
              <a:t>统一数据结构、标注格式与 CowCV 访问入口</a:t>
            </a:r>
            <a:endParaRPr sz="1500">
              <a:solidFill>
                <a:srgbClr val="1F2933"/>
              </a:solidFill>
              <a:latin typeface="Segoe UI Light" panose="020B0502040204020203"/>
              <a:ea typeface="Segoe UI Light" panose="020B0502040204020203"/>
              <a:cs typeface="Segoe UI Light" panose="020B0502040204020203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919235" y="1443985"/>
            <a:ext cx="2353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75" b="0">
                <a:solidFill>
                  <a:srgbClr val="006D39"/>
                </a:solidFill>
              </a:defRPr>
            </a:pPr>
            <a:r>
              <a:rPr sz="2475" b="0" i="0" u="none" cap="none">
                <a:ln>
                  <a:noFill/>
                </a:ln>
                <a:solidFill>
                  <a:srgbClr val="006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02</a:t>
            </a:r>
            <a:endParaRPr sz="2475" b="0" i="0" u="none" cap="none">
              <a:ln>
                <a:noFill/>
              </a:ln>
              <a:solidFill>
                <a:srgbClr val="006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24550" y="2171700"/>
            <a:ext cx="3429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核心新增数据集：覆盖多种牛只视觉域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07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27" name="content-box"/>
          <p:cNvSpPr>
            <a:spLocks noGrp="1"/>
          </p:cNvSpPr>
          <p:nvPr/>
        </p:nvSpPr>
        <p:spPr>
          <a:xfrm>
            <a:off x="666750" y="1190625"/>
            <a:ext cx="2476500" cy="2190750"/>
          </a:xfrm>
          <a:prstGeom prst="roundRect">
            <a:avLst>
              <a:gd name="adj" fmla="val 4348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28" name="body-text"/>
          <p:cNvSpPr>
            <a:spLocks noGrp="1"/>
          </p:cNvSpPr>
          <p:nvPr/>
        </p:nvSpPr>
        <p:spPr>
          <a:xfrm>
            <a:off x="838200" y="1323975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06D39"/>
                </a:solidFill>
              </a:defRPr>
            </a:pPr>
            <a:r>
              <a:rPr sz="1650" b="1">
                <a:solidFill>
                  <a:srgbClr val="006D39"/>
                </a:solidFill>
              </a:rPr>
              <a:t>新增规模</a:t>
            </a:r>
            <a:endParaRPr sz="1650" b="1">
              <a:solidFill>
                <a:srgbClr val="006D39"/>
              </a:solidFill>
            </a:endParaRPr>
          </a:p>
        </p:txBody>
      </p:sp>
      <p:sp>
        <p:nvSpPr>
          <p:cNvPr id="29" name="body-text"/>
          <p:cNvSpPr>
            <a:spLocks noGrp="1"/>
          </p:cNvSpPr>
          <p:nvPr/>
        </p:nvSpPr>
        <p:spPr>
          <a:xfrm>
            <a:off x="838200" y="1685925"/>
            <a:ext cx="21336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8-Calves：901 图，约 4K bbox</a:t>
            </a:r>
            <a:endParaRPr sz="1500" b="0">
              <a:solidFill>
                <a:srgbClr val="263238"/>
              </a:solidFill>
            </a:endParaRPr>
          </a:p>
          <a:p>
            <a:pPr algn="l">
              <a:buNone/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XGain：1,657 图，7,652 bbox</a:t>
            </a:r>
            <a:endParaRPr sz="1500" b="0">
              <a:solidFill>
                <a:srgbClr val="263238"/>
              </a:solidFill>
            </a:endParaRPr>
          </a:p>
          <a:p>
            <a:pPr algn="l">
              <a:buNone/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COLO：1,004 图，9,846 bbox</a:t>
            </a:r>
            <a:endParaRPr sz="1500" b="0">
              <a:solidFill>
                <a:srgbClr val="263238"/>
              </a:solidFill>
            </a:endParaRPr>
          </a:p>
          <a:p>
            <a:pPr algn="l">
              <a:buNone/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MooTrack360：1,500 图，98,917 bbox</a:t>
            </a:r>
            <a:endParaRPr sz="1500" b="0">
              <a:solidFill>
                <a:srgbClr val="263238"/>
              </a:solidFill>
            </a:endParaRPr>
          </a:p>
        </p:txBody>
      </p:sp>
      <p:sp>
        <p:nvSpPr>
          <p:cNvPr id="30" name="content-box"/>
          <p:cNvSpPr>
            <a:spLocks noGrp="1"/>
          </p:cNvSpPr>
          <p:nvPr/>
        </p:nvSpPr>
        <p:spPr>
          <a:xfrm>
            <a:off x="3476625" y="1190625"/>
            <a:ext cx="3714750" cy="2190750"/>
          </a:xfrm>
          <a:prstGeom prst="roundRect">
            <a:avLst>
              <a:gd name="adj" fmla="val 4348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1" name="body-text"/>
          <p:cNvSpPr>
            <a:spLocks noGrp="1"/>
          </p:cNvSpPr>
          <p:nvPr/>
        </p:nvSpPr>
        <p:spPr>
          <a:xfrm>
            <a:off x="3648075" y="1323975"/>
            <a:ext cx="3371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06D39"/>
                </a:solidFill>
              </a:defRPr>
            </a:pPr>
            <a:r>
              <a:rPr sz="1650" b="1">
                <a:solidFill>
                  <a:srgbClr val="006D39"/>
                </a:solidFill>
              </a:rPr>
              <a:t>场景覆盖</a:t>
            </a:r>
            <a:endParaRPr sz="1650" b="1">
              <a:solidFill>
                <a:srgbClr val="006D39"/>
              </a:solidFill>
            </a:endParaRPr>
          </a:p>
        </p:txBody>
      </p:sp>
      <p:sp>
        <p:nvSpPr>
          <p:cNvPr id="32" name="body-text"/>
          <p:cNvSpPr>
            <a:spLocks noGrp="1"/>
          </p:cNvSpPr>
          <p:nvPr/>
        </p:nvSpPr>
        <p:spPr>
          <a:xfrm>
            <a:off x="3648075" y="1685925"/>
            <a:ext cx="337185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室内犊牛、户外牧场俯拍、室内多角度、多光照、鱼眼俯拍、红外/夜间、密集目标</a:t>
            </a:r>
            <a:endParaRPr sz="1350" b="0">
              <a:solidFill>
                <a:srgbClr val="263238"/>
              </a:solidFill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700" y="1557020"/>
            <a:ext cx="4697730" cy="1525270"/>
          </a:xfrm>
          <a:prstGeom prst="rect">
            <a:avLst/>
          </a:prstGeom>
        </p:spPr>
      </p:pic>
      <p:sp>
        <p:nvSpPr>
          <p:cNvPr id="34" name="body-text"/>
          <p:cNvSpPr>
            <a:spLocks noGrp="1"/>
          </p:cNvSpPr>
          <p:nvPr/>
        </p:nvSpPr>
        <p:spPr>
          <a:xfrm>
            <a:off x="857250" y="400050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006D39"/>
                </a:solidFill>
              </a:defRPr>
            </a:pPr>
            <a:r>
              <a:rPr sz="1800" b="1">
                <a:solidFill>
                  <a:srgbClr val="006D39"/>
                </a:solidFill>
              </a:rPr>
              <a:t>关键价值：这批数据让 CowCV 从单一数据整理推进到跨室内/室外/鱼眼/多光照的统一 benchmark。</a:t>
            </a:r>
            <a:endParaRPr sz="1800" b="1">
              <a:solidFill>
                <a:srgbClr val="006D39"/>
              </a:solidFill>
            </a:endParaRPr>
          </a:p>
        </p:txBody>
      </p:sp>
      <p:sp>
        <p:nvSpPr>
          <p:cNvPr id="35" name="bullet-dot"/>
          <p:cNvSpPr>
            <a:spLocks noGrp="1"/>
          </p:cNvSpPr>
          <p:nvPr/>
        </p:nvSpPr>
        <p:spPr>
          <a:xfrm>
            <a:off x="1285875" y="4981575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36" name="body-text"/>
          <p:cNvSpPr>
            <a:spLocks noGrp="1"/>
          </p:cNvSpPr>
          <p:nvPr/>
        </p:nvSpPr>
        <p:spPr>
          <a:xfrm>
            <a:off x="1514475" y="4905375"/>
            <a:ext cx="910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8-Calves 适合快速 sanity check；XGain 补充户外牧场行为场景。</a:t>
            </a:r>
            <a:endParaRPr sz="1425" b="0">
              <a:solidFill>
                <a:srgbClr val="1F2933"/>
              </a:solidFill>
            </a:endParaRPr>
          </a:p>
        </p:txBody>
      </p:sp>
      <p:sp>
        <p:nvSpPr>
          <p:cNvPr id="37" name="bullet-dot"/>
          <p:cNvSpPr>
            <a:spLocks noGrp="1"/>
          </p:cNvSpPr>
          <p:nvPr/>
        </p:nvSpPr>
        <p:spPr>
          <a:xfrm>
            <a:off x="1285875" y="5381625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38" name="body-text"/>
          <p:cNvSpPr>
            <a:spLocks noGrp="1"/>
          </p:cNvSpPr>
          <p:nvPr/>
        </p:nvSpPr>
        <p:spPr>
          <a:xfrm>
            <a:off x="1514475" y="5305425"/>
            <a:ext cx="910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COLO 的多角度、多光照特征适合分析泛化能力。</a:t>
            </a:r>
            <a:endParaRPr sz="1425" b="0">
              <a:solidFill>
                <a:srgbClr val="1F2933"/>
              </a:solidFill>
            </a:endParaRPr>
          </a:p>
        </p:txBody>
      </p:sp>
      <p:sp>
        <p:nvSpPr>
          <p:cNvPr id="39" name="bullet-dot"/>
          <p:cNvSpPr>
            <a:spLocks noGrp="1"/>
          </p:cNvSpPr>
          <p:nvPr/>
        </p:nvSpPr>
        <p:spPr>
          <a:xfrm>
            <a:off x="1285875" y="5781675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40" name="body-text"/>
          <p:cNvSpPr>
            <a:spLocks noGrp="1"/>
          </p:cNvSpPr>
          <p:nvPr/>
        </p:nvSpPr>
        <p:spPr>
          <a:xfrm>
            <a:off x="1514475" y="5705475"/>
            <a:ext cx="910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MooTrack360 提供大实例量和独特鱼眼畸变场景。</a:t>
            </a:r>
            <a:endParaRPr sz="1425" b="0">
              <a:solidFill>
                <a:srgbClr val="1F293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数据处理流程：先统一格式，再验证是否可学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08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27" name="content-box"/>
          <p:cNvSpPr>
            <a:spLocks noGrp="1"/>
          </p:cNvSpPr>
          <p:nvPr/>
        </p:nvSpPr>
        <p:spPr>
          <a:xfrm>
            <a:off x="857250" y="1381125"/>
            <a:ext cx="3143250" cy="1809750"/>
          </a:xfrm>
          <a:prstGeom prst="roundRect">
            <a:avLst>
              <a:gd name="adj" fmla="val 5263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28" name="body-text"/>
          <p:cNvSpPr>
            <a:spLocks noGrp="1"/>
          </p:cNvSpPr>
          <p:nvPr/>
        </p:nvSpPr>
        <p:spPr>
          <a:xfrm>
            <a:off x="1028700" y="1514475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1. 数据筛选与下载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29" name="body-text"/>
          <p:cNvSpPr>
            <a:spLocks noGrp="1"/>
          </p:cNvSpPr>
          <p:nvPr/>
        </p:nvSpPr>
        <p:spPr>
          <a:xfrm>
            <a:off x="1028700" y="1876425"/>
            <a:ext cx="28003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优先选择有检测框、场景互补、许可可用的数据集；对不可用或格式冲突的数据记录原因。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0" name="content-box"/>
          <p:cNvSpPr>
            <a:spLocks noGrp="1"/>
          </p:cNvSpPr>
          <p:nvPr/>
        </p:nvSpPr>
        <p:spPr>
          <a:xfrm>
            <a:off x="4524375" y="1381125"/>
            <a:ext cx="3143250" cy="1809750"/>
          </a:xfrm>
          <a:prstGeom prst="roundRect">
            <a:avLst>
              <a:gd name="adj" fmla="val 5263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1" name="body-text"/>
          <p:cNvSpPr>
            <a:spLocks noGrp="1"/>
          </p:cNvSpPr>
          <p:nvPr/>
        </p:nvSpPr>
        <p:spPr>
          <a:xfrm>
            <a:off x="4695825" y="1514475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2. 标注转换与复查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2" name="body-text"/>
          <p:cNvSpPr>
            <a:spLocks noGrp="1"/>
          </p:cNvSpPr>
          <p:nvPr/>
        </p:nvSpPr>
        <p:spPr>
          <a:xfrm>
            <a:off x="4695825" y="1876425"/>
            <a:ext cx="28003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将 VOC、COCO、CSV、CVAT XML 等上游格式转换为 YOLO；统一为 class 0 = cow。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3" name="content-box"/>
          <p:cNvSpPr>
            <a:spLocks noGrp="1"/>
          </p:cNvSpPr>
          <p:nvPr/>
        </p:nvSpPr>
        <p:spPr>
          <a:xfrm>
            <a:off x="8191500" y="1381125"/>
            <a:ext cx="3143250" cy="1809750"/>
          </a:xfrm>
          <a:prstGeom prst="roundRect">
            <a:avLst>
              <a:gd name="adj" fmla="val 5263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4" name="body-text"/>
          <p:cNvSpPr>
            <a:spLocks noGrp="1"/>
          </p:cNvSpPr>
          <p:nvPr/>
        </p:nvSpPr>
        <p:spPr>
          <a:xfrm>
            <a:off x="8362950" y="1514475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3. 自测与跨域验证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5" name="body-text"/>
          <p:cNvSpPr>
            <a:spLocks noGrp="1"/>
          </p:cNvSpPr>
          <p:nvPr/>
        </p:nvSpPr>
        <p:spPr>
          <a:xfrm>
            <a:off x="8362950" y="1876425"/>
            <a:ext cx="28003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通过单数据集自训练验证标注质量，再用跨数据集测试定位 domain gap。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6" name="body-text"/>
          <p:cNvSpPr>
            <a:spLocks noGrp="1"/>
          </p:cNvSpPr>
          <p:nvPr/>
        </p:nvSpPr>
        <p:spPr>
          <a:xfrm>
            <a:off x="1143000" y="3905250"/>
            <a:ext cx="990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006D39"/>
                </a:solidFill>
              </a:defRPr>
            </a:pPr>
            <a:r>
              <a:rPr sz="1800" b="1">
                <a:solidFill>
                  <a:srgbClr val="006D39"/>
                </a:solidFill>
              </a:rPr>
              <a:t>为什么要先自测？同域训练都学不好时，低分可能是标注或转换问题；同域高分而跨域低分，才更能说明域差异。</a:t>
            </a:r>
            <a:endParaRPr sz="1800" b="1">
              <a:solidFill>
                <a:srgbClr val="006D39"/>
              </a:solidFill>
            </a:endParaRPr>
          </a:p>
        </p:txBody>
      </p:sp>
      <p:sp>
        <p:nvSpPr>
          <p:cNvPr id="37" name="table-cell"/>
          <p:cNvSpPr>
            <a:spLocks noGrp="1"/>
          </p:cNvSpPr>
          <p:nvPr/>
        </p:nvSpPr>
        <p:spPr>
          <a:xfrm>
            <a:off x="2095500" y="4857750"/>
            <a:ext cx="4000500" cy="297656"/>
          </a:xfrm>
          <a:prstGeom prst="rect">
            <a:avLst/>
          </a:prstGeom>
          <a:solidFill>
            <a:srgbClr val="006D39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38" name="body-text"/>
          <p:cNvSpPr>
            <a:spLocks noGrp="1"/>
          </p:cNvSpPr>
          <p:nvPr/>
        </p:nvSpPr>
        <p:spPr>
          <a:xfrm>
            <a:off x="2171700" y="4933950"/>
            <a:ext cx="3848100" cy="1833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处理对象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39" name="table-cell"/>
          <p:cNvSpPr>
            <a:spLocks noGrp="1"/>
          </p:cNvSpPr>
          <p:nvPr/>
        </p:nvSpPr>
        <p:spPr>
          <a:xfrm>
            <a:off x="6096000" y="4857750"/>
            <a:ext cx="4000500" cy="297656"/>
          </a:xfrm>
          <a:prstGeom prst="rect">
            <a:avLst/>
          </a:prstGeom>
          <a:solidFill>
            <a:srgbClr val="006D39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0" name="body-text"/>
          <p:cNvSpPr>
            <a:spLocks noGrp="1"/>
          </p:cNvSpPr>
          <p:nvPr/>
        </p:nvSpPr>
        <p:spPr>
          <a:xfrm>
            <a:off x="6172200" y="4933950"/>
            <a:ext cx="3848100" cy="1833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处理结果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1" name="table-cell"/>
          <p:cNvSpPr>
            <a:spLocks noGrp="1"/>
          </p:cNvSpPr>
          <p:nvPr/>
        </p:nvSpPr>
        <p:spPr>
          <a:xfrm>
            <a:off x="2095500" y="5155406"/>
            <a:ext cx="4000500" cy="297656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2" name="body-text"/>
          <p:cNvSpPr>
            <a:spLocks noGrp="1"/>
          </p:cNvSpPr>
          <p:nvPr/>
        </p:nvSpPr>
        <p:spPr>
          <a:xfrm>
            <a:off x="2171700" y="5231606"/>
            <a:ext cx="3848100" cy="1833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行为标签</a:t>
            </a:r>
            <a:endParaRPr sz="1200" b="0">
              <a:solidFill>
                <a:srgbClr val="1F2933"/>
              </a:solidFill>
            </a:endParaRPr>
          </a:p>
        </p:txBody>
      </p:sp>
      <p:sp>
        <p:nvSpPr>
          <p:cNvPr id="43" name="table-cell"/>
          <p:cNvSpPr>
            <a:spLocks noGrp="1"/>
          </p:cNvSpPr>
          <p:nvPr/>
        </p:nvSpPr>
        <p:spPr>
          <a:xfrm>
            <a:off x="6096000" y="5155406"/>
            <a:ext cx="4000500" cy="297656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4" name="body-text"/>
          <p:cNvSpPr>
            <a:spLocks noGrp="1"/>
          </p:cNvSpPr>
          <p:nvPr/>
        </p:nvSpPr>
        <p:spPr>
          <a:xfrm>
            <a:off x="6172200" y="5231606"/>
            <a:ext cx="3848100" cy="1833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统一为检测类，原始行为标签保留备用</a:t>
            </a:r>
            <a:endParaRPr sz="1200" b="0">
              <a:solidFill>
                <a:srgbClr val="1F2933"/>
              </a:solidFill>
            </a:endParaRPr>
          </a:p>
        </p:txBody>
      </p:sp>
      <p:sp>
        <p:nvSpPr>
          <p:cNvPr id="45" name="table-cell"/>
          <p:cNvSpPr>
            <a:spLocks noGrp="1"/>
          </p:cNvSpPr>
          <p:nvPr/>
        </p:nvSpPr>
        <p:spPr>
          <a:xfrm>
            <a:off x="2095500" y="5453063"/>
            <a:ext cx="4000500" cy="297656"/>
          </a:xfrm>
          <a:prstGeom prst="rect">
            <a:avLst/>
          </a:prstGeom>
          <a:solidFill>
            <a:srgbClr val="FFFFFF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6" name="body-text"/>
          <p:cNvSpPr>
            <a:spLocks noGrp="1"/>
          </p:cNvSpPr>
          <p:nvPr/>
        </p:nvSpPr>
        <p:spPr>
          <a:xfrm>
            <a:off x="2171700" y="5529263"/>
            <a:ext cx="3848100" cy="1833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无标注图片</a:t>
            </a:r>
            <a:endParaRPr sz="1200" b="0">
              <a:solidFill>
                <a:srgbClr val="1F2933"/>
              </a:solidFill>
            </a:endParaRPr>
          </a:p>
        </p:txBody>
      </p:sp>
      <p:sp>
        <p:nvSpPr>
          <p:cNvPr id="47" name="table-cell"/>
          <p:cNvSpPr>
            <a:spLocks noGrp="1"/>
          </p:cNvSpPr>
          <p:nvPr/>
        </p:nvSpPr>
        <p:spPr>
          <a:xfrm>
            <a:off x="6096000" y="5453063"/>
            <a:ext cx="4000500" cy="297656"/>
          </a:xfrm>
          <a:prstGeom prst="rect">
            <a:avLst/>
          </a:prstGeom>
          <a:solidFill>
            <a:srgbClr val="FFFFFF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8" name="body-text"/>
          <p:cNvSpPr>
            <a:spLocks noGrp="1"/>
          </p:cNvSpPr>
          <p:nvPr/>
        </p:nvSpPr>
        <p:spPr>
          <a:xfrm>
            <a:off x="6172200" y="5529263"/>
            <a:ext cx="3848100" cy="1833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后续采用预标注 + 人工复查</a:t>
            </a:r>
            <a:endParaRPr sz="1200" b="0">
              <a:solidFill>
                <a:srgbClr val="1F2933"/>
              </a:solidFill>
            </a:endParaRPr>
          </a:p>
        </p:txBody>
      </p:sp>
      <p:sp>
        <p:nvSpPr>
          <p:cNvPr id="49" name="table-cell"/>
          <p:cNvSpPr>
            <a:spLocks noGrp="1"/>
          </p:cNvSpPr>
          <p:nvPr/>
        </p:nvSpPr>
        <p:spPr>
          <a:xfrm>
            <a:off x="2095500" y="5750719"/>
            <a:ext cx="4000500" cy="297656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50" name="body-text"/>
          <p:cNvSpPr>
            <a:spLocks noGrp="1"/>
          </p:cNvSpPr>
          <p:nvPr/>
        </p:nvSpPr>
        <p:spPr>
          <a:xfrm>
            <a:off x="2171700" y="5826919"/>
            <a:ext cx="3848100" cy="1833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旧数据集</a:t>
            </a:r>
            <a:endParaRPr sz="1200" b="0">
              <a:solidFill>
                <a:srgbClr val="1F2933"/>
              </a:solidFill>
            </a:endParaRPr>
          </a:p>
        </p:txBody>
      </p:sp>
      <p:sp>
        <p:nvSpPr>
          <p:cNvPr id="51" name="table-cell"/>
          <p:cNvSpPr>
            <a:spLocks noGrp="1"/>
          </p:cNvSpPr>
          <p:nvPr/>
        </p:nvSpPr>
        <p:spPr>
          <a:xfrm>
            <a:off x="6096000" y="5750719"/>
            <a:ext cx="4000500" cy="297656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52" name="body-text"/>
          <p:cNvSpPr>
            <a:spLocks noGrp="1"/>
          </p:cNvSpPr>
          <p:nvPr/>
        </p:nvSpPr>
        <p:spPr>
          <a:xfrm>
            <a:off x="6172200" y="5826919"/>
            <a:ext cx="3848100" cy="1833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作为未见域测试，检查泛化边界</a:t>
            </a:r>
            <a:endParaRPr sz="1200" b="0">
              <a:solidFill>
                <a:srgbClr val="1F29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Benchmark 设计：同训练量下比较专精与多样性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09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27" name="bullet-dot"/>
          <p:cNvSpPr>
            <a:spLocks noGrp="1"/>
          </p:cNvSpPr>
          <p:nvPr/>
        </p:nvSpPr>
        <p:spPr>
          <a:xfrm>
            <a:off x="857250" y="1314450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8" name="body-text"/>
          <p:cNvSpPr>
            <a:spLocks noGrp="1"/>
          </p:cNvSpPr>
          <p:nvPr/>
        </p:nvSpPr>
        <p:spPr>
          <a:xfrm>
            <a:off x="1085850" y="1238250"/>
            <a:ext cx="662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目标：评估单数据集专精训练和多源混合训练对牛只检测泛化性的影响。</a:t>
            </a:r>
            <a:endParaRPr sz="1500" b="0">
              <a:solidFill>
                <a:srgbClr val="1F2933"/>
              </a:solidFill>
            </a:endParaRPr>
          </a:p>
        </p:txBody>
      </p:sp>
      <p:sp>
        <p:nvSpPr>
          <p:cNvPr id="29" name="bullet-dot"/>
          <p:cNvSpPr>
            <a:spLocks noGrp="1"/>
          </p:cNvSpPr>
          <p:nvPr/>
        </p:nvSpPr>
        <p:spPr>
          <a:xfrm>
            <a:off x="857250" y="1914525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30" name="body-text"/>
          <p:cNvSpPr>
            <a:spLocks noGrp="1"/>
          </p:cNvSpPr>
          <p:nvPr/>
        </p:nvSpPr>
        <p:spPr>
          <a:xfrm>
            <a:off x="1085850" y="1838325"/>
            <a:ext cx="662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训练规模保持公平：单数据集训练 600 张，混合训练为 4 × 150 张。</a:t>
            </a:r>
            <a:endParaRPr sz="1500" b="0">
              <a:solidFill>
                <a:srgbClr val="1F2933"/>
              </a:solidFill>
            </a:endParaRPr>
          </a:p>
        </p:txBody>
      </p:sp>
      <p:sp>
        <p:nvSpPr>
          <p:cNvPr id="31" name="bullet-dot"/>
          <p:cNvSpPr>
            <a:spLocks noGrp="1"/>
          </p:cNvSpPr>
          <p:nvPr/>
        </p:nvSpPr>
        <p:spPr>
          <a:xfrm>
            <a:off x="857250" y="2514600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32" name="body-text"/>
          <p:cNvSpPr>
            <a:spLocks noGrp="1"/>
          </p:cNvSpPr>
          <p:nvPr/>
        </p:nvSpPr>
        <p:spPr>
          <a:xfrm>
            <a:off x="1085850" y="2438400"/>
            <a:ext cx="662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测试方式采用全矩阵：每个模型在 8-Calves、XGain、COLO、MooTrack360 等测试集上评估。</a:t>
            </a:r>
            <a:endParaRPr sz="1500" b="0">
              <a:solidFill>
                <a:srgbClr val="1F2933"/>
              </a:solidFill>
            </a:endParaRPr>
          </a:p>
        </p:txBody>
      </p:sp>
      <p:sp>
        <p:nvSpPr>
          <p:cNvPr id="33" name="bullet-dot"/>
          <p:cNvSpPr>
            <a:spLocks noGrp="1"/>
          </p:cNvSpPr>
          <p:nvPr/>
        </p:nvSpPr>
        <p:spPr>
          <a:xfrm>
            <a:off x="857250" y="3114675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34" name="body-text"/>
          <p:cNvSpPr>
            <a:spLocks noGrp="1"/>
          </p:cNvSpPr>
          <p:nvPr/>
        </p:nvSpPr>
        <p:spPr>
          <a:xfrm>
            <a:off x="1085850" y="3038475"/>
            <a:ext cx="662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主指标：mAP@50、mAP@50-95；辅助关注训练耗时、显存和模型参数量。</a:t>
            </a:r>
            <a:endParaRPr sz="1500" b="0">
              <a:solidFill>
                <a:srgbClr val="1F2933"/>
              </a:solidFill>
            </a:endParaRPr>
          </a:p>
        </p:txBody>
      </p:sp>
      <p:sp>
        <p:nvSpPr>
          <p:cNvPr id="35" name="body-text"/>
          <p:cNvSpPr>
            <a:spLocks noGrp="1"/>
          </p:cNvSpPr>
          <p:nvPr/>
        </p:nvSpPr>
        <p:spPr>
          <a:xfrm>
            <a:off x="8096250" y="138112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006D39"/>
                </a:solidFill>
              </a:defRPr>
            </a:pPr>
            <a:r>
              <a:rPr sz="1350" b="1">
                <a:solidFill>
                  <a:srgbClr val="006D39"/>
                </a:solidFill>
              </a:rPr>
              <a:t>核心数据集</a:t>
            </a:r>
            <a:endParaRPr sz="1350" b="1">
              <a:solidFill>
                <a:srgbClr val="006D39"/>
              </a:solidFill>
            </a:endParaRPr>
          </a:p>
        </p:txBody>
      </p:sp>
      <p:sp>
        <p:nvSpPr>
          <p:cNvPr id="36" name="body-text"/>
          <p:cNvSpPr>
            <a:spLocks noGrp="1"/>
          </p:cNvSpPr>
          <p:nvPr/>
        </p:nvSpPr>
        <p:spPr>
          <a:xfrm>
            <a:off x="8096250" y="180022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8-Calves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667875" y="1819275"/>
            <a:ext cx="90487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667875" y="1819275"/>
            <a:ext cx="904875" cy="247650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39" name="body-text"/>
          <p:cNvSpPr>
            <a:spLocks noGrp="1"/>
          </p:cNvSpPr>
          <p:nvPr/>
        </p:nvSpPr>
        <p:spPr>
          <a:xfrm>
            <a:off x="10668000" y="18002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150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0" name="body-text"/>
          <p:cNvSpPr>
            <a:spLocks noGrp="1"/>
          </p:cNvSpPr>
          <p:nvPr/>
        </p:nvSpPr>
        <p:spPr>
          <a:xfrm>
            <a:off x="8096250" y="223520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XGain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667875" y="2254250"/>
            <a:ext cx="90487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667875" y="2254250"/>
            <a:ext cx="904875" cy="247650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43" name="body-text"/>
          <p:cNvSpPr>
            <a:spLocks noGrp="1"/>
          </p:cNvSpPr>
          <p:nvPr/>
        </p:nvSpPr>
        <p:spPr>
          <a:xfrm>
            <a:off x="10668000" y="223520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6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4" name="body-text"/>
          <p:cNvSpPr>
            <a:spLocks noGrp="1"/>
          </p:cNvSpPr>
          <p:nvPr/>
        </p:nvSpPr>
        <p:spPr>
          <a:xfrm>
            <a:off x="8096250" y="267017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COLO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667875" y="2689225"/>
            <a:ext cx="90487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667875" y="2689225"/>
            <a:ext cx="754063" cy="247650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47" name="body-text"/>
          <p:cNvSpPr>
            <a:spLocks noGrp="1"/>
          </p:cNvSpPr>
          <p:nvPr/>
        </p:nvSpPr>
        <p:spPr>
          <a:xfrm>
            <a:off x="10668000" y="267017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178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8" name="body-text"/>
          <p:cNvSpPr>
            <a:spLocks noGrp="1"/>
          </p:cNvSpPr>
          <p:nvPr/>
        </p:nvSpPr>
        <p:spPr>
          <a:xfrm>
            <a:off x="8096250" y="310515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MooTrack360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667875" y="3124200"/>
            <a:ext cx="90487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667875" y="3124200"/>
            <a:ext cx="754063" cy="247650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51" name="body-text"/>
          <p:cNvSpPr>
            <a:spLocks noGrp="1"/>
          </p:cNvSpPr>
          <p:nvPr/>
        </p:nvSpPr>
        <p:spPr>
          <a:xfrm>
            <a:off x="10668000" y="31051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5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52" name="body-text"/>
          <p:cNvSpPr>
            <a:spLocks noGrp="1"/>
          </p:cNvSpPr>
          <p:nvPr/>
        </p:nvSpPr>
        <p:spPr>
          <a:xfrm>
            <a:off x="8096250" y="354012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dairy-cow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667875" y="3559175"/>
            <a:ext cx="90487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9667875" y="3578225"/>
            <a:ext cx="603250" cy="247650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55" name="body-text"/>
          <p:cNvSpPr>
            <a:spLocks noGrp="1"/>
          </p:cNvSpPr>
          <p:nvPr/>
        </p:nvSpPr>
        <p:spPr>
          <a:xfrm>
            <a:off x="10668000" y="35401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200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56" name="body-text"/>
          <p:cNvSpPr>
            <a:spLocks noGrp="1"/>
          </p:cNvSpPr>
          <p:nvPr/>
        </p:nvSpPr>
        <p:spPr>
          <a:xfrm>
            <a:off x="8096250" y="397510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AP-10K / Animal-Pose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667875" y="3994150"/>
            <a:ext cx="90487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9667875" y="3994150"/>
            <a:ext cx="603250" cy="247650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59" name="body-text"/>
          <p:cNvSpPr>
            <a:spLocks noGrp="1"/>
          </p:cNvSpPr>
          <p:nvPr/>
        </p:nvSpPr>
        <p:spPr>
          <a:xfrm>
            <a:off x="10668000" y="397510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4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60" name="content-box"/>
          <p:cNvSpPr>
            <a:spLocks noGrp="1"/>
          </p:cNvSpPr>
          <p:nvPr/>
        </p:nvSpPr>
        <p:spPr>
          <a:xfrm>
            <a:off x="2190750" y="5381625"/>
            <a:ext cx="7810500" cy="1076325"/>
          </a:xfrm>
          <a:prstGeom prst="roundRect">
            <a:avLst>
              <a:gd name="adj" fmla="val 11628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61" name="body-text"/>
          <p:cNvSpPr>
            <a:spLocks noGrp="1"/>
          </p:cNvSpPr>
          <p:nvPr/>
        </p:nvSpPr>
        <p:spPr>
          <a:xfrm>
            <a:off x="2362200" y="5514975"/>
            <a:ext cx="7467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评测对象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62" name="body-text"/>
          <p:cNvSpPr>
            <a:spLocks noGrp="1"/>
          </p:cNvSpPr>
          <p:nvPr/>
        </p:nvSpPr>
        <p:spPr>
          <a:xfrm>
            <a:off x="2362200" y="5876925"/>
            <a:ext cx="7467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YOLOv8n 与 YOLOv8m；后续可扩展 YOLOv9-v12、RT-DETR、Faster R-CNN。</a:t>
            </a:r>
            <a:endParaRPr sz="1350" b="0">
              <a:solidFill>
                <a:srgbClr val="26323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CowCV 平台：本地前后端服务已可访问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10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27" name="body-text"/>
          <p:cNvSpPr>
            <a:spLocks noGrp="1"/>
          </p:cNvSpPr>
          <p:nvPr/>
        </p:nvSpPr>
        <p:spPr>
          <a:xfrm>
            <a:off x="857250" y="1143000"/>
            <a:ext cx="1028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006D39"/>
                </a:solidFill>
              </a:defRPr>
            </a:pPr>
            <a:r>
              <a:rPr sz="1800" b="1">
                <a:solidFill>
                  <a:srgbClr val="006D39"/>
                </a:solidFill>
              </a:rPr>
              <a:t>平台目标：提供数据检索、样本浏览、元信息管理、下载申请和 benchmark 展示入口；当前前端与接口文档均已在本机访问。</a:t>
            </a:r>
            <a:endParaRPr sz="1800" b="1">
              <a:solidFill>
                <a:srgbClr val="006D39"/>
              </a:solidFill>
            </a:endParaRPr>
          </a:p>
        </p:txBody>
      </p:sp>
      <p:sp>
        <p:nvSpPr>
          <p:cNvPr id="28" name="content-box"/>
          <p:cNvSpPr>
            <a:spLocks noGrp="1"/>
          </p:cNvSpPr>
          <p:nvPr/>
        </p:nvSpPr>
        <p:spPr>
          <a:xfrm>
            <a:off x="1047750" y="2000250"/>
            <a:ext cx="2476500" cy="1285875"/>
          </a:xfrm>
          <a:prstGeom prst="roundRect">
            <a:avLst>
              <a:gd name="adj" fmla="val 7407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29" name="body-text"/>
          <p:cNvSpPr>
            <a:spLocks noGrp="1"/>
          </p:cNvSpPr>
          <p:nvPr/>
        </p:nvSpPr>
        <p:spPr>
          <a:xfrm>
            <a:off x="1219200" y="21336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前端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0" name="body-text"/>
          <p:cNvSpPr>
            <a:spLocks noGrp="1"/>
          </p:cNvSpPr>
          <p:nvPr/>
        </p:nvSpPr>
        <p:spPr>
          <a:xfrm>
            <a:off x="1219200" y="2495550"/>
            <a:ext cx="2133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React + Vite；前端 Dockerfile 改为 npm ci，提高构建可复现性。</a:t>
            </a:r>
            <a:endParaRPr sz="1350" b="0">
              <a:solidFill>
                <a:srgbClr val="263238"/>
              </a:solidFill>
            </a:endParaRPr>
          </a:p>
        </p:txBody>
      </p:sp>
      <p:sp>
        <p:nvSpPr>
          <p:cNvPr id="31" name="content-box"/>
          <p:cNvSpPr>
            <a:spLocks noGrp="1"/>
          </p:cNvSpPr>
          <p:nvPr/>
        </p:nvSpPr>
        <p:spPr>
          <a:xfrm>
            <a:off x="4857750" y="2000250"/>
            <a:ext cx="2476500" cy="1285875"/>
          </a:xfrm>
          <a:prstGeom prst="roundRect">
            <a:avLst>
              <a:gd name="adj" fmla="val 7407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2" name="body-text"/>
          <p:cNvSpPr>
            <a:spLocks noGrp="1"/>
          </p:cNvSpPr>
          <p:nvPr/>
        </p:nvSpPr>
        <p:spPr>
          <a:xfrm>
            <a:off x="5029200" y="21336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后端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3" name="body-text"/>
          <p:cNvSpPr>
            <a:spLocks noGrp="1"/>
          </p:cNvSpPr>
          <p:nvPr/>
        </p:nvSpPr>
        <p:spPr>
          <a:xfrm>
            <a:off x="5029200" y="2495550"/>
            <a:ext cx="2133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FastAPI + Uvicorn；配置改为环境变量，补齐 MySQL 8 认证依赖。</a:t>
            </a:r>
            <a:endParaRPr sz="1350" b="0">
              <a:solidFill>
                <a:srgbClr val="263238"/>
              </a:solidFill>
            </a:endParaRPr>
          </a:p>
        </p:txBody>
      </p:sp>
      <p:sp>
        <p:nvSpPr>
          <p:cNvPr id="34" name="content-box"/>
          <p:cNvSpPr>
            <a:spLocks noGrp="1"/>
          </p:cNvSpPr>
          <p:nvPr/>
        </p:nvSpPr>
        <p:spPr>
          <a:xfrm>
            <a:off x="8667750" y="2000250"/>
            <a:ext cx="2476500" cy="1285875"/>
          </a:xfrm>
          <a:prstGeom prst="roundRect">
            <a:avLst>
              <a:gd name="adj" fmla="val 7407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5" name="body-text"/>
          <p:cNvSpPr>
            <a:spLocks noGrp="1"/>
          </p:cNvSpPr>
          <p:nvPr/>
        </p:nvSpPr>
        <p:spPr>
          <a:xfrm>
            <a:off x="8839200" y="21336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部署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6" name="body-text"/>
          <p:cNvSpPr>
            <a:spLocks noGrp="1"/>
          </p:cNvSpPr>
          <p:nvPr/>
        </p:nvSpPr>
        <p:spPr>
          <a:xfrm>
            <a:off x="8839200" y="2495550"/>
            <a:ext cx="2133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本地访问：前端 http://localhost:8080/；后端 Swagger http://localhost:8000/docs。</a:t>
            </a:r>
            <a:endParaRPr sz="1350" b="0">
              <a:solidFill>
                <a:srgbClr val="263238"/>
              </a:solidFill>
            </a:endParaRPr>
          </a:p>
        </p:txBody>
      </p:sp>
      <p:sp>
        <p:nvSpPr>
          <p:cNvPr id="37" name="table-cell"/>
          <p:cNvSpPr>
            <a:spLocks noGrp="1"/>
          </p:cNvSpPr>
          <p:nvPr/>
        </p:nvSpPr>
        <p:spPr>
          <a:xfrm>
            <a:off x="1524000" y="3905250"/>
            <a:ext cx="4572000" cy="325438"/>
          </a:xfrm>
          <a:prstGeom prst="rect">
            <a:avLst/>
          </a:prstGeom>
          <a:solidFill>
            <a:srgbClr val="006D39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38" name="body-text"/>
          <p:cNvSpPr>
            <a:spLocks noGrp="1"/>
          </p:cNvSpPr>
          <p:nvPr/>
        </p:nvSpPr>
        <p:spPr>
          <a:xfrm>
            <a:off x="1600200" y="3981450"/>
            <a:ext cx="4419600" cy="211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已完成修复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39" name="table-cell"/>
          <p:cNvSpPr>
            <a:spLocks noGrp="1"/>
          </p:cNvSpPr>
          <p:nvPr/>
        </p:nvSpPr>
        <p:spPr>
          <a:xfrm>
            <a:off x="6096000" y="3905250"/>
            <a:ext cx="4572000" cy="325438"/>
          </a:xfrm>
          <a:prstGeom prst="rect">
            <a:avLst/>
          </a:prstGeom>
          <a:solidFill>
            <a:srgbClr val="006D39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0" name="body-text"/>
          <p:cNvSpPr>
            <a:spLocks noGrp="1"/>
          </p:cNvSpPr>
          <p:nvPr/>
        </p:nvSpPr>
        <p:spPr>
          <a:xfrm>
            <a:off x="6172200" y="3981450"/>
            <a:ext cx="4419600" cy="211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说明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41" name="table-cell"/>
          <p:cNvSpPr>
            <a:spLocks noGrp="1"/>
          </p:cNvSpPr>
          <p:nvPr/>
        </p:nvSpPr>
        <p:spPr>
          <a:xfrm>
            <a:off x="1524000" y="4230688"/>
            <a:ext cx="4572000" cy="325438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2" name="body-text"/>
          <p:cNvSpPr>
            <a:spLocks noGrp="1"/>
          </p:cNvSpPr>
          <p:nvPr/>
        </p:nvSpPr>
        <p:spPr>
          <a:xfrm>
            <a:off x="1600200" y="4306888"/>
            <a:ext cx="4419600" cy="211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路径解析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43" name="table-cell"/>
          <p:cNvSpPr>
            <a:spLocks noGrp="1"/>
          </p:cNvSpPr>
          <p:nvPr/>
        </p:nvSpPr>
        <p:spPr>
          <a:xfrm>
            <a:off x="6096000" y="4230688"/>
            <a:ext cx="4572000" cy="325438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4" name="body-text"/>
          <p:cNvSpPr>
            <a:spLocks noGrp="1"/>
          </p:cNvSpPr>
          <p:nvPr/>
        </p:nvSpPr>
        <p:spPr>
          <a:xfrm>
            <a:off x="6172200" y="4306888"/>
            <a:ext cx="4419600" cy="211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兼容旧 app 路径与新 storage 目录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45" name="table-cell"/>
          <p:cNvSpPr>
            <a:spLocks noGrp="1"/>
          </p:cNvSpPr>
          <p:nvPr/>
        </p:nvSpPr>
        <p:spPr>
          <a:xfrm>
            <a:off x="1524000" y="4556125"/>
            <a:ext cx="4572000" cy="325438"/>
          </a:xfrm>
          <a:prstGeom prst="rect">
            <a:avLst/>
          </a:prstGeom>
          <a:solidFill>
            <a:srgbClr val="FFFFFF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6" name="body-text"/>
          <p:cNvSpPr>
            <a:spLocks noGrp="1"/>
          </p:cNvSpPr>
          <p:nvPr/>
        </p:nvSpPr>
        <p:spPr>
          <a:xfrm>
            <a:off x="1600200" y="4632325"/>
            <a:ext cx="4419600" cy="211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启动命令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47" name="table-cell"/>
          <p:cNvSpPr>
            <a:spLocks noGrp="1"/>
          </p:cNvSpPr>
          <p:nvPr/>
        </p:nvSpPr>
        <p:spPr>
          <a:xfrm>
            <a:off x="6096000" y="4556125"/>
            <a:ext cx="4572000" cy="325438"/>
          </a:xfrm>
          <a:prstGeom prst="rect">
            <a:avLst/>
          </a:prstGeom>
          <a:solidFill>
            <a:srgbClr val="FFFFFF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48" name="body-text"/>
          <p:cNvSpPr>
            <a:spLocks noGrp="1"/>
          </p:cNvSpPr>
          <p:nvPr/>
        </p:nvSpPr>
        <p:spPr>
          <a:xfrm>
            <a:off x="6172200" y="4632325"/>
            <a:ext cx="4419600" cy="211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后端默认使用 uvicorn app.main:app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49" name="table-cell"/>
          <p:cNvSpPr>
            <a:spLocks noGrp="1"/>
          </p:cNvSpPr>
          <p:nvPr/>
        </p:nvSpPr>
        <p:spPr>
          <a:xfrm>
            <a:off x="1524000" y="4881563"/>
            <a:ext cx="4572000" cy="325438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50" name="body-text"/>
          <p:cNvSpPr>
            <a:spLocks noGrp="1"/>
          </p:cNvSpPr>
          <p:nvPr/>
        </p:nvSpPr>
        <p:spPr>
          <a:xfrm>
            <a:off x="1600200" y="4957763"/>
            <a:ext cx="4419600" cy="211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镜像上下文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51" name="table-cell"/>
          <p:cNvSpPr>
            <a:spLocks noGrp="1"/>
          </p:cNvSpPr>
          <p:nvPr/>
        </p:nvSpPr>
        <p:spPr>
          <a:xfrm>
            <a:off x="6096000" y="4881563"/>
            <a:ext cx="4572000" cy="325438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52" name="body-text"/>
          <p:cNvSpPr>
            <a:spLocks noGrp="1"/>
          </p:cNvSpPr>
          <p:nvPr/>
        </p:nvSpPr>
        <p:spPr>
          <a:xfrm>
            <a:off x="6172200" y="4957763"/>
            <a:ext cx="4419600" cy="211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增加 .dockerignore，避免带入运行时目录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53" name="table-cell"/>
          <p:cNvSpPr>
            <a:spLocks noGrp="1"/>
          </p:cNvSpPr>
          <p:nvPr/>
        </p:nvSpPr>
        <p:spPr>
          <a:xfrm>
            <a:off x="1524000" y="5207000"/>
            <a:ext cx="4572000" cy="325438"/>
          </a:xfrm>
          <a:prstGeom prst="rect">
            <a:avLst/>
          </a:prstGeom>
          <a:solidFill>
            <a:srgbClr val="FFFFFF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54" name="body-text"/>
          <p:cNvSpPr>
            <a:spLocks noGrp="1"/>
          </p:cNvSpPr>
          <p:nvPr/>
        </p:nvSpPr>
        <p:spPr>
          <a:xfrm>
            <a:off x="1600200" y="5283200"/>
            <a:ext cx="4419600" cy="211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待验证项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55" name="table-cell"/>
          <p:cNvSpPr>
            <a:spLocks noGrp="1"/>
          </p:cNvSpPr>
          <p:nvPr/>
        </p:nvSpPr>
        <p:spPr>
          <a:xfrm>
            <a:off x="6096000" y="5207000"/>
            <a:ext cx="4572000" cy="325438"/>
          </a:xfrm>
          <a:prstGeom prst="rect">
            <a:avLst/>
          </a:prstGeom>
          <a:solidFill>
            <a:srgbClr val="FFFFFF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56" name="body-text"/>
          <p:cNvSpPr>
            <a:spLocks noGrp="1"/>
          </p:cNvSpPr>
          <p:nvPr/>
        </p:nvSpPr>
        <p:spPr>
          <a:xfrm>
            <a:off x="6172200" y="5283200"/>
            <a:ext cx="4419600" cy="211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真实媒体挂载路径、反向代理和下载申请流程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57" name="table-cell"/>
          <p:cNvSpPr>
            <a:spLocks noGrp="1"/>
          </p:cNvSpPr>
          <p:nvPr/>
        </p:nvSpPr>
        <p:spPr>
          <a:xfrm>
            <a:off x="1524000" y="5532437"/>
            <a:ext cx="4572000" cy="325438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58" name="body-text"/>
          <p:cNvSpPr>
            <a:spLocks noGrp="1"/>
          </p:cNvSpPr>
          <p:nvPr/>
        </p:nvSpPr>
        <p:spPr>
          <a:xfrm>
            <a:off x="1600200" y="5608637"/>
            <a:ext cx="4419600" cy="211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下一步</a:t>
            </a:r>
            <a:endParaRPr sz="1125" b="0">
              <a:solidFill>
                <a:srgbClr val="1F2933"/>
              </a:solidFill>
            </a:endParaRPr>
          </a:p>
        </p:txBody>
      </p:sp>
      <p:sp>
        <p:nvSpPr>
          <p:cNvPr id="59" name="table-cell"/>
          <p:cNvSpPr>
            <a:spLocks noGrp="1"/>
          </p:cNvSpPr>
          <p:nvPr/>
        </p:nvSpPr>
        <p:spPr>
          <a:xfrm>
            <a:off x="6096000" y="5532437"/>
            <a:ext cx="4572000" cy="325438"/>
          </a:xfrm>
          <a:prstGeom prst="rect">
            <a:avLst/>
          </a:prstGeom>
          <a:solidFill>
            <a:srgbClr val="F4F9F1"/>
          </a:solidFill>
          <a:ln w="9525">
            <a:solidFill>
              <a:srgbClr val="D1E4D7"/>
            </a:solidFill>
            <a:prstDash val="solid"/>
          </a:ln>
        </p:spPr>
      </p:sp>
      <p:sp>
        <p:nvSpPr>
          <p:cNvPr id="60" name="body-text"/>
          <p:cNvSpPr>
            <a:spLocks noGrp="1"/>
          </p:cNvSpPr>
          <p:nvPr/>
        </p:nvSpPr>
        <p:spPr>
          <a:xfrm>
            <a:off x="6172200" y="5608637"/>
            <a:ext cx="4419600" cy="211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已补充前端页面与后端接口文档截图</a:t>
            </a:r>
            <a:endParaRPr sz="1125" b="0">
              <a:solidFill>
                <a:srgbClr val="1F293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B2341"/>
                </a:solidFill>
              </a:defRPr>
            </a:pPr>
            <a:r>
              <a:rPr sz="2250">
                <a:solidFill>
                  <a:srgbClr val="0B2341"/>
                </a:solidFill>
                <a:sym typeface="+mn-ea"/>
              </a:rPr>
              <a:t>CowCV 平台运行效果：前端展示与后端接口已经连通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10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5" name="subtitle"/>
          <p:cNvSpPr>
            <a:spLocks noGrp="1"/>
          </p:cNvSpPr>
          <p:nvPr/>
        </p:nvSpPr>
        <p:spPr>
          <a:xfrm>
            <a:off x="685800" y="12573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42526E"/>
                </a:solidFill>
              </a:defRPr>
            </a:pPr>
            <a:r>
              <a:rPr sz="1350">
                <a:solidFill>
                  <a:srgbClr val="42526E"/>
                </a:solidFill>
              </a:rPr>
              <a:t>页面截图来自本机服务：前端 http://localhost:8080/，后端 Swagger http://localhost:8000/docs。</a:t>
            </a:r>
            <a:endParaRPr sz="1350">
              <a:solidFill>
                <a:srgbClr val="42526E"/>
              </a:solidFill>
            </a:endParaRPr>
          </a:p>
        </p:txBody>
      </p:sp>
      <p:sp>
        <p:nvSpPr>
          <p:cNvPr id="11" name="frontend-frame"/>
          <p:cNvSpPr>
            <a:spLocks noGrp="1"/>
          </p:cNvSpPr>
          <p:nvPr/>
        </p:nvSpPr>
        <p:spPr>
          <a:xfrm>
            <a:off x="685800" y="1885950"/>
            <a:ext cx="5219700" cy="29337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7D7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902" y="1962150"/>
            <a:ext cx="4941495" cy="2781300"/>
          </a:xfrm>
          <a:prstGeom prst="roundRect">
            <a:avLst/>
          </a:prstGeom>
        </p:spPr>
      </p:pic>
      <p:sp>
        <p:nvSpPr>
          <p:cNvPr id="17" name="backend-frame"/>
          <p:cNvSpPr>
            <a:spLocks noGrp="1"/>
          </p:cNvSpPr>
          <p:nvPr/>
        </p:nvSpPr>
        <p:spPr>
          <a:xfrm>
            <a:off x="6286500" y="1885950"/>
            <a:ext cx="5219700" cy="29337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7D7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987" y="1962150"/>
            <a:ext cx="4882727" cy="2781300"/>
          </a:xfrm>
          <a:prstGeom prst="roundRect">
            <a:avLst/>
          </a:prstGeom>
        </p:spPr>
      </p:pic>
      <p:sp>
        <p:nvSpPr>
          <p:cNvPr id="20" name="frontend-caption-title"/>
          <p:cNvSpPr>
            <a:spLocks noGrp="1"/>
          </p:cNvSpPr>
          <p:nvPr/>
        </p:nvSpPr>
        <p:spPr>
          <a:xfrm>
            <a:off x="685800" y="5010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B2341"/>
                </a:solidFill>
              </a:defRPr>
            </a:pPr>
            <a:r>
              <a:rPr sz="1575" b="1">
                <a:solidFill>
                  <a:srgbClr val="0B2341"/>
                </a:solidFill>
              </a:rPr>
              <a:t>前端页面</a:t>
            </a:r>
            <a:endParaRPr sz="1575" b="1">
              <a:solidFill>
                <a:srgbClr val="0B2341"/>
              </a:solidFill>
            </a:endParaRPr>
          </a:p>
        </p:txBody>
      </p:sp>
      <p:sp>
        <p:nvSpPr>
          <p:cNvPr id="21" name="frontend-caption"/>
          <p:cNvSpPr>
            <a:spLocks noGrp="1"/>
          </p:cNvSpPr>
          <p:nvPr/>
        </p:nvSpPr>
        <p:spPr>
          <a:xfrm>
            <a:off x="685800" y="5314950"/>
            <a:ext cx="5219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44546A"/>
                </a:solidFill>
              </a:defRPr>
            </a:pPr>
            <a:r>
              <a:rPr sz="1275">
                <a:solidFill>
                  <a:srgbClr val="44546A"/>
                </a:solidFill>
              </a:rPr>
              <a:t>Open Cow Image Archive 已可访问，展示数据集浏览、工具处理、下载和提交入口。</a:t>
            </a:r>
            <a:endParaRPr sz="1275">
              <a:solidFill>
                <a:srgbClr val="44546A"/>
              </a:solidFill>
            </a:endParaRPr>
          </a:p>
        </p:txBody>
      </p:sp>
      <p:sp>
        <p:nvSpPr>
          <p:cNvPr id="23" name="backend-caption-title"/>
          <p:cNvSpPr>
            <a:spLocks noGrp="1"/>
          </p:cNvSpPr>
          <p:nvPr/>
        </p:nvSpPr>
        <p:spPr>
          <a:xfrm>
            <a:off x="6286500" y="50101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B2341"/>
                </a:solidFill>
              </a:defRPr>
            </a:pPr>
            <a:r>
              <a:rPr sz="1575" b="1">
                <a:solidFill>
                  <a:srgbClr val="0B2341"/>
                </a:solidFill>
              </a:rPr>
              <a:t>后端接口文档</a:t>
            </a:r>
            <a:endParaRPr sz="1575" b="1">
              <a:solidFill>
                <a:srgbClr val="0B2341"/>
              </a:solidFill>
            </a:endParaRPr>
          </a:p>
        </p:txBody>
      </p:sp>
      <p:sp>
        <p:nvSpPr>
          <p:cNvPr id="61" name="bottom-note"/>
          <p:cNvSpPr>
            <a:spLocks noGrp="1"/>
          </p:cNvSpPr>
          <p:nvPr/>
        </p:nvSpPr>
        <p:spPr>
          <a:xfrm>
            <a:off x="685800" y="6153150"/>
            <a:ext cx="914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1E5AA8"/>
                </a:solidFill>
              </a:defRPr>
            </a:pPr>
            <a:r>
              <a:rPr sz="1800" b="1">
                <a:solidFill>
                  <a:srgbClr val="006D39"/>
                </a:solidFill>
              </a:rPr>
              <a:t>意义：平台已经具备面向组内展示和后续真实部署验证的可视化入口</a:t>
            </a:r>
            <a:r>
              <a:rPr sz="1425" b="1">
                <a:solidFill>
                  <a:srgbClr val="1E5AA8"/>
                </a:solidFill>
              </a:rPr>
              <a:t>。</a:t>
            </a:r>
            <a:endParaRPr sz="1425" b="1">
              <a:solidFill>
                <a:srgbClr val="1E5AA8"/>
              </a:solidFill>
            </a:endParaRPr>
          </a:p>
        </p:txBody>
      </p:sp>
      <p:sp>
        <p:nvSpPr>
          <p:cNvPr id="62" name="backend-caption"/>
          <p:cNvSpPr>
            <a:spLocks noGrp="1"/>
          </p:cNvSpPr>
          <p:nvPr/>
        </p:nvSpPr>
        <p:spPr>
          <a:xfrm>
            <a:off x="6286500" y="5314950"/>
            <a:ext cx="5219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44546A"/>
                </a:solidFill>
              </a:defRPr>
            </a:pPr>
            <a:r>
              <a:rPr sz="1275">
                <a:solidFill>
                  <a:srgbClr val="44546A"/>
                </a:solidFill>
              </a:rPr>
              <a:t>FastAPI Swagger 文档可访问，覆盖 portal、search、upload、download、tools 和 submit 等接口。</a:t>
            </a:r>
            <a:endParaRPr sz="1275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4"/>
          <p:cNvPicPr>
            <a:picLocks noChangeAspect="1"/>
          </p:cNvPicPr>
          <p:nvPr/>
        </p:nvPicPr>
        <p:blipFill rotWithShape="1">
          <a:blip r:embed="rId1"/>
          <a:srcRect l="16722" r="16722" b="9445"/>
          <a:stretch>
            <a:fillRect/>
          </a:stretch>
        </p:blipFill>
        <p:spPr>
          <a:xfrm>
            <a:off x="0" y="647700"/>
            <a:ext cx="12192000" cy="62103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1"/>
              </a:gs>
              <a:gs pos="100000">
                <a:schemeClr val="bg1">
                  <a:alpha val="0"/>
                </a:schemeClr>
              </a:gs>
              <a:gs pos="48000">
                <a:schemeClr val="bg1">
                  <a:alpha val="50000"/>
                </a:schemeClr>
              </a:gs>
            </a:gsLst>
            <a:lin ang="5400000" scaled="1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2759783" y="2358393"/>
            <a:ext cx="66724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rgbClr val="006D39"/>
                </a:solidFill>
              </a:defRPr>
            </a:pPr>
            <a:r>
              <a:rPr sz="3375" b="1" i="0" u="none" cap="none">
                <a:ln>
                  <a:noFill/>
                </a:ln>
                <a:solidFill>
                  <a:srgbClr val="006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实验结果与关键发现</a:t>
            </a:r>
            <a:endParaRPr sz="3375" b="1" i="0" u="none" cap="none">
              <a:ln>
                <a:noFill/>
              </a:ln>
              <a:solidFill>
                <a:srgbClr val="006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3221216" y="3352801"/>
            <a:ext cx="5749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500">
                <a:solidFill>
                  <a:srgbClr val="1F2933"/>
                </a:solidFill>
              </a:defRPr>
            </a:pPr>
            <a:r>
              <a:rPr sz="1500">
                <a:solidFill>
                  <a:srgbClr val="1F2933"/>
                </a:solidFill>
                <a:latin typeface="Segoe UI Light" panose="020B0502040204020203"/>
                <a:ea typeface="Segoe UI Light" panose="020B0502040204020203"/>
                <a:cs typeface="Segoe UI Light" panose="020B0502040204020203"/>
              </a:rPr>
              <a:t>多源训练有效，但未见域仍然暴露 domain gap</a:t>
            </a:r>
            <a:endParaRPr sz="1500">
              <a:solidFill>
                <a:srgbClr val="1F2933"/>
              </a:solidFill>
              <a:latin typeface="Segoe UI Light" panose="020B0502040204020203"/>
              <a:ea typeface="Segoe UI Light" panose="020B0502040204020203"/>
              <a:cs typeface="Segoe UI Light" panose="020B0502040204020203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4919235" y="1443985"/>
            <a:ext cx="2353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75" b="0">
                <a:solidFill>
                  <a:srgbClr val="006D39"/>
                </a:solidFill>
              </a:defRPr>
            </a:pPr>
            <a:r>
              <a:rPr sz="2475" b="0" i="0" u="none" cap="none">
                <a:ln>
                  <a:noFill/>
                </a:ln>
                <a:solidFill>
                  <a:srgbClr val="006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03</a:t>
            </a:r>
            <a:endParaRPr sz="2475" b="0" i="0" u="none" cap="none">
              <a:ln>
                <a:noFill/>
              </a:ln>
              <a:solidFill>
                <a:srgbClr val="006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24550" y="2171700"/>
            <a:ext cx="3429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YOLOv8n 实验：混合训练显著提升四个核心域泛化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12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27" name="body-text"/>
          <p:cNvSpPr>
            <a:spLocks noGrp="1"/>
          </p:cNvSpPr>
          <p:nvPr/>
        </p:nvSpPr>
        <p:spPr>
          <a:xfrm>
            <a:off x="857250" y="10953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6D39"/>
                </a:solidFill>
              </a:defRPr>
            </a:pPr>
            <a:r>
              <a:rPr sz="1725" b="1">
                <a:solidFill>
                  <a:srgbClr val="006D39"/>
                </a:solidFill>
              </a:rPr>
              <a:t>在训练总量同为 600 张的条件下，Merged 模型平均 mAP@50 达到 0.9230，明显高于各单域模型。</a:t>
            </a:r>
            <a:endParaRPr sz="1725" b="1">
              <a:solidFill>
                <a:srgbClr val="006D39"/>
              </a:solidFill>
            </a:endParaRPr>
          </a:p>
        </p:txBody>
      </p:sp>
      <p:sp>
        <p:nvSpPr>
          <p:cNvPr id="28" name="body-text"/>
          <p:cNvSpPr>
            <a:spLocks noGrp="1"/>
          </p:cNvSpPr>
          <p:nvPr/>
        </p:nvSpPr>
        <p:spPr>
          <a:xfrm>
            <a:off x="904875" y="195262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006D39"/>
                </a:solidFill>
              </a:defRPr>
            </a:pPr>
            <a:r>
              <a:rPr sz="1350" b="1">
                <a:solidFill>
                  <a:srgbClr val="006D39"/>
                </a:solidFill>
              </a:rPr>
              <a:t>模型平均 mAP@50</a:t>
            </a:r>
            <a:endParaRPr sz="1350" b="1">
              <a:solidFill>
                <a:srgbClr val="006D39"/>
              </a:solidFill>
            </a:endParaRPr>
          </a:p>
        </p:txBody>
      </p:sp>
      <p:sp>
        <p:nvSpPr>
          <p:cNvPr id="29" name="body-text"/>
          <p:cNvSpPr>
            <a:spLocks noGrp="1"/>
          </p:cNvSpPr>
          <p:nvPr/>
        </p:nvSpPr>
        <p:spPr>
          <a:xfrm>
            <a:off x="904875" y="237172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8-Calves single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476500" y="2390775"/>
            <a:ext cx="252412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476500" y="2390775"/>
            <a:ext cx="1919757" cy="247650"/>
          </a:xfrm>
          <a:prstGeom prst="rect">
            <a:avLst/>
          </a:prstGeom>
          <a:solidFill>
            <a:srgbClr val="008F77"/>
          </a:solidFill>
          <a:ln w="0">
            <a:noFill/>
            <a:prstDash val="solid"/>
          </a:ln>
        </p:spPr>
      </p:sp>
      <p:sp>
        <p:nvSpPr>
          <p:cNvPr id="32" name="body-text"/>
          <p:cNvSpPr>
            <a:spLocks noGrp="1"/>
          </p:cNvSpPr>
          <p:nvPr/>
        </p:nvSpPr>
        <p:spPr>
          <a:xfrm>
            <a:off x="5095875" y="23717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0.4665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33" name="body-text"/>
          <p:cNvSpPr>
            <a:spLocks noGrp="1"/>
          </p:cNvSpPr>
          <p:nvPr/>
        </p:nvSpPr>
        <p:spPr>
          <a:xfrm>
            <a:off x="904875" y="287464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XGain single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476500" y="2893695"/>
            <a:ext cx="252412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476500" y="2893695"/>
            <a:ext cx="1919757" cy="247650"/>
          </a:xfrm>
          <a:prstGeom prst="rect">
            <a:avLst/>
          </a:prstGeom>
          <a:solidFill>
            <a:srgbClr val="008F77"/>
          </a:solidFill>
          <a:ln w="0">
            <a:noFill/>
            <a:prstDash val="solid"/>
          </a:ln>
        </p:spPr>
      </p:sp>
      <p:sp>
        <p:nvSpPr>
          <p:cNvPr id="36" name="body-text"/>
          <p:cNvSpPr>
            <a:spLocks noGrp="1"/>
          </p:cNvSpPr>
          <p:nvPr/>
        </p:nvSpPr>
        <p:spPr>
          <a:xfrm>
            <a:off x="5095875" y="287464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0.162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37" name="body-text"/>
          <p:cNvSpPr>
            <a:spLocks noGrp="1"/>
          </p:cNvSpPr>
          <p:nvPr/>
        </p:nvSpPr>
        <p:spPr>
          <a:xfrm>
            <a:off x="904875" y="337756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COLO single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476500" y="3396615"/>
            <a:ext cx="252412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2476500" y="3396615"/>
            <a:ext cx="1777553" cy="247650"/>
          </a:xfrm>
          <a:prstGeom prst="rect">
            <a:avLst/>
          </a:prstGeom>
          <a:solidFill>
            <a:srgbClr val="008F77"/>
          </a:solidFill>
          <a:ln w="0">
            <a:noFill/>
            <a:prstDash val="solid"/>
          </a:ln>
        </p:spPr>
      </p:sp>
      <p:sp>
        <p:nvSpPr>
          <p:cNvPr id="40" name="body-text"/>
          <p:cNvSpPr>
            <a:spLocks noGrp="1"/>
          </p:cNvSpPr>
          <p:nvPr/>
        </p:nvSpPr>
        <p:spPr>
          <a:xfrm>
            <a:off x="5095875" y="337756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0.4845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1" name="body-text"/>
          <p:cNvSpPr>
            <a:spLocks noGrp="1"/>
          </p:cNvSpPr>
          <p:nvPr/>
        </p:nvSpPr>
        <p:spPr>
          <a:xfrm>
            <a:off x="904875" y="388048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MooTrack360 single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476500" y="3899535"/>
            <a:ext cx="252412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2476500" y="3899535"/>
            <a:ext cx="1990859" cy="247650"/>
          </a:xfrm>
          <a:prstGeom prst="rect">
            <a:avLst/>
          </a:prstGeom>
          <a:solidFill>
            <a:srgbClr val="008F77"/>
          </a:solidFill>
          <a:ln w="0">
            <a:noFill/>
            <a:prstDash val="solid"/>
          </a:ln>
        </p:spPr>
      </p:sp>
      <p:sp>
        <p:nvSpPr>
          <p:cNvPr id="44" name="body-text"/>
          <p:cNvSpPr>
            <a:spLocks noGrp="1"/>
          </p:cNvSpPr>
          <p:nvPr/>
        </p:nvSpPr>
        <p:spPr>
          <a:xfrm>
            <a:off x="5095875" y="388048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0.6233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5" name="body-text"/>
          <p:cNvSpPr>
            <a:spLocks noGrp="1"/>
          </p:cNvSpPr>
          <p:nvPr/>
        </p:nvSpPr>
        <p:spPr>
          <a:xfrm>
            <a:off x="904875" y="438340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Merged train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476500" y="4402455"/>
            <a:ext cx="252412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476500" y="4402455"/>
            <a:ext cx="2524125" cy="247650"/>
          </a:xfrm>
          <a:prstGeom prst="rect">
            <a:avLst/>
          </a:prstGeom>
          <a:solidFill>
            <a:srgbClr val="008F77"/>
          </a:solidFill>
          <a:ln w="0">
            <a:noFill/>
            <a:prstDash val="solid"/>
          </a:ln>
        </p:spPr>
      </p:sp>
      <p:sp>
        <p:nvSpPr>
          <p:cNvPr id="48" name="body-text"/>
          <p:cNvSpPr>
            <a:spLocks noGrp="1"/>
          </p:cNvSpPr>
          <p:nvPr/>
        </p:nvSpPr>
        <p:spPr>
          <a:xfrm>
            <a:off x="5095875" y="438340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0.9230</a:t>
            </a:r>
            <a:endParaRPr sz="1050" b="0">
              <a:solidFill>
                <a:srgbClr val="263238"/>
              </a:solidFill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3070" y="1762125"/>
            <a:ext cx="4999355" cy="4276725"/>
          </a:xfrm>
          <a:prstGeom prst="rect">
            <a:avLst/>
          </a:prstGeom>
        </p:spPr>
      </p:pic>
      <p:sp>
        <p:nvSpPr>
          <p:cNvPr id="50" name="bullet-dot"/>
          <p:cNvSpPr>
            <a:spLocks noGrp="1"/>
          </p:cNvSpPr>
          <p:nvPr/>
        </p:nvSpPr>
        <p:spPr>
          <a:xfrm>
            <a:off x="1238250" y="5457825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51" name="body-text"/>
          <p:cNvSpPr>
            <a:spLocks noGrp="1"/>
          </p:cNvSpPr>
          <p:nvPr/>
        </p:nvSpPr>
        <p:spPr>
          <a:xfrm>
            <a:off x="1466850" y="5381625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单数据集模型在本域高分，但跨域时快速下降。</a:t>
            </a:r>
            <a:endParaRPr sz="1350" b="0">
              <a:solidFill>
                <a:srgbClr val="1F2933"/>
              </a:solidFill>
            </a:endParaRPr>
          </a:p>
        </p:txBody>
      </p:sp>
      <p:sp>
        <p:nvSpPr>
          <p:cNvPr id="52" name="bullet-dot"/>
          <p:cNvSpPr>
            <a:spLocks noGrp="1"/>
          </p:cNvSpPr>
          <p:nvPr/>
        </p:nvSpPr>
        <p:spPr>
          <a:xfrm>
            <a:off x="1238250" y="5762625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53" name="body-text"/>
          <p:cNvSpPr>
            <a:spLocks noGrp="1"/>
          </p:cNvSpPr>
          <p:nvPr/>
        </p:nvSpPr>
        <p:spPr>
          <a:xfrm>
            <a:off x="1466850" y="5686425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Merged 在 4 个测试集上都保持 0.89 以上 mAP@50。</a:t>
            </a:r>
            <a:endParaRPr sz="1350" b="0">
              <a:solidFill>
                <a:srgbClr val="1F2933"/>
              </a:solidFill>
            </a:endParaRPr>
          </a:p>
        </p:txBody>
      </p:sp>
      <p:sp>
        <p:nvSpPr>
          <p:cNvPr id="54" name="bullet-dot"/>
          <p:cNvSpPr>
            <a:spLocks noGrp="1"/>
          </p:cNvSpPr>
          <p:nvPr/>
        </p:nvSpPr>
        <p:spPr>
          <a:xfrm>
            <a:off x="1238250" y="6067425"/>
            <a:ext cx="95250" cy="95250"/>
          </a:xfrm>
          <a:prstGeom prst="ellipse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55" name="body-text"/>
          <p:cNvSpPr>
            <a:spLocks noGrp="1"/>
          </p:cNvSpPr>
          <p:nvPr/>
        </p:nvSpPr>
        <p:spPr>
          <a:xfrm>
            <a:off x="1466850" y="5991225"/>
            <a:ext cx="891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结论：同样训练量下，数据多样性比单域同质样本更关键。</a:t>
            </a:r>
            <a:endParaRPr sz="1350" b="0">
              <a:solidFill>
                <a:srgbClr val="1F293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低分主要来自 domain gap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13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27" name="content-box"/>
          <p:cNvSpPr>
            <a:spLocks noGrp="1"/>
          </p:cNvSpPr>
          <p:nvPr/>
        </p:nvSpPr>
        <p:spPr>
          <a:xfrm>
            <a:off x="809625" y="1285875"/>
            <a:ext cx="3190875" cy="1619250"/>
          </a:xfrm>
          <a:prstGeom prst="roundRect">
            <a:avLst>
              <a:gd name="adj" fmla="val 5882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28" name="body-text"/>
          <p:cNvSpPr>
            <a:spLocks noGrp="1"/>
          </p:cNvSpPr>
          <p:nvPr/>
        </p:nvSpPr>
        <p:spPr>
          <a:xfrm>
            <a:off x="981075" y="1419225"/>
            <a:ext cx="2847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dairy-cow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29" name="body-text"/>
          <p:cNvSpPr>
            <a:spLocks noGrp="1"/>
          </p:cNvSpPr>
          <p:nvPr/>
        </p:nvSpPr>
        <p:spPr>
          <a:xfrm>
            <a:off x="981075" y="1781175"/>
            <a:ext cx="28479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Merged 模型 mAP@50=0.3203；旧数据集自训练测试可达 0.820，说明标注不是主要问题。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0" name="content-box"/>
          <p:cNvSpPr>
            <a:spLocks noGrp="1"/>
          </p:cNvSpPr>
          <p:nvPr/>
        </p:nvSpPr>
        <p:spPr>
          <a:xfrm>
            <a:off x="4495800" y="1285875"/>
            <a:ext cx="3190875" cy="1619250"/>
          </a:xfrm>
          <a:prstGeom prst="roundRect">
            <a:avLst>
              <a:gd name="adj" fmla="val 5882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1" name="body-text"/>
          <p:cNvSpPr>
            <a:spLocks noGrp="1"/>
          </p:cNvSpPr>
          <p:nvPr/>
        </p:nvSpPr>
        <p:spPr>
          <a:xfrm>
            <a:off x="4667250" y="1419225"/>
            <a:ext cx="2847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AP-10K cow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2" name="body-text"/>
          <p:cNvSpPr>
            <a:spLocks noGrp="1"/>
          </p:cNvSpPr>
          <p:nvPr/>
        </p:nvSpPr>
        <p:spPr>
          <a:xfrm>
            <a:off x="4667250" y="1781175"/>
            <a:ext cx="28479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COLO 单模型表现较强，mAP@50=0.2412；多角度、多光照数据对网络图片有帮助。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3" name="content-box"/>
          <p:cNvSpPr>
            <a:spLocks noGrp="1"/>
          </p:cNvSpPr>
          <p:nvPr/>
        </p:nvSpPr>
        <p:spPr>
          <a:xfrm>
            <a:off x="8172450" y="1285875"/>
            <a:ext cx="3190875" cy="1619250"/>
          </a:xfrm>
          <a:prstGeom prst="roundRect">
            <a:avLst>
              <a:gd name="adj" fmla="val 5882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4" name="body-text"/>
          <p:cNvSpPr>
            <a:spLocks noGrp="1"/>
          </p:cNvSpPr>
          <p:nvPr/>
        </p:nvSpPr>
        <p:spPr>
          <a:xfrm>
            <a:off x="8343900" y="1419225"/>
            <a:ext cx="2847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Animal-Pose cow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5" name="body-text"/>
          <p:cNvSpPr>
            <a:spLocks noGrp="1"/>
          </p:cNvSpPr>
          <p:nvPr/>
        </p:nvSpPr>
        <p:spPr>
          <a:xfrm>
            <a:off x="8343900" y="1781175"/>
            <a:ext cx="28479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所有模型几乎失效，最高 mAP@50 仅 0.0247，复杂互联网图像域仍未覆盖。</a:t>
            </a:r>
            <a:endParaRPr sz="1275" b="0">
              <a:solidFill>
                <a:srgbClr val="263238"/>
              </a:solidFill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245" y="3564890"/>
            <a:ext cx="5485130" cy="1990090"/>
          </a:xfrm>
          <a:prstGeom prst="rect">
            <a:avLst/>
          </a:prstGeom>
        </p:spPr>
      </p:pic>
      <p:sp>
        <p:nvSpPr>
          <p:cNvPr id="37" name="body-text"/>
          <p:cNvSpPr>
            <a:spLocks noGrp="1"/>
          </p:cNvSpPr>
          <p:nvPr/>
        </p:nvSpPr>
        <p:spPr>
          <a:xfrm>
            <a:off x="6311900" y="4004945"/>
            <a:ext cx="4476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006D39"/>
                </a:solidFill>
              </a:defRPr>
            </a:pPr>
            <a:r>
              <a:rPr sz="1725" b="1">
                <a:solidFill>
                  <a:srgbClr val="006D39"/>
                </a:solidFill>
              </a:rPr>
              <a:t>验证结论：旧数据集同域自训练 mAP@50 可达 0.99+，前期跨域低分主要是域差异，而不是标注质量问题。</a:t>
            </a:r>
            <a:endParaRPr sz="1725" b="1">
              <a:solidFill>
                <a:srgbClr val="006D3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YOLOv8m 对比：大模型提升域内精度，但不能根治未见域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14</a:t>
            </a:r>
            <a:endParaRPr sz="1050" b="0">
              <a:solidFill>
                <a:srgbClr val="006D39"/>
              </a:solidFill>
            </a:endParaRPr>
          </a:p>
        </p:txBody>
      </p:sp>
      <p:pic>
        <p:nvPicPr>
          <p:cNvPr id="42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159100"/>
            <a:ext cx="5905500" cy="3072950"/>
          </a:xfrm>
          <a:prstGeom prst="rect">
            <a:avLst/>
          </a:prstGeom>
        </p:spPr>
      </p:pic>
      <p:sp>
        <p:nvSpPr>
          <p:cNvPr id="28" name="content-box"/>
          <p:cNvSpPr>
            <a:spLocks noGrp="1"/>
          </p:cNvSpPr>
          <p:nvPr/>
        </p:nvSpPr>
        <p:spPr>
          <a:xfrm>
            <a:off x="7096125" y="1285875"/>
            <a:ext cx="3619500" cy="1476375"/>
          </a:xfrm>
          <a:prstGeom prst="roundRect">
            <a:avLst>
              <a:gd name="adj" fmla="val 6452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29" name="body-text"/>
          <p:cNvSpPr>
            <a:spLocks noGrp="1"/>
          </p:cNvSpPr>
          <p:nvPr/>
        </p:nvSpPr>
        <p:spPr>
          <a:xfrm>
            <a:off x="7267575" y="1419225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域内与已覆盖域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0" name="body-text"/>
          <p:cNvSpPr>
            <a:spLocks noGrp="1"/>
          </p:cNvSpPr>
          <p:nvPr/>
        </p:nvSpPr>
        <p:spPr>
          <a:xfrm>
            <a:off x="7267575" y="1781175"/>
            <a:ext cx="32766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Merged v8m 自测 mAP@50=0.966，mAP@50-95=0.708；四核心测试集平均 mAP@50=0.9413。</a:t>
            </a:r>
            <a:endParaRPr sz="1350" b="0">
              <a:solidFill>
                <a:srgbClr val="263238"/>
              </a:solidFill>
            </a:endParaRPr>
          </a:p>
        </p:txBody>
      </p:sp>
      <p:sp>
        <p:nvSpPr>
          <p:cNvPr id="31" name="content-box"/>
          <p:cNvSpPr>
            <a:spLocks noGrp="1"/>
          </p:cNvSpPr>
          <p:nvPr/>
        </p:nvSpPr>
        <p:spPr>
          <a:xfrm>
            <a:off x="7096125" y="3095625"/>
            <a:ext cx="3619500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2" name="body-text"/>
          <p:cNvSpPr>
            <a:spLocks noGrp="1"/>
          </p:cNvSpPr>
          <p:nvPr/>
        </p:nvSpPr>
        <p:spPr>
          <a:xfrm>
            <a:off x="7267575" y="3228975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资源代价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3" name="body-text"/>
          <p:cNvSpPr>
            <a:spLocks noGrp="1"/>
          </p:cNvSpPr>
          <p:nvPr/>
        </p:nvSpPr>
        <p:spPr>
          <a:xfrm>
            <a:off x="7267575" y="3590925"/>
            <a:ext cx="3276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参数量 25.9M，约为 v8n 的 8.6 倍；24GB 显存下 batch 降至 32。</a:t>
            </a:r>
            <a:endParaRPr sz="1350" b="0">
              <a:solidFill>
                <a:srgbClr val="263238"/>
              </a:solidFill>
            </a:endParaRPr>
          </a:p>
        </p:txBody>
      </p:sp>
      <p:pic>
        <p:nvPicPr>
          <p:cNvPr id="49" name="图片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259" y="4619625"/>
            <a:ext cx="3331482" cy="1238250"/>
          </a:xfrm>
          <a:prstGeom prst="rect">
            <a:avLst/>
          </a:prstGeom>
        </p:spPr>
      </p:pic>
      <p:sp>
        <p:nvSpPr>
          <p:cNvPr id="35" name="body-text"/>
          <p:cNvSpPr>
            <a:spLocks noGrp="1"/>
          </p:cNvSpPr>
          <p:nvPr/>
        </p:nvSpPr>
        <p:spPr>
          <a:xfrm>
            <a:off x="5857875" y="4810125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关键判断：v8m 在 XGain、COLO、MooTrack360 上有提升，但在 dairy-cow、AP-10K、Animal-Pose 等未见域上提升很小。</a:t>
            </a:r>
            <a:endParaRPr sz="1500" b="1">
              <a:solidFill>
                <a:srgbClr val="006D3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方法储备：已能完成目标检测实验闭环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15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27" name="body-text"/>
          <p:cNvSpPr>
            <a:spLocks noGrp="1"/>
          </p:cNvSpPr>
          <p:nvPr/>
        </p:nvSpPr>
        <p:spPr>
          <a:xfrm>
            <a:off x="952500" y="138112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006D39"/>
                </a:solidFill>
              </a:defRPr>
            </a:pPr>
            <a:r>
              <a:rPr sz="1350" b="1">
                <a:solidFill>
                  <a:srgbClr val="006D39"/>
                </a:solidFill>
              </a:rPr>
              <a:t>深度学习与视觉方法</a:t>
            </a:r>
            <a:endParaRPr sz="1350" b="1">
              <a:solidFill>
                <a:srgbClr val="006D39"/>
              </a:solidFill>
            </a:endParaRPr>
          </a:p>
        </p:txBody>
      </p:sp>
      <p:sp>
        <p:nvSpPr>
          <p:cNvPr id="28" name="body-text"/>
          <p:cNvSpPr>
            <a:spLocks noGrp="1"/>
          </p:cNvSpPr>
          <p:nvPr/>
        </p:nvSpPr>
        <p:spPr>
          <a:xfrm>
            <a:off x="952500" y="180022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CNN / ResNet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524125" y="1819275"/>
            <a:ext cx="261937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524125" y="1819275"/>
            <a:ext cx="2246808" cy="247650"/>
          </a:xfrm>
          <a:prstGeom prst="rect">
            <a:avLst/>
          </a:prstGeom>
          <a:solidFill>
            <a:srgbClr val="ED7D31"/>
          </a:solidFill>
          <a:ln w="0">
            <a:noFill/>
            <a:prstDash val="solid"/>
          </a:ln>
        </p:spPr>
      </p:sp>
      <p:sp>
        <p:nvSpPr>
          <p:cNvPr id="31" name="body-text"/>
          <p:cNvSpPr>
            <a:spLocks noGrp="1"/>
          </p:cNvSpPr>
          <p:nvPr/>
        </p:nvSpPr>
        <p:spPr>
          <a:xfrm>
            <a:off x="5238750" y="18002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已学习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32" name="body-text"/>
          <p:cNvSpPr>
            <a:spLocks noGrp="1"/>
          </p:cNvSpPr>
          <p:nvPr/>
        </p:nvSpPr>
        <p:spPr>
          <a:xfrm>
            <a:off x="952500" y="238125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目标检测 / YOLO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524125" y="2400300"/>
            <a:ext cx="261937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524125" y="2400300"/>
            <a:ext cx="2619375" cy="247650"/>
          </a:xfrm>
          <a:prstGeom prst="rect">
            <a:avLst/>
          </a:prstGeom>
          <a:solidFill>
            <a:srgbClr val="ED7D31"/>
          </a:solidFill>
          <a:ln w="0">
            <a:noFill/>
            <a:prstDash val="solid"/>
          </a:ln>
        </p:spPr>
      </p:sp>
      <p:sp>
        <p:nvSpPr>
          <p:cNvPr id="35" name="body-text"/>
          <p:cNvSpPr>
            <a:spLocks noGrp="1"/>
          </p:cNvSpPr>
          <p:nvPr/>
        </p:nvSpPr>
        <p:spPr>
          <a:xfrm>
            <a:off x="5238750" y="23812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已实践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36" name="body-text"/>
          <p:cNvSpPr>
            <a:spLocks noGrp="1"/>
          </p:cNvSpPr>
          <p:nvPr/>
        </p:nvSpPr>
        <p:spPr>
          <a:xfrm>
            <a:off x="952500" y="296227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Transformer / 注意力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524125" y="2981325"/>
            <a:ext cx="261937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524125" y="2981325"/>
            <a:ext cx="1315390" cy="247650"/>
          </a:xfrm>
          <a:prstGeom prst="rect">
            <a:avLst/>
          </a:prstGeom>
          <a:solidFill>
            <a:srgbClr val="ED7D31"/>
          </a:solidFill>
          <a:ln w="0">
            <a:noFill/>
            <a:prstDash val="solid"/>
          </a:ln>
        </p:spPr>
      </p:sp>
      <p:sp>
        <p:nvSpPr>
          <p:cNvPr id="39" name="body-text"/>
          <p:cNvSpPr>
            <a:spLocks noGrp="1"/>
          </p:cNvSpPr>
          <p:nvPr/>
        </p:nvSpPr>
        <p:spPr>
          <a:xfrm>
            <a:off x="5238750" y="296227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已掌握基础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0" name="body-text"/>
          <p:cNvSpPr>
            <a:spLocks noGrp="1"/>
          </p:cNvSpPr>
          <p:nvPr/>
        </p:nvSpPr>
        <p:spPr>
          <a:xfrm>
            <a:off x="952500" y="354330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Mamba / BERT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524125" y="3562350"/>
            <a:ext cx="2619375" cy="247650"/>
          </a:xfrm>
          <a:prstGeom prst="rect">
            <a:avLst/>
          </a:prstGeom>
          <a:solidFill>
            <a:srgbClr val="E7E6E6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2524125" y="3562350"/>
            <a:ext cx="1129106" cy="247650"/>
          </a:xfrm>
          <a:prstGeom prst="rect">
            <a:avLst/>
          </a:prstGeom>
          <a:solidFill>
            <a:srgbClr val="ED7D31"/>
          </a:solidFill>
          <a:ln w="0">
            <a:noFill/>
            <a:prstDash val="solid"/>
          </a:ln>
        </p:spPr>
      </p:sp>
      <p:sp>
        <p:nvSpPr>
          <p:cNvPr id="43" name="body-text"/>
          <p:cNvSpPr>
            <a:spLocks noGrp="1"/>
          </p:cNvSpPr>
          <p:nvPr/>
        </p:nvSpPr>
        <p:spPr>
          <a:xfrm>
            <a:off x="5238750" y="354330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阅读储备</a:t>
            </a:r>
            <a:endParaRPr sz="1050" b="0">
              <a:solidFill>
                <a:srgbClr val="263238"/>
              </a:solidFill>
            </a:endParaRPr>
          </a:p>
        </p:txBody>
      </p:sp>
      <p:sp>
        <p:nvSpPr>
          <p:cNvPr id="44" name="content-box"/>
          <p:cNvSpPr>
            <a:spLocks noGrp="1"/>
          </p:cNvSpPr>
          <p:nvPr/>
        </p:nvSpPr>
        <p:spPr>
          <a:xfrm>
            <a:off x="6667500" y="1476375"/>
            <a:ext cx="3714750" cy="1381125"/>
          </a:xfrm>
          <a:prstGeom prst="roundRect">
            <a:avLst>
              <a:gd name="adj" fmla="val 6897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45" name="body-text"/>
          <p:cNvSpPr>
            <a:spLocks noGrp="1"/>
          </p:cNvSpPr>
          <p:nvPr/>
        </p:nvSpPr>
        <p:spPr>
          <a:xfrm>
            <a:off x="6838950" y="1609725"/>
            <a:ext cx="3371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框架使用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46" name="body-text"/>
          <p:cNvSpPr>
            <a:spLocks noGrp="1"/>
          </p:cNvSpPr>
          <p:nvPr/>
        </p:nvSpPr>
        <p:spPr>
          <a:xfrm>
            <a:off x="6838950" y="1971675"/>
            <a:ext cx="33718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PyTorch：Dataset、DataLoader、torch.nn、GPU 训练、模型保存加载与基础训练流程。</a:t>
            </a:r>
            <a:endParaRPr sz="1350" b="0">
              <a:solidFill>
                <a:srgbClr val="263238"/>
              </a:solidFill>
            </a:endParaRPr>
          </a:p>
        </p:txBody>
      </p:sp>
      <p:sp>
        <p:nvSpPr>
          <p:cNvPr id="47" name="content-box"/>
          <p:cNvSpPr>
            <a:spLocks noGrp="1"/>
          </p:cNvSpPr>
          <p:nvPr/>
        </p:nvSpPr>
        <p:spPr>
          <a:xfrm>
            <a:off x="6667500" y="3143250"/>
            <a:ext cx="3714750" cy="138112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48" name="body-text"/>
          <p:cNvSpPr>
            <a:spLocks noGrp="1"/>
          </p:cNvSpPr>
          <p:nvPr/>
        </p:nvSpPr>
        <p:spPr>
          <a:xfrm>
            <a:off x="6838950" y="3276600"/>
            <a:ext cx="3371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Ultralytics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49" name="body-text"/>
          <p:cNvSpPr>
            <a:spLocks noGrp="1"/>
          </p:cNvSpPr>
          <p:nvPr/>
        </p:nvSpPr>
        <p:spPr>
          <a:xfrm>
            <a:off x="6838950" y="3638550"/>
            <a:ext cx="33718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已记录 YOLO 的 train、val、predict、export、track、benchmark、数据 YAML 和指标读取。</a:t>
            </a:r>
            <a:endParaRPr sz="1350" b="0">
              <a:solidFill>
                <a:srgbClr val="263238"/>
              </a:solidFill>
            </a:endParaRPr>
          </a:p>
        </p:txBody>
      </p:sp>
      <p:sp>
        <p:nvSpPr>
          <p:cNvPr id="50" name="body-text"/>
          <p:cNvSpPr>
            <a:spLocks noGrp="1"/>
          </p:cNvSpPr>
          <p:nvPr/>
        </p:nvSpPr>
        <p:spPr>
          <a:xfrm>
            <a:off x="1381125" y="5286375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6D39"/>
                </a:solidFill>
              </a:defRPr>
            </a:pPr>
            <a:r>
              <a:rPr sz="1725" b="1">
                <a:solidFill>
                  <a:srgbClr val="006D39"/>
                </a:solidFill>
              </a:rPr>
              <a:t>当前能力：能够围绕牛只目标检测完成数据准备、模型训练、指标评估和跨域分析。</a:t>
            </a:r>
            <a:endParaRPr sz="1725" b="1">
              <a:solidFill>
                <a:srgbClr val="006D3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>
                <a:solidFill>
                  <a:srgbClr val="0B2341"/>
                </a:solidFill>
                <a:sym typeface="+mn-ea"/>
              </a:rPr>
              <a:t>学习与能力储备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14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6" name="subtitle"/>
          <p:cNvSpPr>
            <a:spLocks noGrp="1"/>
          </p:cNvSpPr>
          <p:nvPr/>
        </p:nvSpPr>
        <p:spPr>
          <a:xfrm>
            <a:off x="685800" y="12573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42526E"/>
                </a:solidFill>
              </a:defRPr>
            </a:pPr>
            <a:r>
              <a:rPr sz="1350">
                <a:solidFill>
                  <a:srgbClr val="42526E"/>
                </a:solidFill>
              </a:rPr>
              <a:t>当前掌握的内容能够支撑牛只目标检测数据处理、训练评估和平台展示的完整闭环。</a:t>
            </a:r>
            <a:endParaRPr sz="1350">
              <a:solidFill>
                <a:srgbClr val="42526E"/>
              </a:solidFill>
            </a:endParaRPr>
          </a:p>
        </p:txBody>
      </p:sp>
      <p:sp>
        <p:nvSpPr>
          <p:cNvPr id="7" name="深度学习基础-card"/>
          <p:cNvSpPr>
            <a:spLocks noGrp="1"/>
          </p:cNvSpPr>
          <p:nvPr/>
        </p:nvSpPr>
        <p:spPr>
          <a:xfrm>
            <a:off x="685800" y="1790700"/>
            <a:ext cx="33337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深度学习基础-bar"/>
          <p:cNvSpPr>
            <a:spLocks noGrp="1"/>
          </p:cNvSpPr>
          <p:nvPr/>
        </p:nvSpPr>
        <p:spPr>
          <a:xfrm>
            <a:off x="685800" y="1790700"/>
            <a:ext cx="76200" cy="131445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深度学习基础-title"/>
          <p:cNvSpPr>
            <a:spLocks noGrp="1"/>
          </p:cNvSpPr>
          <p:nvPr/>
        </p:nvSpPr>
        <p:spPr>
          <a:xfrm>
            <a:off x="914400" y="1962150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B2341"/>
                </a:solidFill>
              </a:defRPr>
            </a:pPr>
            <a:r>
              <a:rPr sz="1575" b="1">
                <a:solidFill>
                  <a:srgbClr val="0B2341"/>
                </a:solidFill>
              </a:rPr>
              <a:t>深度学习基础</a:t>
            </a:r>
            <a:endParaRPr sz="1575" b="1">
              <a:solidFill>
                <a:srgbClr val="0B2341"/>
              </a:solidFill>
            </a:endParaRPr>
          </a:p>
        </p:txBody>
      </p:sp>
      <p:sp>
        <p:nvSpPr>
          <p:cNvPr id="10" name="深度学习基础-body"/>
          <p:cNvSpPr>
            <a:spLocks noGrp="1"/>
          </p:cNvSpPr>
          <p:nvPr/>
        </p:nvSpPr>
        <p:spPr>
          <a:xfrm>
            <a:off x="914400" y="2324100"/>
            <a:ext cx="2914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240">
                <a:solidFill>
                  <a:srgbClr val="44546A"/>
                </a:solidFill>
              </a:defRPr>
            </a:pPr>
            <a:r>
              <a:rPr sz="1240">
                <a:solidFill>
                  <a:srgbClr val="44546A"/>
                </a:solidFill>
              </a:rPr>
              <a:t>张量与计算图、自动求导、损失函数、优化器、学习率策略、数据增强、迁移学习与微调。</a:t>
            </a:r>
            <a:endParaRPr sz="1240">
              <a:solidFill>
                <a:srgbClr val="44546A"/>
              </a:solidFill>
            </a:endParaRPr>
          </a:p>
        </p:txBody>
      </p:sp>
      <p:sp>
        <p:nvSpPr>
          <p:cNvPr id="11" name="视觉模型与检测任务-card"/>
          <p:cNvSpPr>
            <a:spLocks noGrp="1"/>
          </p:cNvSpPr>
          <p:nvPr/>
        </p:nvSpPr>
        <p:spPr>
          <a:xfrm>
            <a:off x="4438650" y="1790700"/>
            <a:ext cx="33337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视觉模型与检测任务-bar"/>
          <p:cNvSpPr>
            <a:spLocks noGrp="1"/>
          </p:cNvSpPr>
          <p:nvPr/>
        </p:nvSpPr>
        <p:spPr>
          <a:xfrm>
            <a:off x="4438650" y="1790700"/>
            <a:ext cx="76200" cy="1314450"/>
          </a:xfrm>
          <a:prstGeom prst="roundRect">
            <a:avLst>
              <a:gd name="adj" fmla="val 0"/>
            </a:avLst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3" name="视觉模型与检测任务-title"/>
          <p:cNvSpPr>
            <a:spLocks noGrp="1"/>
          </p:cNvSpPr>
          <p:nvPr/>
        </p:nvSpPr>
        <p:spPr>
          <a:xfrm>
            <a:off x="4667250" y="1962150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B2341"/>
                </a:solidFill>
              </a:defRPr>
            </a:pPr>
            <a:r>
              <a:rPr sz="1575" b="1">
                <a:solidFill>
                  <a:srgbClr val="0B2341"/>
                </a:solidFill>
              </a:rPr>
              <a:t>视觉模型与检测任务</a:t>
            </a:r>
            <a:endParaRPr sz="1575" b="1">
              <a:solidFill>
                <a:srgbClr val="0B2341"/>
              </a:solidFill>
            </a:endParaRPr>
          </a:p>
        </p:txBody>
      </p:sp>
      <p:sp>
        <p:nvSpPr>
          <p:cNvPr id="14" name="视觉模型与检测任务-body"/>
          <p:cNvSpPr>
            <a:spLocks noGrp="1"/>
          </p:cNvSpPr>
          <p:nvPr/>
        </p:nvSpPr>
        <p:spPr>
          <a:xfrm>
            <a:off x="4667250" y="2324100"/>
            <a:ext cx="2914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240">
                <a:solidFill>
                  <a:srgbClr val="44546A"/>
                </a:solidFill>
              </a:defRPr>
            </a:pPr>
            <a:r>
              <a:rPr sz="1240">
                <a:solidFill>
                  <a:srgbClr val="44546A"/>
                </a:solidFill>
              </a:rPr>
              <a:t>CNN / ResNet、目标检测框架、YOLO 系列、bbox 标注、mAP 指标、语义分割与转置卷积基础。</a:t>
            </a:r>
            <a:endParaRPr sz="1240">
              <a:solidFill>
                <a:srgbClr val="44546A"/>
              </a:solidFill>
            </a:endParaRPr>
          </a:p>
        </p:txBody>
      </p:sp>
      <p:sp>
        <p:nvSpPr>
          <p:cNvPr id="15" name="序列模型与大模型基础-card"/>
          <p:cNvSpPr>
            <a:spLocks noGrp="1"/>
          </p:cNvSpPr>
          <p:nvPr/>
        </p:nvSpPr>
        <p:spPr>
          <a:xfrm>
            <a:off x="8191500" y="1790700"/>
            <a:ext cx="33147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序列模型与大模型基础-bar"/>
          <p:cNvSpPr>
            <a:spLocks noGrp="1"/>
          </p:cNvSpPr>
          <p:nvPr/>
        </p:nvSpPr>
        <p:spPr>
          <a:xfrm>
            <a:off x="8191500" y="1790700"/>
            <a:ext cx="76200" cy="131445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序列模型与大模型基础-title"/>
          <p:cNvSpPr>
            <a:spLocks noGrp="1"/>
          </p:cNvSpPr>
          <p:nvPr/>
        </p:nvSpPr>
        <p:spPr>
          <a:xfrm>
            <a:off x="8420100" y="196215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B2341"/>
                </a:solidFill>
              </a:defRPr>
            </a:pPr>
            <a:r>
              <a:rPr sz="1575" b="1">
                <a:solidFill>
                  <a:srgbClr val="0B2341"/>
                </a:solidFill>
              </a:rPr>
              <a:t>序列模型与大模型基础</a:t>
            </a:r>
            <a:endParaRPr sz="1575" b="1">
              <a:solidFill>
                <a:srgbClr val="0B2341"/>
              </a:solidFill>
            </a:endParaRPr>
          </a:p>
        </p:txBody>
      </p:sp>
      <p:sp>
        <p:nvSpPr>
          <p:cNvPr id="18" name="序列模型与大模型基础-body"/>
          <p:cNvSpPr>
            <a:spLocks noGrp="1"/>
          </p:cNvSpPr>
          <p:nvPr/>
        </p:nvSpPr>
        <p:spPr>
          <a:xfrm>
            <a:off x="8420100" y="2324100"/>
            <a:ext cx="2895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240">
                <a:solidFill>
                  <a:srgbClr val="44546A"/>
                </a:solidFill>
              </a:defRPr>
            </a:pPr>
            <a:r>
              <a:rPr sz="1240">
                <a:solidFill>
                  <a:srgbClr val="44546A"/>
                </a:solidFill>
              </a:rPr>
              <a:t>RNN、GRU、LSTM、Attention、Transformer、BERT 与 Mamba，理解特征建模和上下文建模思路。</a:t>
            </a:r>
            <a:endParaRPr sz="1240">
              <a:solidFill>
                <a:srgbClr val="44546A"/>
              </a:solidFill>
            </a:endParaRPr>
          </a:p>
        </p:txBody>
      </p:sp>
      <p:sp>
        <p:nvSpPr>
          <p:cNvPr id="19" name="框架与工具使用-card"/>
          <p:cNvSpPr>
            <a:spLocks noGrp="1"/>
          </p:cNvSpPr>
          <p:nvPr/>
        </p:nvSpPr>
        <p:spPr>
          <a:xfrm>
            <a:off x="685800" y="3524250"/>
            <a:ext cx="33337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框架与工具使用-bar"/>
          <p:cNvSpPr>
            <a:spLocks noGrp="1"/>
          </p:cNvSpPr>
          <p:nvPr/>
        </p:nvSpPr>
        <p:spPr>
          <a:xfrm>
            <a:off x="685800" y="3524250"/>
            <a:ext cx="76200" cy="1390650"/>
          </a:xfrm>
          <a:prstGeom prst="roundRect">
            <a:avLst>
              <a:gd name="adj" fmla="val 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1" name="框架与工具使用-title"/>
          <p:cNvSpPr>
            <a:spLocks noGrp="1"/>
          </p:cNvSpPr>
          <p:nvPr/>
        </p:nvSpPr>
        <p:spPr>
          <a:xfrm>
            <a:off x="914400" y="3695700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B2341"/>
                </a:solidFill>
              </a:defRPr>
            </a:pPr>
            <a:r>
              <a:rPr sz="1575" b="1">
                <a:solidFill>
                  <a:srgbClr val="0B2341"/>
                </a:solidFill>
              </a:rPr>
              <a:t>框架与工具使用</a:t>
            </a:r>
            <a:endParaRPr sz="1575" b="1">
              <a:solidFill>
                <a:srgbClr val="0B2341"/>
              </a:solidFill>
            </a:endParaRPr>
          </a:p>
        </p:txBody>
      </p:sp>
      <p:sp>
        <p:nvSpPr>
          <p:cNvPr id="2" name="框架与工具使用-body"/>
          <p:cNvSpPr>
            <a:spLocks noGrp="1"/>
          </p:cNvSpPr>
          <p:nvPr/>
        </p:nvSpPr>
        <p:spPr>
          <a:xfrm>
            <a:off x="914400" y="4057650"/>
            <a:ext cx="2914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240">
                <a:solidFill>
                  <a:srgbClr val="44546A"/>
                </a:solidFill>
              </a:defRPr>
            </a:pPr>
            <a:r>
              <a:rPr sz="1240">
                <a:solidFill>
                  <a:srgbClr val="44546A"/>
                </a:solidFill>
              </a:rPr>
              <a:t>PyTorch、Torchvision、Ultralytics、AutoDL、Docker、FastAPI、React/Vite；能完成训练、验证和页面联调。</a:t>
            </a:r>
            <a:endParaRPr sz="1240">
              <a:solidFill>
                <a:srgbClr val="44546A"/>
              </a:solidFill>
            </a:endParaRPr>
          </a:p>
        </p:txBody>
      </p:sp>
      <p:sp>
        <p:nvSpPr>
          <p:cNvPr id="23" name="实验与数据能力-card"/>
          <p:cNvSpPr>
            <a:spLocks noGrp="1"/>
          </p:cNvSpPr>
          <p:nvPr/>
        </p:nvSpPr>
        <p:spPr>
          <a:xfrm>
            <a:off x="4438650" y="3524250"/>
            <a:ext cx="33337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" name="实验与数据能力-bar"/>
          <p:cNvSpPr>
            <a:spLocks noGrp="1"/>
          </p:cNvSpPr>
          <p:nvPr/>
        </p:nvSpPr>
        <p:spPr>
          <a:xfrm>
            <a:off x="4438650" y="3524250"/>
            <a:ext cx="76200" cy="1390650"/>
          </a:xfrm>
          <a:prstGeom prst="roundRect">
            <a:avLst>
              <a:gd name="adj" fmla="val 0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4" name="实验与数据能力-title"/>
          <p:cNvSpPr>
            <a:spLocks noGrp="1"/>
          </p:cNvSpPr>
          <p:nvPr/>
        </p:nvSpPr>
        <p:spPr>
          <a:xfrm>
            <a:off x="4667250" y="3695700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B2341"/>
                </a:solidFill>
              </a:defRPr>
            </a:pPr>
            <a:r>
              <a:rPr sz="1575" b="1">
                <a:solidFill>
                  <a:srgbClr val="0B2341"/>
                </a:solidFill>
              </a:rPr>
              <a:t>实验与数据能力</a:t>
            </a:r>
            <a:endParaRPr sz="1575" b="1">
              <a:solidFill>
                <a:srgbClr val="0B2341"/>
              </a:solidFill>
            </a:endParaRPr>
          </a:p>
        </p:txBody>
      </p:sp>
      <p:sp>
        <p:nvSpPr>
          <p:cNvPr id="5" name="实验与数据能力-body"/>
          <p:cNvSpPr>
            <a:spLocks noGrp="1"/>
          </p:cNvSpPr>
          <p:nvPr/>
        </p:nvSpPr>
        <p:spPr>
          <a:xfrm>
            <a:off x="4667250" y="4057650"/>
            <a:ext cx="2914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240">
                <a:solidFill>
                  <a:srgbClr val="44546A"/>
                </a:solidFill>
              </a:defRPr>
            </a:pPr>
            <a:r>
              <a:rPr sz="1240">
                <a:solidFill>
                  <a:srgbClr val="44546A"/>
                </a:solidFill>
              </a:rPr>
              <a:t>多格式标注转换、YOLO 数据 YAML、训练日志读取、结果矩阵整理、未见域测试和 domain gap 解释。</a:t>
            </a:r>
            <a:endParaRPr sz="1240">
              <a:solidFill>
                <a:srgbClr val="44546A"/>
              </a:solidFill>
            </a:endParaRPr>
          </a:p>
        </p:txBody>
      </p:sp>
      <p:sp>
        <p:nvSpPr>
          <p:cNvPr id="27" name="current-output-card"/>
          <p:cNvSpPr>
            <a:spLocks noGrp="1"/>
          </p:cNvSpPr>
          <p:nvPr/>
        </p:nvSpPr>
        <p:spPr>
          <a:xfrm>
            <a:off x="8191500" y="3524250"/>
            <a:ext cx="3314700" cy="1390650"/>
          </a:xfrm>
          <a:prstGeom prst="roundRect">
            <a:avLst>
              <a:gd name="adj" fmla="val 5479"/>
            </a:avLst>
          </a:prstGeom>
          <a:solidFill>
            <a:srgbClr val="EAF3FF"/>
          </a:solidFill>
          <a:ln w="9525">
            <a:solidFill>
              <a:srgbClr val="AFC8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4" name="current-output-title"/>
          <p:cNvSpPr>
            <a:spLocks noGrp="1"/>
          </p:cNvSpPr>
          <p:nvPr/>
        </p:nvSpPr>
        <p:spPr>
          <a:xfrm>
            <a:off x="8420100" y="3714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B2341"/>
                </a:solidFill>
              </a:defRPr>
            </a:pPr>
            <a:r>
              <a:rPr sz="1575" b="1">
                <a:solidFill>
                  <a:srgbClr val="0B2341"/>
                </a:solidFill>
              </a:rPr>
              <a:t>当前可独立完成的闭环</a:t>
            </a:r>
            <a:endParaRPr sz="1575" b="1">
              <a:solidFill>
                <a:srgbClr val="0B2341"/>
              </a:solidFill>
            </a:endParaRPr>
          </a:p>
        </p:txBody>
      </p:sp>
      <p:sp>
        <p:nvSpPr>
          <p:cNvPr id="36" name="current-output-body"/>
          <p:cNvSpPr>
            <a:spLocks noGrp="1"/>
          </p:cNvSpPr>
          <p:nvPr/>
        </p:nvSpPr>
        <p:spPr>
          <a:xfrm>
            <a:off x="8420100" y="4095750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240" b="1">
                <a:solidFill>
                  <a:srgbClr val="1E5AA8"/>
                </a:solidFill>
              </a:defRPr>
            </a:pPr>
            <a:r>
              <a:rPr sz="1240" b="1">
                <a:solidFill>
                  <a:srgbClr val="1E5AA8"/>
                </a:solidFill>
              </a:rPr>
              <a:t>数据整理 -&gt; 标注转换 -&gt; 模型训练</a:t>
            </a:r>
            <a:endParaRPr sz="1240" b="1">
              <a:solidFill>
                <a:srgbClr val="1E5AA8"/>
              </a:solidFill>
            </a:endParaRPr>
          </a:p>
          <a:p>
            <a:pPr>
              <a:lnSpc>
                <a:spcPct val="112000"/>
              </a:lnSpc>
              <a:buNone/>
              <a:defRPr sz="1240" b="1">
                <a:solidFill>
                  <a:srgbClr val="1E5AA8"/>
                </a:solidFill>
              </a:defRPr>
            </a:pPr>
            <a:r>
              <a:rPr sz="1240" b="1">
                <a:solidFill>
                  <a:srgbClr val="1E5AA8"/>
                </a:solidFill>
              </a:rPr>
              <a:t>指标评估 -&gt; 跨域分析 -&gt; 平台展示</a:t>
            </a:r>
            <a:endParaRPr sz="1240" b="1">
              <a:solidFill>
                <a:srgbClr val="1E5AA8"/>
              </a:solidFill>
            </a:endParaRPr>
          </a:p>
        </p:txBody>
      </p:sp>
      <p:sp>
        <p:nvSpPr>
          <p:cNvPr id="38" name="bottom-note"/>
          <p:cNvSpPr>
            <a:spLocks noGrp="1"/>
          </p:cNvSpPr>
          <p:nvPr/>
        </p:nvSpPr>
        <p:spPr>
          <a:xfrm>
            <a:off x="623570" y="563880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1E5AA8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下一步学习重点：补齐更系统的检测器对比、LODO 评估、错误案例分析和可复现实验记录。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39" name="slide-number"/>
          <p:cNvSpPr>
            <a:spLocks noGrp="1"/>
          </p:cNvSpPr>
          <p:nvPr/>
        </p:nvSpPr>
        <p:spPr>
          <a:xfrm>
            <a:off x="10934700" y="61341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1">
                <a:solidFill>
                  <a:srgbClr val="7890B2"/>
                </a:solidFill>
              </a:defRPr>
            </a:pPr>
            <a:r>
              <a:rPr sz="1350" b="1">
                <a:solidFill>
                  <a:srgbClr val="7890B2"/>
                </a:solidFill>
              </a:rPr>
              <a:t>16</a:t>
            </a:r>
            <a:endParaRPr sz="1350" b="1">
              <a:solidFill>
                <a:srgbClr val="7890B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当前问题与下一步计划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16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27" name="content-box"/>
          <p:cNvSpPr>
            <a:spLocks noGrp="1"/>
          </p:cNvSpPr>
          <p:nvPr/>
        </p:nvSpPr>
        <p:spPr>
          <a:xfrm>
            <a:off x="904875" y="1333500"/>
            <a:ext cx="4762500" cy="1666875"/>
          </a:xfrm>
          <a:prstGeom prst="roundRect">
            <a:avLst>
              <a:gd name="adj" fmla="val 5714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28" name="body-text"/>
          <p:cNvSpPr>
            <a:spLocks noGrp="1"/>
          </p:cNvSpPr>
          <p:nvPr/>
        </p:nvSpPr>
        <p:spPr>
          <a:xfrm>
            <a:off x="1076325" y="1466850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问题 1：数据域覆盖仍不充分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29" name="body-text"/>
          <p:cNvSpPr>
            <a:spLocks noGrp="1"/>
          </p:cNvSpPr>
          <p:nvPr/>
        </p:nvSpPr>
        <p:spPr>
          <a:xfrm>
            <a:off x="1076325" y="1828800"/>
            <a:ext cx="441960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互联网图片、复杂野外场景、夜间低照度、不同品种和不同设备还需要继续补充。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0" name="content-box"/>
          <p:cNvSpPr>
            <a:spLocks noGrp="1"/>
          </p:cNvSpPr>
          <p:nvPr/>
        </p:nvSpPr>
        <p:spPr>
          <a:xfrm>
            <a:off x="6429375" y="1333500"/>
            <a:ext cx="4762500" cy="1666875"/>
          </a:xfrm>
          <a:prstGeom prst="roundRect">
            <a:avLst>
              <a:gd name="adj" fmla="val 5714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1" name="body-text"/>
          <p:cNvSpPr>
            <a:spLocks noGrp="1"/>
          </p:cNvSpPr>
          <p:nvPr/>
        </p:nvSpPr>
        <p:spPr>
          <a:xfrm>
            <a:off x="6600825" y="1466850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问题 2：Benchmark 还需深化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2" name="body-text"/>
          <p:cNvSpPr>
            <a:spLocks noGrp="1"/>
          </p:cNvSpPr>
          <p:nvPr/>
        </p:nvSpPr>
        <p:spPr>
          <a:xfrm>
            <a:off x="6600825" y="1828800"/>
            <a:ext cx="441960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目前已有 N×M 矩阵、自测和未见域测试，但 LODO 与数据亲缘性分析尚未完成。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3" name="content-box"/>
          <p:cNvSpPr>
            <a:spLocks noGrp="1"/>
          </p:cNvSpPr>
          <p:nvPr/>
        </p:nvSpPr>
        <p:spPr>
          <a:xfrm>
            <a:off x="904875" y="3667125"/>
            <a:ext cx="4762500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4" name="body-text"/>
          <p:cNvSpPr>
            <a:spLocks noGrp="1"/>
          </p:cNvSpPr>
          <p:nvPr/>
        </p:nvSpPr>
        <p:spPr>
          <a:xfrm>
            <a:off x="1076325" y="3800475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短期计划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5" name="body-text"/>
          <p:cNvSpPr>
            <a:spLocks noGrp="1"/>
          </p:cNvSpPr>
          <p:nvPr/>
        </p:nvSpPr>
        <p:spPr>
          <a:xfrm>
            <a:off x="1076325" y="4162425"/>
            <a:ext cx="44196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完善 CowCV 部署记录与页面截图；整理论文可用图表；加入 LODO 实验。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6" name="content-box"/>
          <p:cNvSpPr>
            <a:spLocks noGrp="1"/>
          </p:cNvSpPr>
          <p:nvPr/>
        </p:nvSpPr>
        <p:spPr>
          <a:xfrm>
            <a:off x="6429375" y="3667125"/>
            <a:ext cx="4762500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7" name="body-text"/>
          <p:cNvSpPr>
            <a:spLocks noGrp="1"/>
          </p:cNvSpPr>
          <p:nvPr/>
        </p:nvSpPr>
        <p:spPr>
          <a:xfrm>
            <a:off x="6600825" y="3800475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中期计划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8" name="body-text"/>
          <p:cNvSpPr>
            <a:spLocks noGrp="1"/>
          </p:cNvSpPr>
          <p:nvPr/>
        </p:nvSpPr>
        <p:spPr>
          <a:xfrm>
            <a:off x="6600825" y="4162425"/>
            <a:ext cx="44196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纳入更多未见域，计算 performance drop，对比 YOLOv9-v12、RT-DETR 等模型。</a:t>
            </a:r>
            <a:endParaRPr sz="1275" b="0">
              <a:solidFill>
                <a:srgbClr val="263238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>
            <a:spLocks noGrp="1"/>
          </p:cNvSpPr>
          <p:nvPr/>
        </p:nvSpPr>
        <p:spPr>
          <a:xfrm>
            <a:off x="747252" y="241858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slide-title"/>
          <p:cNvSpPr>
            <a:spLocks noGrp="1"/>
          </p:cNvSpPr>
          <p:nvPr/>
        </p:nvSpPr>
        <p:spPr>
          <a:xfrm>
            <a:off x="742950" y="238125"/>
            <a:ext cx="885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汇报总结：当前工作已经从数据整理走向可验证实验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25" name="title-rule"/>
          <p:cNvSpPr>
            <a:spLocks noGrp="1"/>
          </p:cNvSpPr>
          <p:nvPr/>
        </p:nvSpPr>
        <p:spPr>
          <a:xfrm>
            <a:off x="742950" y="819150"/>
            <a:ext cx="10668000" cy="28575"/>
          </a:xfrm>
          <a:prstGeom prst="rect">
            <a:avLst/>
          </a:prstGeom>
          <a:solidFill>
            <a:srgbClr val="006D39"/>
          </a:solidFill>
          <a:ln w="0">
            <a:noFill/>
            <a:prstDash val="solid"/>
          </a:ln>
        </p:spPr>
      </p:sp>
      <p:sp>
        <p:nvSpPr>
          <p:cNvPr id="26" name="body-text"/>
          <p:cNvSpPr>
            <a:spLocks noGrp="1"/>
          </p:cNvSpPr>
          <p:nvPr/>
        </p:nvSpPr>
        <p:spPr>
          <a:xfrm>
            <a:off x="11125200" y="619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6D39"/>
                </a:solidFill>
              </a:defRPr>
            </a:pPr>
            <a:r>
              <a:rPr sz="1050" b="0">
                <a:solidFill>
                  <a:srgbClr val="006D39"/>
                </a:solidFill>
              </a:rPr>
              <a:t>17</a:t>
            </a:r>
            <a:endParaRPr sz="1050" b="0">
              <a:solidFill>
                <a:srgbClr val="006D39"/>
              </a:solidFill>
            </a:endParaRPr>
          </a:p>
        </p:txBody>
      </p:sp>
      <p:sp>
        <p:nvSpPr>
          <p:cNvPr id="27" name="content-box"/>
          <p:cNvSpPr>
            <a:spLocks noGrp="1"/>
          </p:cNvSpPr>
          <p:nvPr/>
        </p:nvSpPr>
        <p:spPr>
          <a:xfrm>
            <a:off x="857250" y="1381125"/>
            <a:ext cx="3143250" cy="1381125"/>
          </a:xfrm>
          <a:prstGeom prst="roundRect">
            <a:avLst>
              <a:gd name="adj" fmla="val 6897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28" name="body-text"/>
          <p:cNvSpPr>
            <a:spLocks noGrp="1"/>
          </p:cNvSpPr>
          <p:nvPr/>
        </p:nvSpPr>
        <p:spPr>
          <a:xfrm>
            <a:off x="1028700" y="1514475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1. 数据层面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29" name="body-text"/>
          <p:cNvSpPr>
            <a:spLocks noGrp="1"/>
          </p:cNvSpPr>
          <p:nvPr/>
        </p:nvSpPr>
        <p:spPr>
          <a:xfrm>
            <a:off x="1028700" y="1876425"/>
            <a:ext cx="28003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已整理多源牛只检测数据，并统一标注格式和训练结构。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0" name="content-box"/>
          <p:cNvSpPr>
            <a:spLocks noGrp="1"/>
          </p:cNvSpPr>
          <p:nvPr/>
        </p:nvSpPr>
        <p:spPr>
          <a:xfrm>
            <a:off x="4524375" y="1381125"/>
            <a:ext cx="3143250" cy="1381125"/>
          </a:xfrm>
          <a:prstGeom prst="roundRect">
            <a:avLst>
              <a:gd name="adj" fmla="val 6897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1" name="body-text"/>
          <p:cNvSpPr>
            <a:spLocks noGrp="1"/>
          </p:cNvSpPr>
          <p:nvPr/>
        </p:nvSpPr>
        <p:spPr>
          <a:xfrm>
            <a:off x="4695825" y="1514475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2. 实验层面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2" name="body-text"/>
          <p:cNvSpPr>
            <a:spLocks noGrp="1"/>
          </p:cNvSpPr>
          <p:nvPr/>
        </p:nvSpPr>
        <p:spPr>
          <a:xfrm>
            <a:off x="4695825" y="1876425"/>
            <a:ext cx="28003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混合训练在四个核心域上显著提升泛化，但未见域仍有明显差距。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3" name="content-box"/>
          <p:cNvSpPr>
            <a:spLocks noGrp="1"/>
          </p:cNvSpPr>
          <p:nvPr/>
        </p:nvSpPr>
        <p:spPr>
          <a:xfrm>
            <a:off x="8191500" y="1381125"/>
            <a:ext cx="3143250" cy="1381125"/>
          </a:xfrm>
          <a:prstGeom prst="roundRect">
            <a:avLst>
              <a:gd name="adj" fmla="val 6897"/>
            </a:avLst>
          </a:prstGeom>
          <a:solidFill>
            <a:srgbClr val="F4F9F1"/>
          </a:solidFill>
          <a:ln w="9525">
            <a:solidFill>
              <a:srgbClr val="B7D7C4"/>
            </a:solidFill>
            <a:prstDash val="solid"/>
          </a:ln>
        </p:spPr>
      </p:sp>
      <p:sp>
        <p:nvSpPr>
          <p:cNvPr id="34" name="body-text"/>
          <p:cNvSpPr>
            <a:spLocks noGrp="1"/>
          </p:cNvSpPr>
          <p:nvPr/>
        </p:nvSpPr>
        <p:spPr>
          <a:xfrm>
            <a:off x="8362950" y="1514475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06D39"/>
                </a:solidFill>
              </a:defRPr>
            </a:pPr>
            <a:r>
              <a:rPr sz="1500" b="1">
                <a:solidFill>
                  <a:srgbClr val="006D39"/>
                </a:solidFill>
              </a:rPr>
              <a:t>3. 研究层面</a:t>
            </a:r>
            <a:endParaRPr sz="1500" b="1">
              <a:solidFill>
                <a:srgbClr val="006D39"/>
              </a:solidFill>
            </a:endParaRPr>
          </a:p>
        </p:txBody>
      </p:sp>
      <p:sp>
        <p:nvSpPr>
          <p:cNvPr id="35" name="body-text"/>
          <p:cNvSpPr>
            <a:spLocks noGrp="1"/>
          </p:cNvSpPr>
          <p:nvPr/>
        </p:nvSpPr>
        <p:spPr>
          <a:xfrm>
            <a:off x="8362950" y="1876425"/>
            <a:ext cx="28003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结果支撑 CowCV 作为跨场景牛只检测 benchmark 的论文主线。</a:t>
            </a:r>
            <a:endParaRPr sz="1275" b="0">
              <a:solidFill>
                <a:srgbClr val="263238"/>
              </a:solidFill>
            </a:endParaRPr>
          </a:p>
        </p:txBody>
      </p:sp>
      <p:sp>
        <p:nvSpPr>
          <p:cNvPr id="36" name="body-text"/>
          <p:cNvSpPr>
            <a:spLocks noGrp="1"/>
          </p:cNvSpPr>
          <p:nvPr/>
        </p:nvSpPr>
        <p:spPr>
          <a:xfrm>
            <a:off x="1476375" y="3857625"/>
            <a:ext cx="9239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006D39"/>
                </a:solidFill>
              </a:defRPr>
            </a:pPr>
            <a:r>
              <a:rPr sz="2250" b="1">
                <a:solidFill>
                  <a:srgbClr val="006D39"/>
                </a:solidFill>
              </a:rPr>
              <a:t>一句话：牛只检测模型的瓶颈不只是结构大小，而是训练数据是否覆盖真实养殖场景中的分布变化。</a:t>
            </a:r>
            <a:endParaRPr sz="2250" b="1">
              <a:solidFill>
                <a:srgbClr val="006D39"/>
              </a:solidFill>
            </a:endParaRPr>
          </a:p>
        </p:txBody>
      </p:sp>
      <p:sp>
        <p:nvSpPr>
          <p:cNvPr id="37" name="body-text"/>
          <p:cNvSpPr>
            <a:spLocks noGrp="1"/>
          </p:cNvSpPr>
          <p:nvPr/>
        </p:nvSpPr>
        <p:spPr>
          <a:xfrm>
            <a:off x="1857375" y="5238750"/>
            <a:ext cx="847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可讨论问题：后续论文主线更适合突出“数据平台”，还是突出“跨域 benchmark”？</a:t>
            </a:r>
            <a:endParaRPr sz="1575" b="0">
              <a:solidFill>
                <a:srgbClr val="1F293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0" y="1515573"/>
            <a:ext cx="12192000" cy="3826854"/>
          </a:xfrm>
          <a:prstGeom prst="rect">
            <a:avLst/>
          </a:prstGeom>
          <a:solidFill>
            <a:srgbClr val="007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5182609" y="602182"/>
            <a:ext cx="1826782" cy="18267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2654594" y="3075711"/>
            <a:ext cx="697638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prstClr val="white"/>
                </a:solidFill>
                <a:latin typeface="思源黑体 CN Bold"/>
                <a:ea typeface="思源黑体 CN Bold"/>
                <a:cs typeface="思源黑体 CN Bold"/>
              </a:rPr>
              <a:t>恳请各位老师和同学批评指正</a:t>
            </a:r>
            <a:endParaRPr sz="3600" b="1">
              <a:solidFill>
                <a:prstClr val="white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pic>
        <p:nvPicPr>
          <p:cNvPr id="15" name="图片 2"/>
          <p:cNvPicPr>
            <a:picLocks noChangeAspect="1"/>
          </p:cNvPicPr>
          <p:nvPr/>
        </p:nvPicPr>
        <p:blipFill rotWithShape="1">
          <a:blip r:embed="rId1"/>
          <a:srcRect l="45169" t="53471" r="23465" b="18348"/>
          <a:stretch>
            <a:fillRect/>
          </a:stretch>
        </p:blipFill>
        <p:spPr>
          <a:xfrm>
            <a:off x="5199651" y="576623"/>
            <a:ext cx="1886269" cy="1856219"/>
          </a:xfrm>
          <a:prstGeom prst="rect">
            <a:avLst/>
          </a:prstGeom>
        </p:spPr>
      </p:pic>
      <p:sp>
        <p:nvSpPr>
          <p:cNvPr id="10" name="body-text"/>
          <p:cNvSpPr>
            <a:spLocks noGrp="1"/>
          </p:cNvSpPr>
          <p:nvPr/>
        </p:nvSpPr>
        <p:spPr>
          <a:xfrm>
            <a:off x="1619250" y="4572000"/>
            <a:ext cx="895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CowCV：牛只目标检测数据集整理、平台建设与跨域泛化实验</a:t>
            </a:r>
            <a:endParaRPr sz="135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D39"/>
      </a:accent1>
      <a:accent2>
        <a:srgbClr val="008F77"/>
      </a:accent2>
      <a:accent3>
        <a:srgbClr val="ED7D31"/>
      </a:accent3>
      <a:accent4>
        <a:srgbClr val="FFC000"/>
      </a:accent4>
      <a:accent5>
        <a:srgbClr val="5B9BD5"/>
      </a:accent5>
      <a:accent6>
        <a:srgbClr val="F4F9F1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D39"/>
      </a:accent1>
      <a:accent2>
        <a:srgbClr val="008F77"/>
      </a:accent2>
      <a:accent3>
        <a:srgbClr val="ED7D31"/>
      </a:accent3>
      <a:accent4>
        <a:srgbClr val="FFC000"/>
      </a:accent4>
      <a:accent5>
        <a:srgbClr val="5B9BD5"/>
      </a:accent5>
      <a:accent6>
        <a:srgbClr val="F4F9F1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D39"/>
      </a:accent1>
      <a:accent2>
        <a:srgbClr val="008F77"/>
      </a:accent2>
      <a:accent3>
        <a:srgbClr val="ED7D31"/>
      </a:accent3>
      <a:accent4>
        <a:srgbClr val="FFC000"/>
      </a:accent4>
      <a:accent5>
        <a:srgbClr val="5B9BD5"/>
      </a:accent5>
      <a:accent6>
        <a:srgbClr val="F4F9F1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4292</Words>
  <Application>WPS 演示</Application>
  <PresentationFormat>Converted Presentation</PresentationFormat>
  <Paragraphs>430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楷体</vt:lpstr>
      <vt:lpstr>思源黑体 CN Bold</vt:lpstr>
      <vt:lpstr>黑体</vt:lpstr>
      <vt:lpstr>思源黑体 CN Light</vt:lpstr>
      <vt:lpstr>Segoe UI Light</vt:lpstr>
      <vt:lpstr>等线</vt:lpstr>
      <vt:lpstr>Arial Unicode MS</vt:lpstr>
      <vt:lpstr>等线 Light</vt:lpstr>
      <vt:lpstr>KSOF618801C0</vt:lpstr>
      <vt:lpstr>Segoe Print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qzuser</cp:lastModifiedBy>
  <cp:revision>2</cp:revision>
  <dcterms:created xsi:type="dcterms:W3CDTF">2026-07-07T13:04:14Z</dcterms:created>
  <dcterms:modified xsi:type="dcterms:W3CDTF">2026-07-07T13:10:44Z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77C3F614BF224DD39451C47ADAA5BC8E_12</vt:lpwstr>
  </property>
  <property fmtid="{D5CDD505-2E9C-101B-9397-08002B2CF9AE}" pid="3" name="KSOProductBuildVer">
    <vt:lpwstr>2052-12.1.0.26895</vt:lpwstr>
  </property>
</Properties>
</file>