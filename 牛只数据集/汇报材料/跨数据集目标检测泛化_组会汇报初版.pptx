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开场问题：检测器在训练数据集上表现良好，换一个基准后为何会大幅退化？本文通过有向跨数据集评测以及标签对齐实验拆解这一现象。</a:t>
            </a:r>
          </a:p>
          <a:p/>
          <a:p>
            <a:r>
              <a:t>Source: Chakraborty et al., Towards Robust Cross-Dataset Object Detection Generalization under Domain Specificity, arXiv:2601.09497 (2026).</a:t>
            </a:r>
          </a:p>
          <a:p>
            <a:r>
              <a:t>Figure assets: cdod-fig4-coco2bdd-bad.jpg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图示来自论文 Figure 1。此页展示 COCO 训练模型与 Objects365 训练模型在同一 COCO 图像上的预测，目的在于引出跨基准泛化并非总是崩溃，迁移结果依赖方向与基准。</a:t>
            </a:r>
          </a:p>
          <a:p/>
          <a:p>
            <a:r>
              <a:t>Source: Chakraborty et al., Towards Robust Cross-Dataset Object Detection Generalization under Domain Specificity, arXiv:2601.09497 (2026).</a:t>
            </a:r>
          </a:p>
          <a:p>
            <a:r>
              <a:t>Figure assets: cdod-fig1-coco.jpg, cdod-fig1-obj365.jpg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论文采用源域训练、目标域零样本测试。需要强调训练和测试角色不对称，因此跨域性能应以有向矩阵完整报告。</a:t>
            </a:r>
          </a:p>
          <a:p/>
          <a:p>
            <a:r>
              <a:t>Source: Chakraborty et al., Towards Robust Cross-Dataset Object Detection Generalization under Domain Specificity, arXiv:2601.09497 (2026).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样例图片来自论文的设置类型示意。设置特异性描述基准覆盖环境的广窄，并非单纯的数据集名称分类。</a:t>
            </a:r>
          </a:p>
          <a:p/>
          <a:p>
            <a:r>
              <a:t>Source: Chakraborty et al., Towards Robust Cross-Dataset Object Detection Generalization under Domain Specificity, arXiv:2601.09497 (2026).</a:t>
            </a:r>
          </a:p>
          <a:p>
            <a:r>
              <a:t>Figure assets: cdod-fig2-bdd1.jpg, cdod-fig3-coco1.jpg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Table 1 报告 78 名参与者。Likert 评分完全一致率为 35.3%，相差不超过一个等级时为 65.4%。人类研究支撑设置特异性具有可感知线索，但本身不构成模型误差因果证据。</a:t>
            </a:r>
          </a:p>
          <a:p/>
          <a:p>
            <a:r>
              <a:t>Source: Chakraborty et al., Towards Robust Cross-Dataset Object Detection Generalization under Domain Specificity, arXiv:2601.09497 (2026).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论文关注如何把视觉域偏移与标签体系错配尽可能分开。两种因素在严格跨基准评估中同时存在。</a:t>
            </a:r>
          </a:p>
          <a:p/>
          <a:p>
            <a:r>
              <a:t>Source: Chakraborty et al., Towards Robust Cross-Dataset Object Detection Generalization under Domain Specificity, arXiv:2601.09497 (2026).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Open-label 映射在 NMS 后进行，使用 CLIP 文本相似度和阈值。它并非目标域适应，也不会修复定位错误或漏检。</a:t>
            </a:r>
          </a:p>
          <a:p/>
          <a:p>
            <a:r>
              <a:t>Source: Chakraborty et al., Towards Robust Cross-Dataset Object Detection Generalization under Domain Specificity, arXiv:2601.09497 (2026).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Near-miss 组合文本相似度、GT 标签排名与区域级图文相似度诊断语义近似错配。阈值和 Top-K 条件决定 near-miss 判定，不能把所有类别改判都视为合理修正。</a:t>
            </a:r>
          </a:p>
          <a:p/>
          <a:p>
            <a:r>
              <a:t>Source: Chakraborty et al., Towards Robust Cross-Dataset Object Detection Generalization under Domain Specificity, arXiv:2601.09497 (2026).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表中图像数和类别数取自论文及其阅读笔记的实验描述；COCO 和 Cityscapes 使用相应评估子集。检测器训练后对所有目标基准评测。</a:t>
            </a:r>
          </a:p>
          <a:p/>
          <a:p>
            <a:r>
              <a:t>Source: Chakraborty et al., Towards Robust Cross-Dataset Object Detection Generalization under Domain Specificity, arXiv:2601.09497 (2026).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数值为论文 Table 3 的跨数据集评估结果。此处以原文给出的得分展示，不擅自补充未在该表头明确展开的指标名称。重点看方向差异：COCO→BDD 为 0.019，BDD→COCO 为 0.131；Cityscapes→BDD 为 0.275，BDD→Cityscapes 为 0.025。</a:t>
            </a:r>
          </a:p>
          <a:p/>
          <a:p>
            <a:r>
              <a:t>Source: Chakraborty et al., Towards Robust Cross-Dataset Object Detection Generalization under Domain Specificity, arXiv:2601.09497 (2026).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图表数值来自 Table 3。倍率为简单比值：0.131/0.019≈6.9；0.275/0.025=11.0。此处只表示该表中报告分数的方向差异，不解释为因果效应。</a:t>
            </a:r>
          </a:p>
          <a:p/>
          <a:p>
            <a:r>
              <a:t>Source: Chakraborty et al., Towards Robust Cross-Dataset Object Detection Generalization under Domain Specificity, arXiv:2601.09497 (2026).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数值来自论文 Table 3 与 Table 4。Open-label 的提升一致但有界。以 COCO→BDD 为例，0.019 提至 0.038，仍远低于 BDD 域内 0.298。</a:t>
            </a:r>
          </a:p>
          <a:p/>
          <a:p>
            <a:r>
              <a:t>Source: Chakraborty et al., Towards Robust Cross-Dataset Object Detection Generalization under Domain Specificity, arXiv:2601.09497 (2026).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数据来自论文 Table 5。s_tt 表示预测类别与 GT 文本嵌入的相似度；Near-miss 是论文所定义诊断规则下的比例。不同迁移对的改善来源并不相同。</a:t>
            </a:r>
          </a:p>
          <a:p/>
          <a:p>
            <a:r>
              <a:t>Source: Chakraborty et al., Towards Robust Cross-Dataset Object Detection Generalization under Domain Specificity, arXiv:2601.09497 (2026).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论文 Figure 4 的 Cityscapes→BDD 定性结果。图像及检测框保留论文原始视觉信息。</a:t>
            </a:r>
          </a:p>
          <a:p/>
          <a:p>
            <a:r>
              <a:t>Source: Chakraborty et al., Towards Robust Cross-Dataset Object Detection Generalization under Domain Specificity, arXiv:2601.09497 (2026).</a:t>
            </a:r>
          </a:p>
          <a:p>
            <a:r>
              <a:t>Figure assets: cdod-fig4-city2bdd-good.jpg, cdod-fig4-city2bdd-bad.jpg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此页归纳论文讨论并补充方法学边界。数据集设置类型与视角、背景、标签空间等特征相关联，不能单凭分组结果断言某一因素单独导致性能差距。</a:t>
            </a:r>
          </a:p>
          <a:p/>
          <a:p>
            <a:r>
              <a:t>Source: Chakraborty et al., Towards Robust Cross-Dataset Object Detection Generalization under Domain Specificity, arXiv:2601.09497 (2026).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对牛只项目的迁移是研究设计建议，不是原论文直接验证的结论。目标归一化指标用于减轻不同目标数据集自身难度差异的影响；若视角与环境无法解耦，应表述为混合因素关联。</a:t>
            </a:r>
          </a:p>
          <a:p/>
          <a:p>
            <a:r>
              <a:t>Source: Chakraborty et al., Towards Robust Cross-Dataset Object Detection Generalization under Domain Specificity, arXiv:2601.09497 (2026).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以三项可讨论问题收尾：主导因素、标注一致性、以及现有数据能否解耦因素。</a:t>
            </a:r>
          </a:p>
          <a:p/>
          <a:p>
            <a:r>
              <a:t>Source: Chakraborty et al., Towards Robust Cross-Dataset Object Detection Generalization under Domain Specificity, arXiv:2601.09497 (2026).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主要来源为论文 arXiv:2601.09497 和用户提供的本地中文阅读笔记。在线原文：https://arxiv.org/abs/2601.09497</a:t>
            </a:r>
          </a:p>
          <a:p/>
          <a:p>
            <a:r>
              <a:t>Source: Chakraborty et al., Towards Robust Cross-Dataset Object Detection Generalization under Domain Specificity, arXiv:2601.09497 (2026).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1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.jpeg"/><Relationship Id="rId1" Type="http://schemas.openxmlformats.org/officeDocument/2006/relationships/image" Target="../media/image4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7.jpeg"/><Relationship Id="rId1" Type="http://schemas.openxmlformats.org/officeDocument/2006/relationships/image" Target="../media/image6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242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rcRect l="21875" r="21875"/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0" y="0"/>
            <a:ext cx="7429500" cy="6858000"/>
          </a:xfrm>
          <a:prstGeom prst="rect">
            <a:avLst/>
          </a:prstGeom>
          <a:solidFill>
            <a:srgbClr val="172428"/>
          </a:solidFill>
          <a:ln w="0">
            <a:noFill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7191375" y="0"/>
            <a:ext cx="523875" cy="6858000"/>
          </a:xfrm>
          <a:prstGeom prst="rect">
            <a:avLst/>
          </a:prstGeom>
          <a:solidFill>
            <a:srgbClr val="172428">
              <a:alpha val="85098"/>
            </a:srgbClr>
          </a:solidFill>
          <a:ln w="0">
            <a:noFill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723900" y="800100"/>
            <a:ext cx="41910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B7CBB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7CBBE"/>
                </a:solidFill>
                <a:latin typeface="Aptos"/>
                <a:ea typeface="Aptos"/>
                <a:cs typeface="Aptos"/>
              </a:rPr>
              <a:t>组会论文汇报</a:t>
            </a:r>
            <a:endParaRPr sz="1350" b="1">
              <a:solidFill>
                <a:srgbClr val="B7CBB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723900" y="1657350"/>
            <a:ext cx="6000750" cy="180975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跨数据集目标检测</a:t>
            </a:r>
            <a:endParaRPr sz="3600" b="1">
              <a:solidFill>
                <a:srgbClr val="FFFFFF"/>
              </a:solidFill>
              <a:latin typeface="Aptos"/>
              <a:ea typeface="Aptos"/>
              <a:cs typeface="Aptos"/>
            </a:endParaRPr>
          </a:p>
          <a:p>
            <a:pPr algn="l"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为何会失效？</a:t>
            </a:r>
            <a:endParaRPr sz="3600" b="1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742950" y="3752850"/>
            <a:ext cx="762000" cy="47625"/>
          </a:xfrm>
          <a:prstGeom prst="rect">
            <a:avLst/>
          </a:prstGeom>
          <a:solidFill>
            <a:srgbClr val="D6B65D"/>
          </a:solidFill>
          <a:ln w="0">
            <a:noFill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42950" y="4067175"/>
            <a:ext cx="561975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0">
                <a:solidFill>
                  <a:srgbClr val="E3E8E4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E3E8E4"/>
                </a:solidFill>
                <a:latin typeface="Aptos"/>
                <a:ea typeface="Aptos"/>
                <a:cs typeface="Aptos"/>
              </a:rPr>
              <a:t>从设置特异性看域偏移与标签错配</a:t>
            </a:r>
            <a:endParaRPr sz="1875" b="0">
              <a:solidFill>
                <a:srgbClr val="E3E8E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42950" y="6000750"/>
            <a:ext cx="619125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00" b="0">
                <a:solidFill>
                  <a:srgbClr val="C4D0C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4D0CB"/>
                </a:solidFill>
                <a:latin typeface="Aptos"/>
                <a:ea typeface="Aptos"/>
                <a:cs typeface="Aptos"/>
              </a:rPr>
              <a:t>Ritabrata Chakraborty et al.  |  arXiv:2601.09497  |  2026</a:t>
            </a:r>
            <a:endParaRPr sz="1200" b="0">
              <a:solidFill>
                <a:srgbClr val="C4D0CB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557B68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71500" y="238125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308"/>
          </a:bodyPr>
          <a:lstStyle/>
          <a:p>
            <a:pPr algn="l">
              <a:defRPr sz="975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背景与问题</a:t>
            </a:r>
            <a:endParaRPr sz="975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71500" y="552450"/>
            <a:ext cx="10953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研究问题：模型换个数据集还可靠吗？</a:t>
            </a:r>
            <a:endParaRPr sz="255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D9DFDA"/>
          </a:solidFill>
          <a:ln w="0">
            <a:noFill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144250" y="6419850"/>
            <a:ext cx="476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6667"/>
          </a:bodyPr>
          <a:lstStyle/>
          <a:p>
            <a:pPr algn="r">
              <a:defRPr sz="975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02</a:t>
            </a:r>
            <a:endParaRPr sz="975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666875" y="1781175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025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域内测试</a:t>
            </a:r>
            <a:endParaRPr sz="2025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7147560" y="1691005"/>
            <a:ext cx="3898265" cy="6381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lnSpcReduction="20000"/>
          </a:bodyPr>
          <a:lstStyle/>
          <a:p>
            <a:pPr algn="ctr">
              <a:defRPr sz="1875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Objects365 训练 → COCO 测试</a:t>
            </a:r>
            <a:endParaRPr sz="1875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1"/>
          <a:srcRect t="10145" b="10145"/>
          <a:stretch>
            <a:fillRect/>
          </a:stretch>
        </p:blipFill>
        <p:spPr>
          <a:xfrm>
            <a:off x="904875" y="2543175"/>
            <a:ext cx="4381500" cy="2619375"/>
          </a:xfrm>
          <a:prstGeom prst="rect">
            <a:avLst/>
          </a:prstGeom>
        </p:spPr>
      </p:pic>
      <p:pic>
        <p:nvPicPr>
          <p:cNvPr id="21" name="图片 20"/>
          <p:cNvPicPr>
            <a:picLocks noChangeAspect="1"/>
          </p:cNvPicPr>
          <p:nvPr/>
        </p:nvPicPr>
        <p:blipFill>
          <a:blip r:embed="rId2"/>
          <a:srcRect t="10145" b="10145"/>
          <a:stretch>
            <a:fillRect/>
          </a:stretch>
        </p:blipFill>
        <p:spPr>
          <a:xfrm>
            <a:off x="6905625" y="2543175"/>
            <a:ext cx="4381500" cy="2619375"/>
          </a:xfrm>
          <a:prstGeom prst="rect">
            <a:avLst/>
          </a:prstGeom>
        </p:spPr>
      </p:pic>
      <p:sp>
        <p:nvSpPr>
          <p:cNvPr id="10" name="矩形 9"/>
          <p:cNvSpPr>
            <a:spLocks noGrp="1"/>
          </p:cNvSpPr>
          <p:nvPr/>
        </p:nvSpPr>
        <p:spPr>
          <a:xfrm>
            <a:off x="5686425" y="3600450"/>
            <a:ext cx="838200" cy="47625"/>
          </a:xfrm>
          <a:prstGeom prst="rect">
            <a:avLst/>
          </a:prstGeom>
          <a:solidFill>
            <a:srgbClr val="557B68"/>
          </a:solidFill>
          <a:ln w="0">
            <a:noFill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5429250" y="3857625"/>
            <a:ext cx="1381125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跨基准仍</a:t>
            </a:r>
            <a:endParaRPr sz="1650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  <a:p>
            <a:pPr algn="ctr">
              <a:defRPr sz="1650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较稳健</a:t>
            </a:r>
            <a:endParaRPr sz="1650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143000" y="5467350"/>
            <a:ext cx="981075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75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Figure 1 中同一 COCO 图像上的预测：COCO 训练与 Objects365 训练模型对照。</a:t>
            </a:r>
            <a:endParaRPr sz="1275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矩形 15"/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557B68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71500" y="238125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308"/>
          </a:bodyPr>
          <a:lstStyle/>
          <a:p>
            <a:pPr algn="l">
              <a:defRPr sz="975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研究框架</a:t>
            </a:r>
            <a:endParaRPr sz="975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71500" y="552450"/>
            <a:ext cx="10953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任务定义：跨数据集目标检测</a:t>
            </a:r>
            <a:endParaRPr sz="255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D9DFDA"/>
          </a:solidFill>
          <a:ln w="0">
            <a:noFill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144250" y="6419850"/>
            <a:ext cx="476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6667"/>
          </a:bodyPr>
          <a:lstStyle/>
          <a:p>
            <a:pPr algn="r">
              <a:defRPr sz="975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03</a:t>
            </a:r>
            <a:endParaRPr sz="975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66800" y="2114550"/>
            <a:ext cx="3619500" cy="1809750"/>
          </a:xfrm>
          <a:prstGeom prst="rect">
            <a:avLst/>
          </a:prstGeom>
          <a:solidFill>
            <a:srgbClr val="E3ECE5"/>
          </a:solidFill>
          <a:ln w="0">
            <a:noFill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7505700" y="2114550"/>
            <a:ext cx="3619500" cy="1809750"/>
          </a:xfrm>
          <a:prstGeom prst="rect">
            <a:avLst/>
          </a:prstGeom>
          <a:solidFill>
            <a:srgbClr val="F2E4DE"/>
          </a:solidFill>
          <a:ln w="0">
            <a:noFill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352550" y="2390775"/>
            <a:ext cx="30480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100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源数据集 𝒟s</a:t>
            </a:r>
            <a:endParaRPr sz="2100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352550" y="3048000"/>
            <a:ext cx="30480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训练检测器</a:t>
            </a:r>
            <a:endParaRPr sz="1650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791450" y="2390775"/>
            <a:ext cx="30480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100" b="1">
                <a:solidFill>
                  <a:srgbClr val="B46148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B46148"/>
                </a:solidFill>
                <a:latin typeface="Aptos"/>
                <a:ea typeface="Aptos"/>
                <a:cs typeface="Aptos"/>
              </a:rPr>
              <a:t>目标数据集 𝒟t</a:t>
            </a:r>
            <a:endParaRPr sz="2100" b="1">
              <a:solidFill>
                <a:srgbClr val="B4614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791450" y="3048000"/>
            <a:ext cx="30480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零样本直接评估</a:t>
            </a:r>
            <a:endParaRPr sz="1650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810125" y="2952750"/>
            <a:ext cx="2514600" cy="38100"/>
          </a:xfrm>
          <a:prstGeom prst="rect">
            <a:avLst/>
          </a:prstGeom>
          <a:solidFill>
            <a:srgbClr val="557B68"/>
          </a:solidFill>
          <a:ln w="0">
            <a:noFill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5715000" y="2571750"/>
            <a:ext cx="7429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6795"/>
          </a:bodyPr>
          <a:lstStyle/>
          <a:p>
            <a:pPr algn="ctr">
              <a:defRPr sz="3900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→</a:t>
            </a:r>
            <a:endParaRPr sz="3900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2190750" y="4610100"/>
            <a:ext cx="78105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不使用目标域训练数据、标注或适应过程</a:t>
            </a:r>
            <a:endParaRPr sz="180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2476500" y="5200650"/>
            <a:ext cx="7239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方向有意义：𝒟s → 𝒟t 与 𝒟t → 𝒟s 是不同实验</a:t>
            </a:r>
            <a:endParaRPr sz="1500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矩形 14"/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557B68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71500" y="238125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308"/>
          </a:bodyPr>
          <a:lstStyle/>
          <a:p>
            <a:pPr algn="l">
              <a:defRPr sz="975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研究框架</a:t>
            </a:r>
            <a:endParaRPr sz="975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71500" y="552450"/>
            <a:ext cx="10953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核心视角：设置特异性</a:t>
            </a:r>
            <a:endParaRPr sz="255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D9DFDA"/>
          </a:solidFill>
          <a:ln w="0">
            <a:noFill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144250" y="6419850"/>
            <a:ext cx="476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6667"/>
          </a:bodyPr>
          <a:lstStyle/>
          <a:p>
            <a:pPr algn="r">
              <a:defRPr sz="975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04</a:t>
            </a:r>
            <a:endParaRPr sz="975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20" name="图片 19"/>
          <p:cNvPicPr>
            <a:picLocks noChangeAspect="1"/>
          </p:cNvPicPr>
          <p:nvPr/>
        </p:nvPicPr>
        <p:blipFill>
          <a:blip r:embed="rId1"/>
          <a:srcRect l="4726" r="4726"/>
          <a:stretch>
            <a:fillRect/>
          </a:stretch>
        </p:blipFill>
        <p:spPr>
          <a:xfrm>
            <a:off x="762000" y="1809750"/>
            <a:ext cx="3143250" cy="1952625"/>
          </a:xfrm>
          <a:prstGeom prst="rect">
            <a:avLst/>
          </a:prstGeom>
        </p:spPr>
      </p:pic>
      <p:pic>
        <p:nvPicPr>
          <p:cNvPr id="21" name="图片 20"/>
          <p:cNvPicPr>
            <a:picLocks noChangeAspect="1"/>
          </p:cNvPicPr>
          <p:nvPr/>
        </p:nvPicPr>
        <p:blipFill>
          <a:blip r:embed="rId2"/>
          <a:srcRect t="8475" b="8475"/>
          <a:stretch>
            <a:fillRect/>
          </a:stretch>
        </p:blipFill>
        <p:spPr>
          <a:xfrm>
            <a:off x="8286750" y="1809750"/>
            <a:ext cx="3143250" cy="1952625"/>
          </a:xfrm>
          <a:prstGeom prst="rect">
            <a:avLst/>
          </a:prstGeom>
        </p:spPr>
      </p:pic>
      <p:sp>
        <p:nvSpPr>
          <p:cNvPr id="8" name="矩形 7"/>
          <p:cNvSpPr>
            <a:spLocks noGrp="1"/>
          </p:cNvSpPr>
          <p:nvPr/>
        </p:nvSpPr>
        <p:spPr>
          <a:xfrm>
            <a:off x="876300" y="3943350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Setting-specific</a:t>
            </a:r>
            <a:endParaRPr sz="1875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382000" y="3943350"/>
            <a:ext cx="2952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B46148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B46148"/>
                </a:solidFill>
                <a:latin typeface="Aptos"/>
                <a:ea typeface="Aptos"/>
                <a:cs typeface="Aptos"/>
              </a:rPr>
              <a:t>Setting-agnostic</a:t>
            </a:r>
            <a:endParaRPr sz="1875" b="1">
              <a:solidFill>
                <a:srgbClr val="B4614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38200" y="4476750"/>
            <a:ext cx="3048000" cy="742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受限且相对一致的环境</a:t>
            </a:r>
            <a:endParaRPr sz="1425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  <a:p>
            <a:pPr algn="ctr">
              <a:defRPr sz="1425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驾驶：Cityscapes、BDD100K</a:t>
            </a:r>
            <a:endParaRPr sz="1425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334375" y="4476750"/>
            <a:ext cx="3048000" cy="742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日常场景多样、类别覆盖广</a:t>
            </a:r>
            <a:endParaRPr sz="1425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  <a:p>
            <a:pPr algn="ctr">
              <a:defRPr sz="1425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COCO、Objects365</a:t>
            </a:r>
            <a:endParaRPr sz="1425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286250" y="2038350"/>
            <a:ext cx="3524250" cy="31432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FDA"/>
            </a:solidFill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4524375" y="2352675"/>
            <a:ext cx="3048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75" b="1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526268"/>
                </a:solidFill>
                <a:latin typeface="Aptos"/>
                <a:ea typeface="Aptos"/>
                <a:cs typeface="Aptos"/>
              </a:rPr>
              <a:t>作者的分析假设</a:t>
            </a:r>
            <a:endParaRPr sz="1575" b="1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667250" y="2971800"/>
            <a:ext cx="276225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数据集的采集环境与场景结构，会形成可识别的视觉分布差异。</a:t>
            </a:r>
            <a:endParaRPr sz="1875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矩形 14"/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557B68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71500" y="238125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308"/>
          </a:bodyPr>
          <a:lstStyle/>
          <a:p>
            <a:pPr algn="l">
              <a:defRPr sz="975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研究框架</a:t>
            </a:r>
            <a:endParaRPr sz="975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71500" y="552450"/>
            <a:ext cx="10953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人类研究：数据集视觉签名可被感知</a:t>
            </a:r>
            <a:endParaRPr sz="255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D9DFDA"/>
          </a:solidFill>
          <a:ln w="0">
            <a:noFill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144250" y="6419850"/>
            <a:ext cx="476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6667"/>
          </a:bodyPr>
          <a:lstStyle/>
          <a:p>
            <a:pPr algn="r">
              <a:defRPr sz="975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05</a:t>
            </a:r>
            <a:endParaRPr sz="975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47750" y="2190750"/>
            <a:ext cx="2095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5700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5700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78</a:t>
            </a:r>
            <a:endParaRPr sz="5700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066800" y="3238500"/>
            <a:ext cx="2095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名参与者</a:t>
            </a:r>
            <a:endParaRPr sz="1650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3762375" y="2038350"/>
            <a:ext cx="9525" cy="2381250"/>
          </a:xfrm>
          <a:prstGeom prst="rect">
            <a:avLst/>
          </a:prstGeom>
          <a:solidFill>
            <a:srgbClr val="D9DFDA"/>
          </a:solidFill>
          <a:ln w="0">
            <a:noFill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4667250" y="2190750"/>
            <a:ext cx="2571750" cy="904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435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84.0%</a:t>
            </a:r>
            <a:endParaRPr sz="435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429125" y="3219450"/>
            <a:ext cx="31432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判断图像对是否来自同一数据集的准确率</a:t>
            </a:r>
            <a:endParaRPr sz="1425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962900" y="2038350"/>
            <a:ext cx="9525" cy="2381250"/>
          </a:xfrm>
          <a:prstGeom prst="rect">
            <a:avLst/>
          </a:prstGeom>
          <a:solidFill>
            <a:srgbClr val="D9DFDA"/>
          </a:solidFill>
          <a:ln w="0">
            <a:noFill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8858250" y="2190750"/>
            <a:ext cx="2476500" cy="904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4350" b="1">
                <a:solidFill>
                  <a:srgbClr val="B46148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B46148"/>
                </a:solidFill>
                <a:latin typeface="Aptos"/>
                <a:ea typeface="Aptos"/>
                <a:cs typeface="Aptos"/>
              </a:rPr>
              <a:t>65.4%</a:t>
            </a:r>
            <a:endParaRPr sz="4350" b="1">
              <a:solidFill>
                <a:srgbClr val="B4614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572500" y="3219450"/>
            <a:ext cx="3048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Likert 多样性评分允许相差 1 级的一致率</a:t>
            </a:r>
            <a:endParaRPr sz="1425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1666875" y="5191125"/>
            <a:ext cx="88582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支持“视觉签名可感知”，但不能单独证明它导致检测性能下降。</a:t>
            </a:r>
            <a:endParaRPr sz="165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4" name="矩形 13"/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557B68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71500" y="238125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308"/>
          </a:bodyPr>
          <a:lstStyle/>
          <a:p>
            <a:pPr algn="l">
              <a:defRPr sz="975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评估协议</a:t>
            </a:r>
            <a:endParaRPr sz="975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71500" y="552450"/>
            <a:ext cx="10953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跨数据集性能下降包含两类因素</a:t>
            </a:r>
            <a:endParaRPr sz="255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D9DFDA"/>
          </a:solidFill>
          <a:ln w="0">
            <a:noFill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144250" y="6419850"/>
            <a:ext cx="476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6667"/>
          </a:bodyPr>
          <a:lstStyle/>
          <a:p>
            <a:pPr algn="r">
              <a:defRPr sz="975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06</a:t>
            </a:r>
            <a:endParaRPr sz="975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95375" y="2143125"/>
            <a:ext cx="4429125" cy="2095500"/>
          </a:xfrm>
          <a:prstGeom prst="rect">
            <a:avLst/>
          </a:prstGeom>
          <a:solidFill>
            <a:srgbClr val="E3ECE5"/>
          </a:solidFill>
          <a:ln w="0">
            <a:noFill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667500" y="2143125"/>
            <a:ext cx="4429125" cy="2095500"/>
          </a:xfrm>
          <a:prstGeom prst="rect">
            <a:avLst/>
          </a:prstGeom>
          <a:solidFill>
            <a:srgbClr val="F2E4DE"/>
          </a:solidFill>
          <a:ln w="0">
            <a:noFill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524000" y="2476500"/>
            <a:ext cx="357187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视觉域偏移</a:t>
            </a:r>
            <a:endParaRPr sz="2325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571625" y="3190875"/>
            <a:ext cx="347662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视角、背景、光照、尺度</a:t>
            </a:r>
            <a:endParaRPr sz="1650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  <a:p>
            <a:pPr algn="ctr">
              <a:defRPr sz="1650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目标外观与成像条件变化</a:t>
            </a:r>
            <a:endParaRPr sz="1650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7143750" y="2476500"/>
            <a:ext cx="3476625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B46148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B46148"/>
                </a:solidFill>
                <a:latin typeface="Aptos"/>
                <a:ea typeface="Aptos"/>
                <a:cs typeface="Aptos"/>
              </a:rPr>
              <a:t>标签体系错配</a:t>
            </a:r>
            <a:endParaRPr sz="2325" b="1">
              <a:solidFill>
                <a:srgbClr val="B4614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086600" y="3133725"/>
            <a:ext cx="3619500" cy="904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类别名称、拆分或合并规则不同</a:t>
            </a:r>
            <a:endParaRPr sz="1500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  <a:p>
            <a:pPr algn="ctr">
              <a:defRPr sz="1500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预测语义合理也可能被严格评分判错</a:t>
            </a:r>
            <a:endParaRPr sz="1500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333750" y="4867275"/>
            <a:ext cx="5524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严格评估下观察到的退化</a:t>
            </a:r>
            <a:endParaRPr sz="1725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762375" y="5391150"/>
            <a:ext cx="466725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95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视觉偏移 + 标签错配</a:t>
            </a:r>
            <a:endParaRPr sz="195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矩形 8"/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557B68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71500" y="238125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308"/>
          </a:bodyPr>
          <a:lstStyle/>
          <a:p>
            <a:pPr algn="l">
              <a:defRPr sz="975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评估协议</a:t>
            </a:r>
            <a:endParaRPr sz="975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71500" y="552450"/>
            <a:ext cx="10953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两种协议：严格标签与开放标签</a:t>
            </a:r>
            <a:endParaRPr sz="255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D9DFDA"/>
          </a:solidFill>
          <a:ln w="0">
            <a:noFill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144250" y="6419850"/>
            <a:ext cx="476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6667"/>
          </a:bodyPr>
          <a:lstStyle/>
          <a:p>
            <a:pPr algn="r">
              <a:defRPr sz="975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07</a:t>
            </a:r>
            <a:endParaRPr sz="975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  <p:graphicFrame>
        <p:nvGraphicFramePr>
          <p:cNvPr id="14" name="表格 13"/>
          <p:cNvGraphicFramePr/>
          <p:nvPr/>
        </p:nvGraphicFramePr>
        <p:xfrm>
          <a:off x="952500" y="1952625"/>
          <a:ext cx="10287000" cy="2152650"/>
        </p:xfrm>
        <a:graphic>
          <a:graphicData uri="http://schemas.openxmlformats.org/drawingml/2006/table">
            <a:tbl>
              <a:tblPr/>
              <a:tblGrid>
                <a:gridCol w="3429000"/>
                <a:gridCol w="3429000"/>
                <a:gridCol w="3429000"/>
              </a:tblGrid>
              <a:tr h="717550"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协议</a:t>
                      </a:r>
                      <a:endParaRPr sz="1350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38100" marB="38100" anchor="ctr">
                    <a:solidFill>
                      <a:srgbClr val="17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如何评分</a:t>
                      </a:r>
                      <a:endParaRPr sz="1350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38100" marB="38100" anchor="ctr">
                    <a:solidFill>
                      <a:srgbClr val="17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主要回答</a:t>
                      </a:r>
                      <a:endParaRPr sz="1350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38100" marB="38100" anchor="ctr">
                    <a:solidFill>
                      <a:srgbClr val="172428"/>
                    </a:solidFill>
                  </a:tcPr>
                </a:tc>
              </a:tr>
              <a:tr h="71755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Closed-label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只评估源/目标共享类别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严格词表下的迁移表现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</a:tr>
              <a:tr h="71755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Open-label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CLIP 将预测映射至最近目标标签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标签错配能解释多少下降？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</a:tr>
            </a:tbl>
          </a:graphicData>
        </a:graphic>
      </p:graphicFrame>
      <p:sp>
        <p:nvSpPr>
          <p:cNvPr id="7" name="矩形 6"/>
          <p:cNvSpPr>
            <a:spLocks noGrp="1"/>
          </p:cNvSpPr>
          <p:nvPr/>
        </p:nvSpPr>
        <p:spPr>
          <a:xfrm>
            <a:off x="952500" y="4514850"/>
            <a:ext cx="10287000" cy="1000125"/>
          </a:xfrm>
          <a:prstGeom prst="rect">
            <a:avLst/>
          </a:prstGeom>
          <a:solidFill>
            <a:srgbClr val="E3ECE5"/>
          </a:solidFill>
          <a:ln w="0">
            <a:noFill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381125" y="4733925"/>
            <a:ext cx="9429750" cy="5334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Open-label 只改变类别评分映射，不改变检测框和 IoU 匹配。</a:t>
            </a:r>
            <a:endParaRPr sz="1800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0" name="矩形 19"/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557B68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71500" y="238125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308"/>
          </a:bodyPr>
          <a:lstStyle/>
          <a:p>
            <a:pPr algn="l">
              <a:defRPr sz="975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评估协议</a:t>
            </a:r>
            <a:endParaRPr sz="975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71500" y="552450"/>
            <a:ext cx="10953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Near-miss：语义相近的类别错配</a:t>
            </a:r>
            <a:endParaRPr sz="255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D9DFDA"/>
          </a:solidFill>
          <a:ln w="0">
            <a:noFill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144250" y="6419850"/>
            <a:ext cx="476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6667"/>
          </a:bodyPr>
          <a:lstStyle/>
          <a:p>
            <a:pPr algn="r">
              <a:defRPr sz="975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08</a:t>
            </a:r>
            <a:endParaRPr sz="975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95375" y="2047875"/>
            <a:ext cx="2667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预测标签</a:t>
            </a:r>
            <a:endParaRPr sz="1500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334375" y="2047875"/>
            <a:ext cx="2667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GT 标签</a:t>
            </a:r>
            <a:endParaRPr sz="1500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047750" y="2609850"/>
            <a:ext cx="2857500" cy="1123950"/>
          </a:xfrm>
          <a:prstGeom prst="rect">
            <a:avLst/>
          </a:prstGeom>
          <a:solidFill>
            <a:srgbClr val="F2E4DE"/>
          </a:solidFill>
          <a:ln w="0">
            <a:noFill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8286750" y="2609850"/>
            <a:ext cx="2857500" cy="1123950"/>
          </a:xfrm>
          <a:prstGeom prst="rect">
            <a:avLst/>
          </a:prstGeom>
          <a:solidFill>
            <a:srgbClr val="E3ECE5"/>
          </a:solidFill>
          <a:ln w="0">
            <a:noFill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1238250" y="2905125"/>
            <a:ext cx="24765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518"/>
          </a:bodyPr>
          <a:lstStyle/>
          <a:p>
            <a:pPr algn="ctr">
              <a:defRPr sz="2700" b="1">
                <a:solidFill>
                  <a:srgbClr val="B46148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B46148"/>
                </a:solidFill>
                <a:latin typeface="Aptos"/>
                <a:ea typeface="Aptos"/>
                <a:cs typeface="Aptos"/>
              </a:rPr>
              <a:t>couch</a:t>
            </a:r>
            <a:endParaRPr sz="2700" b="1">
              <a:solidFill>
                <a:srgbClr val="B4614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477250" y="2905125"/>
            <a:ext cx="24765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3518"/>
          </a:bodyPr>
          <a:lstStyle/>
          <a:p>
            <a:pPr algn="ctr">
              <a:defRPr sz="2700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sofa</a:t>
            </a:r>
            <a:endParaRPr sz="2700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219575" y="3162300"/>
            <a:ext cx="3714750" cy="38100"/>
          </a:xfrm>
          <a:prstGeom prst="rect">
            <a:avLst/>
          </a:prstGeom>
          <a:solidFill>
            <a:srgbClr val="D6B65D"/>
          </a:solidFill>
          <a:ln w="0">
            <a:noFill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5072380" y="2480310"/>
            <a:ext cx="2047875" cy="135953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位置正确</a:t>
            </a:r>
            <a:endParaRPr sz="165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  <a:p>
            <a:pPr algn="ctr">
              <a:defRPr sz="165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类别叫法不同</a:t>
            </a:r>
            <a:endParaRPr sz="165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1428750" y="44481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557B68"/>
          </a:solidFill>
          <a:ln w="0">
            <a:noFill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1638300" y="4333875"/>
            <a:ext cx="9124950" cy="5048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425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文本—文本相似度：预测类别与 GT 语义是否接近</a:t>
            </a:r>
            <a:endParaRPr sz="1425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1428750" y="49720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D6B65D"/>
          </a:solidFill>
          <a:ln w="0">
            <a:noFill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1638300" y="4857750"/>
            <a:ext cx="9124950" cy="5048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425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GT 排名：目标标签是否位于预测类别的近邻中</a:t>
            </a:r>
            <a:endParaRPr sz="1425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1428750" y="54959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D6B65D"/>
          </a:solidFill>
          <a:ln w="0">
            <a:noFill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1638300" y="5381625"/>
            <a:ext cx="9124950" cy="5048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425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图像—文本证据：图像区域是否更支持 GT 类别</a:t>
            </a:r>
            <a:endParaRPr sz="1425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矩形 10"/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557B68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71500" y="238125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308"/>
          </a:bodyPr>
          <a:lstStyle/>
          <a:p>
            <a:pPr algn="l">
              <a:defRPr sz="975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实验与结果</a:t>
            </a:r>
            <a:endParaRPr sz="975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71500" y="552450"/>
            <a:ext cx="10953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实验设置：四个基准的全有向迁移</a:t>
            </a:r>
            <a:endParaRPr sz="255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D9DFDA"/>
          </a:solidFill>
          <a:ln w="0">
            <a:noFill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144250" y="6419850"/>
            <a:ext cx="476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6667"/>
          </a:bodyPr>
          <a:lstStyle/>
          <a:p>
            <a:pPr algn="r">
              <a:defRPr sz="975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09</a:t>
            </a:r>
            <a:endParaRPr sz="975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  <p:graphicFrame>
        <p:nvGraphicFramePr>
          <p:cNvPr id="16" name="表格 15"/>
          <p:cNvGraphicFramePr/>
          <p:nvPr/>
        </p:nvGraphicFramePr>
        <p:xfrm>
          <a:off x="742950" y="1771650"/>
          <a:ext cx="6858000" cy="3181350"/>
        </p:xfrm>
        <a:graphic>
          <a:graphicData uri="http://schemas.openxmlformats.org/drawingml/2006/table">
            <a:tbl>
              <a:tblPr/>
              <a:tblGrid>
                <a:gridCol w="1714500"/>
                <a:gridCol w="1714500"/>
                <a:gridCol w="1714500"/>
                <a:gridCol w="1714500"/>
              </a:tblGrid>
              <a:tr h="63627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数据集</a:t>
                      </a:r>
                      <a:endParaRPr sz="1200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38100" marB="38100" anchor="ctr">
                    <a:solidFill>
                      <a:srgbClr val="17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图像数</a:t>
                      </a:r>
                      <a:endParaRPr sz="1200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38100" marB="38100" anchor="ctr">
                    <a:solidFill>
                      <a:srgbClr val="17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类别数</a:t>
                      </a:r>
                      <a:endParaRPr sz="1200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38100" marB="38100" anchor="ctr">
                    <a:solidFill>
                      <a:srgbClr val="17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设置类型</a:t>
                      </a:r>
                      <a:endParaRPr sz="1200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38100" marB="38100" anchor="ctr">
                    <a:solidFill>
                      <a:srgbClr val="172428"/>
                    </a:solidFill>
                  </a:tcPr>
                </a:tc>
              </a:tr>
              <a:tr h="636270"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COCO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5,000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80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Agnostic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</a:tr>
              <a:tr h="636270"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Objects365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38,000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365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Agnostic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</a:tr>
              <a:tr h="636270"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Cityscapes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500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8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Specific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</a:tr>
              <a:tr h="636270"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BDD100K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10,000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10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Specific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</a:tr>
            </a:tbl>
          </a:graphicData>
        </a:graphic>
      </p:graphicFrame>
      <p:sp>
        <p:nvSpPr>
          <p:cNvPr id="7" name="矩形 6"/>
          <p:cNvSpPr>
            <a:spLocks noGrp="1"/>
          </p:cNvSpPr>
          <p:nvPr/>
        </p:nvSpPr>
        <p:spPr>
          <a:xfrm>
            <a:off x="8096250" y="1809750"/>
            <a:ext cx="3238500" cy="3114675"/>
          </a:xfrm>
          <a:prstGeom prst="rect">
            <a:avLst/>
          </a:prstGeom>
          <a:solidFill>
            <a:srgbClr val="FFFFFF"/>
          </a:solidFill>
          <a:ln w="9525">
            <a:solidFill>
              <a:srgbClr val="D9DFDA"/>
            </a:solidFill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8382000" y="2095500"/>
            <a:ext cx="2667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统一检测器</a:t>
            </a:r>
            <a:endParaRPr sz="1650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429625" y="2647950"/>
            <a:ext cx="2571750" cy="1809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Faster R-CNN</a:t>
            </a:r>
            <a:endParaRPr sz="1725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  <a:p>
            <a:pPr algn="ctr">
              <a:defRPr sz="1725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ResNet-50 + FPN</a:t>
            </a:r>
            <a:endParaRPr sz="1725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  <a:p>
            <a:endParaRPr sz="1725"/>
          </a:p>
          <a:p>
            <a:pPr algn="ctr">
              <a:defRPr sz="1725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MMDetection</a:t>
            </a:r>
            <a:endParaRPr sz="1725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  <a:p>
            <a:pPr algn="ctr">
              <a:defRPr sz="1725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标准 1× 训练计划</a:t>
            </a:r>
            <a:endParaRPr sz="1725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333500" y="5381625"/>
            <a:ext cx="9525000" cy="4191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训练配方固定；每个源基准单独训练，再对各目标直接推理。</a:t>
            </a:r>
            <a:endParaRPr sz="1500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矩形 8"/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557B68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71500" y="238125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308"/>
          </a:bodyPr>
          <a:lstStyle/>
          <a:p>
            <a:pPr algn="l">
              <a:defRPr sz="975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实验与结果</a:t>
            </a:r>
            <a:endParaRPr sz="975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71500" y="552450"/>
            <a:ext cx="10953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Closed-label：跨设置迁移明显不对称</a:t>
            </a:r>
            <a:endParaRPr sz="255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D9DFDA"/>
          </a:solidFill>
          <a:ln w="0">
            <a:noFill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144250" y="6419850"/>
            <a:ext cx="476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6667"/>
          </a:bodyPr>
          <a:lstStyle/>
          <a:p>
            <a:pPr algn="r">
              <a:defRPr sz="975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10</a:t>
            </a:r>
            <a:endParaRPr sz="975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  <p:graphicFrame>
        <p:nvGraphicFramePr>
          <p:cNvPr id="14" name="表格 13"/>
          <p:cNvGraphicFramePr/>
          <p:nvPr/>
        </p:nvGraphicFramePr>
        <p:xfrm>
          <a:off x="952500" y="1666875"/>
          <a:ext cx="10287000" cy="371475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  <a:gridCol w="2057400"/>
              </a:tblGrid>
              <a:tr h="742950"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Train \ Test</a:t>
                      </a:r>
                      <a:endParaRPr sz="1275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38100" marB="38100" anchor="ctr">
                    <a:solidFill>
                      <a:srgbClr val="17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COCO</a:t>
                      </a:r>
                      <a:endParaRPr sz="1275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38100" marB="38100" anchor="ctr">
                    <a:solidFill>
                      <a:srgbClr val="17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Cityscapes</a:t>
                      </a:r>
                      <a:endParaRPr sz="1275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38100" marB="38100" anchor="ctr">
                    <a:solidFill>
                      <a:srgbClr val="17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Objects365</a:t>
                      </a:r>
                      <a:endParaRPr sz="1275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38100" marB="38100" anchor="ctr">
                    <a:solidFill>
                      <a:srgbClr val="17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BDD</a:t>
                      </a:r>
                      <a:endParaRPr sz="1275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38100" marB="38100" anchor="ctr">
                    <a:solidFill>
                      <a:srgbClr val="172428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COCO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3EC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0.376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9F0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0.015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F2E4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0.286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9F0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0.019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F2E4DE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Cityscapes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3EC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0.206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9F0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0.402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9F0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0.268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9F0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0.275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9F0EA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Objects365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3EC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0.046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F2E4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0.020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F2E4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0.198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9F0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0.102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9F0EA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BDD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3EC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0.131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9F0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0.025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F2E4D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0.103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9F0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0.298</a:t>
                      </a:r>
                      <a:endParaRPr sz="150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9F0EA"/>
                    </a:solidFill>
                  </a:tcPr>
                </a:tc>
              </a:tr>
            </a:tbl>
          </a:graphicData>
        </a:graphic>
      </p:graphicFrame>
      <p:sp>
        <p:nvSpPr>
          <p:cNvPr id="7" name="矩形 6"/>
          <p:cNvSpPr>
            <a:spLocks noGrp="1"/>
          </p:cNvSpPr>
          <p:nvPr/>
        </p:nvSpPr>
        <p:spPr>
          <a:xfrm>
            <a:off x="952500" y="5619750"/>
            <a:ext cx="10287000" cy="495300"/>
          </a:xfrm>
          <a:prstGeom prst="rect">
            <a:avLst/>
          </a:prstGeom>
          <a:solidFill>
            <a:srgbClr val="F2E4DE"/>
          </a:solidFill>
          <a:ln w="0">
            <a:noFill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257300" y="5676900"/>
            <a:ext cx="9667875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B4614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46148"/>
                </a:solidFill>
                <a:latin typeface="Aptos"/>
                <a:ea typeface="Aptos"/>
                <a:cs typeface="Aptos"/>
              </a:rPr>
              <a:t>跨设置迁移可能很低；反向结果不能由单向结果推断。</a:t>
            </a:r>
            <a:endParaRPr sz="1650" b="1">
              <a:solidFill>
                <a:srgbClr val="B46148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矩形 28"/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557B68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71500" y="238125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308"/>
          </a:bodyPr>
          <a:lstStyle/>
          <a:p>
            <a:pPr algn="l">
              <a:defRPr sz="975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实验与结果</a:t>
            </a:r>
            <a:endParaRPr sz="975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71500" y="552450"/>
            <a:ext cx="10953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迁移不对称：两个方向差异显著</a:t>
            </a:r>
            <a:endParaRPr sz="255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D9DFDA"/>
          </a:solidFill>
          <a:ln w="0">
            <a:noFill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144250" y="6419850"/>
            <a:ext cx="476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6667"/>
          </a:bodyPr>
          <a:lstStyle/>
          <a:p>
            <a:pPr algn="r">
              <a:defRPr sz="975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11</a:t>
            </a:r>
            <a:endParaRPr sz="975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43000" y="2057400"/>
            <a:ext cx="1809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COCO → BDD</a:t>
            </a:r>
            <a:endParaRPr sz="150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3143250" y="2124075"/>
            <a:ext cx="4524375" cy="228600"/>
          </a:xfrm>
          <a:prstGeom prst="rect">
            <a:avLst/>
          </a:prstGeom>
          <a:solidFill>
            <a:srgbClr val="E5EAE5"/>
          </a:solidFill>
          <a:ln w="0">
            <a:noFill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3143250" y="2124075"/>
            <a:ext cx="286544" cy="228600"/>
          </a:xfrm>
          <a:prstGeom prst="rect">
            <a:avLst/>
          </a:prstGeom>
          <a:solidFill>
            <a:srgbClr val="557B68"/>
          </a:solidFill>
          <a:ln w="0">
            <a:noFill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791450" y="2047875"/>
            <a:ext cx="8572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0.019</a:t>
            </a:r>
            <a:endParaRPr sz="150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143000" y="2838450"/>
            <a:ext cx="1809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BDD → COCO</a:t>
            </a:r>
            <a:endParaRPr sz="150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3143250" y="2905125"/>
            <a:ext cx="4524375" cy="228600"/>
          </a:xfrm>
          <a:prstGeom prst="rect">
            <a:avLst/>
          </a:prstGeom>
          <a:solidFill>
            <a:srgbClr val="E5EAE5"/>
          </a:solidFill>
          <a:ln w="0">
            <a:noFill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3143250" y="2905125"/>
            <a:ext cx="1975644" cy="228600"/>
          </a:xfrm>
          <a:prstGeom prst="rect">
            <a:avLst/>
          </a:prstGeom>
          <a:solidFill>
            <a:srgbClr val="B46148"/>
          </a:solidFill>
          <a:ln w="0">
            <a:noFill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7791450" y="2828925"/>
            <a:ext cx="8572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0.131</a:t>
            </a:r>
            <a:endParaRPr sz="150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1143000" y="3619500"/>
            <a:ext cx="1809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City → BDD</a:t>
            </a:r>
            <a:endParaRPr sz="150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3143250" y="3686175"/>
            <a:ext cx="4524375" cy="228600"/>
          </a:xfrm>
          <a:prstGeom prst="rect">
            <a:avLst/>
          </a:prstGeom>
          <a:solidFill>
            <a:srgbClr val="E5EAE5"/>
          </a:solidFill>
          <a:ln w="0">
            <a:noFill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3143250" y="3686175"/>
            <a:ext cx="4147344" cy="228600"/>
          </a:xfrm>
          <a:prstGeom prst="rect">
            <a:avLst/>
          </a:prstGeom>
          <a:solidFill>
            <a:srgbClr val="557B68"/>
          </a:solidFill>
          <a:ln w="0">
            <a:noFill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7791450" y="3609975"/>
            <a:ext cx="8572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0.275</a:t>
            </a:r>
            <a:endParaRPr sz="150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1143000" y="4400550"/>
            <a:ext cx="1809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BDD → City</a:t>
            </a:r>
            <a:endParaRPr sz="150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3143250" y="4467225"/>
            <a:ext cx="4524375" cy="228600"/>
          </a:xfrm>
          <a:prstGeom prst="rect">
            <a:avLst/>
          </a:prstGeom>
          <a:solidFill>
            <a:srgbClr val="E5EAE5"/>
          </a:solidFill>
          <a:ln w="0">
            <a:noFill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3143250" y="4467225"/>
            <a:ext cx="377031" cy="228600"/>
          </a:xfrm>
          <a:prstGeom prst="rect">
            <a:avLst/>
          </a:prstGeom>
          <a:solidFill>
            <a:srgbClr val="B46148"/>
          </a:solidFill>
          <a:ln w="0">
            <a:noFill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7791450" y="4391025"/>
            <a:ext cx="8572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0.025</a:t>
            </a:r>
            <a:endParaRPr sz="150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3143250" y="5410200"/>
            <a:ext cx="2857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0000"/>
          </a:bodyPr>
          <a:lstStyle/>
          <a:p>
            <a:pPr algn="l">
              <a:defRPr sz="1125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Closed-label score</a:t>
            </a:r>
            <a:endParaRPr sz="1125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8648700" y="2190750"/>
            <a:ext cx="2571750" cy="3128645"/>
          </a:xfrm>
          <a:prstGeom prst="rect">
            <a:avLst/>
          </a:prstGeom>
          <a:solidFill>
            <a:srgbClr val="FFFFFF"/>
          </a:solidFill>
          <a:ln w="9525">
            <a:solidFill>
              <a:srgbClr val="D9DFDA"/>
            </a:solidFill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8905875" y="2457450"/>
            <a:ext cx="2047875" cy="342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方向差异</a:t>
            </a:r>
            <a:endParaRPr sz="1500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8905875" y="2933700"/>
            <a:ext cx="2047875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3600" b="1">
                <a:solidFill>
                  <a:srgbClr val="B46148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B46148"/>
                </a:solidFill>
                <a:latin typeface="Aptos"/>
                <a:ea typeface="Aptos"/>
                <a:cs typeface="Aptos"/>
              </a:rPr>
              <a:t>6.9×</a:t>
            </a:r>
            <a:endParaRPr sz="3600" b="1">
              <a:solidFill>
                <a:srgbClr val="B4614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858250" y="3695700"/>
            <a:ext cx="214312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BDD → COCO</a:t>
            </a:r>
            <a:endParaRPr sz="1425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  <a:p>
            <a:pPr algn="ctr">
              <a:defRPr sz="1425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相较 COCO → BDD</a:t>
            </a:r>
            <a:endParaRPr sz="1425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8905875" y="4362450"/>
            <a:ext cx="2047875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925" b="1">
                <a:solidFill>
                  <a:srgbClr val="B46148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B46148"/>
                </a:solidFill>
                <a:latin typeface="Aptos"/>
                <a:ea typeface="Aptos"/>
                <a:cs typeface="Aptos"/>
              </a:rPr>
              <a:t>11.0×</a:t>
            </a:r>
            <a:endParaRPr sz="2925" b="1">
              <a:solidFill>
                <a:srgbClr val="B4614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8858250" y="4933950"/>
            <a:ext cx="2143125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275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City → BDD 相较反向</a:t>
            </a:r>
            <a:endParaRPr sz="1275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矩形 8"/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557B68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71500" y="238125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308"/>
          </a:bodyPr>
          <a:lstStyle/>
          <a:p>
            <a:pPr algn="l">
              <a:defRPr sz="975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实验与结果</a:t>
            </a:r>
            <a:endParaRPr sz="975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71500" y="552450"/>
            <a:ext cx="10953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Open-label：标签对齐带来有限提升</a:t>
            </a:r>
            <a:endParaRPr sz="255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D9DFDA"/>
          </a:solidFill>
          <a:ln w="0">
            <a:noFill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144250" y="6419850"/>
            <a:ext cx="476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6667"/>
          </a:bodyPr>
          <a:lstStyle/>
          <a:p>
            <a:pPr algn="r">
              <a:defRPr sz="975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12</a:t>
            </a:r>
            <a:endParaRPr sz="975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  <p:graphicFrame>
        <p:nvGraphicFramePr>
          <p:cNvPr id="14" name="表格 13"/>
          <p:cNvGraphicFramePr/>
          <p:nvPr/>
        </p:nvGraphicFramePr>
        <p:xfrm>
          <a:off x="1047750" y="1809750"/>
          <a:ext cx="10096500" cy="3143250"/>
        </p:xfrm>
        <a:graphic>
          <a:graphicData uri="http://schemas.openxmlformats.org/drawingml/2006/table">
            <a:tbl>
              <a:tblPr/>
              <a:tblGrid>
                <a:gridCol w="2524125"/>
                <a:gridCol w="2524125"/>
                <a:gridCol w="2524125"/>
                <a:gridCol w="2524125"/>
              </a:tblGrid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迁移方向</a:t>
                      </a:r>
                      <a:endParaRPr sz="1200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38100" marB="38100" anchor="ctr">
                    <a:solidFill>
                      <a:srgbClr val="17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Closed</a:t>
                      </a:r>
                      <a:endParaRPr sz="1200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38100" marB="38100" anchor="ctr">
                    <a:solidFill>
                      <a:srgbClr val="17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Open (τ=0.6)</a:t>
                      </a:r>
                      <a:endParaRPr sz="1200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38100" marB="38100" anchor="ctr">
                    <a:solidFill>
                      <a:srgbClr val="17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增量</a:t>
                      </a:r>
                      <a:endParaRPr sz="1200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38100" marB="38100" anchor="ctr">
                    <a:solidFill>
                      <a:srgbClr val="172428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425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COCO → BDD</a:t>
                      </a:r>
                      <a:endParaRPr sz="1425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0.019</a:t>
                      </a:r>
                      <a:endParaRPr sz="1425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0.038</a:t>
                      </a:r>
                      <a:endParaRPr sz="1425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+0.019</a:t>
                      </a:r>
                      <a:endParaRPr sz="1425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</a:tr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425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COCO → Cityscapes</a:t>
                      </a:r>
                      <a:endParaRPr sz="1425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0.015</a:t>
                      </a:r>
                      <a:endParaRPr sz="1425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0.030</a:t>
                      </a:r>
                      <a:endParaRPr sz="1425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+0.015</a:t>
                      </a:r>
                      <a:endParaRPr sz="1425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425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Objects365 → COCO</a:t>
                      </a:r>
                      <a:endParaRPr sz="1425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0.046</a:t>
                      </a:r>
                      <a:endParaRPr sz="1425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0.082</a:t>
                      </a:r>
                      <a:endParaRPr sz="1425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+0.036</a:t>
                      </a:r>
                      <a:endParaRPr sz="1425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</a:tr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425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Objects365 → BDD</a:t>
                      </a:r>
                      <a:endParaRPr sz="1425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0.102</a:t>
                      </a:r>
                      <a:endParaRPr sz="1425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0.124</a:t>
                      </a:r>
                      <a:endParaRPr sz="1425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+0.022</a:t>
                      </a:r>
                      <a:endParaRPr sz="1425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</a:tr>
            </a:tbl>
          </a:graphicData>
        </a:graphic>
      </p:graphicFrame>
      <p:sp>
        <p:nvSpPr>
          <p:cNvPr id="7" name="矩形 6"/>
          <p:cNvSpPr>
            <a:spLocks noGrp="1"/>
          </p:cNvSpPr>
          <p:nvPr/>
        </p:nvSpPr>
        <p:spPr>
          <a:xfrm>
            <a:off x="1047750" y="5314950"/>
            <a:ext cx="10096500" cy="704850"/>
          </a:xfrm>
          <a:prstGeom prst="rect">
            <a:avLst/>
          </a:prstGeom>
          <a:solidFill>
            <a:srgbClr val="E3ECE5"/>
          </a:solidFill>
          <a:ln w="0">
            <a:noFill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381125" y="5457825"/>
            <a:ext cx="9429750" cy="4095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标签错配可以解释部分损失，但映射后仍保留显著跨域差距。</a:t>
            </a:r>
            <a:endParaRPr sz="1725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矩形 7"/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557B68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71500" y="238125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308"/>
          </a:bodyPr>
          <a:lstStyle/>
          <a:p>
            <a:pPr algn="l">
              <a:defRPr sz="975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实验与结果</a:t>
            </a:r>
            <a:endParaRPr sz="975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71500" y="552450"/>
            <a:ext cx="10953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Near-miss 诊断：错配比例因迁移而异</a:t>
            </a:r>
            <a:endParaRPr sz="255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D9DFDA"/>
          </a:solidFill>
          <a:ln w="0">
            <a:noFill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144250" y="6419850"/>
            <a:ext cx="476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6667"/>
          </a:bodyPr>
          <a:lstStyle/>
          <a:p>
            <a:pPr algn="r">
              <a:defRPr sz="975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13</a:t>
            </a:r>
            <a:endParaRPr sz="975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  <p:graphicFrame>
        <p:nvGraphicFramePr>
          <p:cNvPr id="13" name="表格 12"/>
          <p:cNvGraphicFramePr/>
          <p:nvPr/>
        </p:nvGraphicFramePr>
        <p:xfrm>
          <a:off x="1000125" y="1828800"/>
          <a:ext cx="10191750" cy="3143250"/>
        </p:xfrm>
        <a:graphic>
          <a:graphicData uri="http://schemas.openxmlformats.org/drawingml/2006/table">
            <a:tbl>
              <a:tblPr/>
              <a:tblGrid>
                <a:gridCol w="2038350"/>
                <a:gridCol w="2038350"/>
                <a:gridCol w="2038350"/>
                <a:gridCol w="2038350"/>
                <a:gridCol w="2038350"/>
              </a:tblGrid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迁移方向</a:t>
                      </a:r>
                      <a:endParaRPr sz="1200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38100" marB="38100" anchor="ctr">
                    <a:solidFill>
                      <a:srgbClr val="17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ΔmAP</a:t>
                      </a:r>
                      <a:endParaRPr sz="1200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38100" marB="38100" anchor="ctr">
                    <a:solidFill>
                      <a:srgbClr val="17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Near-miss</a:t>
                      </a:r>
                      <a:endParaRPr sz="1200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38100" marB="38100" anchor="ctr">
                    <a:solidFill>
                      <a:srgbClr val="17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均值 sₜₜ</a:t>
                      </a:r>
                      <a:endParaRPr sz="1200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38100" marB="38100" anchor="ctr">
                    <a:solidFill>
                      <a:srgbClr val="17242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Top-5</a:t>
                      </a:r>
                      <a:endParaRPr sz="1200" b="1">
                        <a:solidFill>
                          <a:srgbClr val="FFFFFF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76200" marR="76200" marT="38100" marB="38100" anchor="ctr">
                    <a:solidFill>
                      <a:srgbClr val="172428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Objects365 → BDD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+0.25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41%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0.73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88%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</a:tr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Objects365 → City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+0.15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33%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0.71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81%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COCO → Objects365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+0.04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18%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0.69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64%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/>
                </a:tc>
              </a:tr>
              <a:tr h="628650"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City → COCO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+0.01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4%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0.58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>
                          <a:solidFill>
                            <a:srgbClr val="18262C"/>
                          </a:solidFill>
                          <a:latin typeface="Aptos"/>
                          <a:ea typeface="Aptos"/>
                          <a:cs typeface="Aptos"/>
                        </a:rPr>
                        <a:t>21%</a:t>
                      </a:r>
                      <a:endParaRPr sz="1350">
                        <a:solidFill>
                          <a:srgbClr val="18262C"/>
                        </a:solidFill>
                        <a:latin typeface="Aptos"/>
                        <a:ea typeface="Aptos"/>
                        <a:cs typeface="Aptos"/>
                      </a:endParaRPr>
                    </a:p>
                  </a:txBody>
                  <a:tcPr marL="66675" marR="66675" marT="28575" marB="28575" anchor="ctr">
                    <a:solidFill>
                      <a:srgbClr val="EEF1ED"/>
                    </a:solidFill>
                  </a:tcPr>
                </a:tc>
              </a:tr>
            </a:tbl>
          </a:graphicData>
        </a:graphic>
      </p:graphicFrame>
      <p:sp>
        <p:nvSpPr>
          <p:cNvPr id="7" name="矩形 6"/>
          <p:cNvSpPr>
            <a:spLocks noGrp="1"/>
          </p:cNvSpPr>
          <p:nvPr/>
        </p:nvSpPr>
        <p:spPr>
          <a:xfrm>
            <a:off x="1333500" y="5391150"/>
            <a:ext cx="95250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75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语义近似错配在部分跨标签空间迁移中较常见，但不同迁移对差异很大。</a:t>
            </a:r>
            <a:endParaRPr sz="1575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矩形 10"/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557B68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71500" y="238125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308"/>
          </a:bodyPr>
          <a:lstStyle/>
          <a:p>
            <a:pPr algn="l">
              <a:defRPr sz="975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实验与结果</a:t>
            </a:r>
            <a:endParaRPr sz="975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71500" y="552450"/>
            <a:ext cx="10953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定性案例：域偏移下的成功与失败</a:t>
            </a:r>
            <a:endParaRPr sz="255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D9DFDA"/>
          </a:solidFill>
          <a:ln w="0">
            <a:noFill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144250" y="6419850"/>
            <a:ext cx="476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6667"/>
          </a:bodyPr>
          <a:lstStyle/>
          <a:p>
            <a:pPr algn="r">
              <a:defRPr sz="975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14</a:t>
            </a:r>
            <a:endParaRPr sz="975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6" name="图片 15"/>
          <p:cNvPicPr>
            <a:picLocks noChangeAspect="1"/>
          </p:cNvPicPr>
          <p:nvPr/>
        </p:nvPicPr>
        <p:blipFill>
          <a:blip r:embed="rId1"/>
          <a:srcRect l="2539" r="2539"/>
          <a:stretch>
            <a:fillRect/>
          </a:stretch>
        </p:blipFill>
        <p:spPr>
          <a:xfrm>
            <a:off x="762000" y="1809750"/>
            <a:ext cx="5143500" cy="3048000"/>
          </a:xfrm>
          <a:prstGeom prst="rect">
            <a:avLst/>
          </a:prstGeom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2"/>
          <a:srcRect l="2539" r="2539"/>
          <a:stretch>
            <a:fillRect/>
          </a:stretch>
        </p:blipFill>
        <p:spPr>
          <a:xfrm>
            <a:off x="6286500" y="1809750"/>
            <a:ext cx="5143500" cy="3048000"/>
          </a:xfrm>
          <a:prstGeom prst="rect">
            <a:avLst/>
          </a:prstGeom>
        </p:spPr>
      </p:pic>
      <p:sp>
        <p:nvSpPr>
          <p:cNvPr id="8" name="矩形 7"/>
          <p:cNvSpPr>
            <a:spLocks noGrp="1"/>
          </p:cNvSpPr>
          <p:nvPr/>
        </p:nvSpPr>
        <p:spPr>
          <a:xfrm>
            <a:off x="952500" y="5000625"/>
            <a:ext cx="4762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Cityscapes → BDD：成功案例</a:t>
            </a:r>
            <a:endParaRPr sz="1725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477000" y="5000625"/>
            <a:ext cx="4762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B4614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B46148"/>
                </a:solidFill>
                <a:latin typeface="Aptos"/>
                <a:ea typeface="Aptos"/>
                <a:cs typeface="Aptos"/>
              </a:rPr>
              <a:t>Cityscapes → BDD：失败案例</a:t>
            </a:r>
            <a:endParaRPr sz="1725" b="1">
              <a:solidFill>
                <a:srgbClr val="B4614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333500" y="5619750"/>
            <a:ext cx="95250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夜间、眩光和环境外观变化会让闭标签映射无法解决的错误更加明显。</a:t>
            </a:r>
            <a:endParaRPr sz="1425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7" name="矩形 16"/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557B68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71500" y="238125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308"/>
          </a:bodyPr>
          <a:lstStyle/>
          <a:p>
            <a:pPr algn="l">
              <a:defRPr sz="975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讨论</a:t>
            </a:r>
            <a:endParaRPr sz="975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71500" y="552450"/>
            <a:ext cx="10953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主要结论与解读边界</a:t>
            </a:r>
            <a:endParaRPr sz="255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D9DFDA"/>
          </a:solidFill>
          <a:ln w="0">
            <a:noFill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144250" y="6419850"/>
            <a:ext cx="476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6667"/>
          </a:bodyPr>
          <a:lstStyle/>
          <a:p>
            <a:pPr algn="r">
              <a:defRPr sz="975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15</a:t>
            </a:r>
            <a:endParaRPr sz="975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1095375" y="19431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557B68"/>
          </a:solidFill>
          <a:ln w="0">
            <a:noFill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304925" y="1828800"/>
            <a:ext cx="98869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650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相同设置类型内迁移相对稳定，跨类型迁移显著下降。</a:t>
            </a:r>
            <a:endParaRPr sz="1650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1095375" y="2581275"/>
            <a:ext cx="76200" cy="76200"/>
          </a:xfrm>
          <a:prstGeom prst="roundRect">
            <a:avLst>
              <a:gd name="adj" fmla="val 50000"/>
            </a:avLst>
          </a:prstGeom>
          <a:solidFill>
            <a:srgbClr val="D6B65D"/>
          </a:solidFill>
          <a:ln w="0">
            <a:noFill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1304925" y="2466975"/>
            <a:ext cx="98869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650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跨数据集泛化具有方向性，必须报告完整的源—目标组合。</a:t>
            </a:r>
            <a:endParaRPr sz="1650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1095375" y="32194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D6B65D"/>
          </a:solidFill>
          <a:ln w="0">
            <a:noFill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1304925" y="3105150"/>
            <a:ext cx="98869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650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开放标签映射提供有限收益，困难迁移中视觉域偏移仍突出。</a:t>
            </a:r>
            <a:endParaRPr sz="1650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1095375" y="3857625"/>
            <a:ext cx="76200" cy="76200"/>
          </a:xfrm>
          <a:prstGeom prst="roundRect">
            <a:avLst>
              <a:gd name="adj" fmla="val 50000"/>
            </a:avLst>
          </a:prstGeom>
          <a:solidFill>
            <a:srgbClr val="D6B65D"/>
          </a:solidFill>
          <a:ln w="0">
            <a:noFill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1304925" y="3743325"/>
            <a:ext cx="9886950" cy="619125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650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单一检测器家族与有限基准，尚不足以覆盖所有分布变化。</a:t>
            </a:r>
            <a:endParaRPr sz="1650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1095375" y="4686300"/>
            <a:ext cx="10096500" cy="952500"/>
          </a:xfrm>
          <a:prstGeom prst="rect">
            <a:avLst/>
          </a:prstGeom>
          <a:solidFill>
            <a:srgbClr val="E3ECE5"/>
          </a:solidFill>
          <a:ln w="0">
            <a:noFill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1381125" y="4848225"/>
            <a:ext cx="15240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解读边界</a:t>
            </a:r>
            <a:endParaRPr sz="1500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857500" y="4810125"/>
            <a:ext cx="781050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Setting specificity 是组织基准的分析视角，不等同于单一、已被因果识别的域因素。</a:t>
            </a:r>
            <a:endParaRPr sz="1575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矩形 21"/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557B68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71500" y="238125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308"/>
          </a:bodyPr>
          <a:lstStyle/>
          <a:p>
            <a:pPr algn="l">
              <a:defRPr sz="975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讨论</a:t>
            </a:r>
            <a:endParaRPr sz="975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71500" y="552450"/>
            <a:ext cx="10953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对牛只检测研究的启发</a:t>
            </a:r>
            <a:endParaRPr sz="255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D9DFDA"/>
          </a:solidFill>
          <a:ln w="0">
            <a:noFill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144250" y="6419850"/>
            <a:ext cx="476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6667"/>
          </a:bodyPr>
          <a:lstStyle/>
          <a:p>
            <a:pPr algn="r">
              <a:defRPr sz="975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16</a:t>
            </a:r>
            <a:endParaRPr sz="975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95375" y="1885950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借鉴</a:t>
            </a:r>
            <a:endParaRPr sz="1725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圆角矩形 6"/>
          <p:cNvSpPr>
            <a:spLocks noGrp="1"/>
          </p:cNvSpPr>
          <p:nvPr/>
        </p:nvSpPr>
        <p:spPr>
          <a:xfrm>
            <a:off x="1095375" y="24765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557B68"/>
          </a:solidFill>
          <a:ln w="0">
            <a:noFill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304925" y="2362200"/>
            <a:ext cx="4600575" cy="533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构造 N×N 有向迁移矩阵，双向报告。</a:t>
            </a:r>
            <a:endParaRPr sz="1500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1095375" y="30289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D6B65D"/>
          </a:solidFill>
          <a:ln w="0">
            <a:noFill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1304925" y="2914650"/>
            <a:ext cx="4600575" cy="533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按视角、环境、光照、成像方式拆分采集设置。</a:t>
            </a:r>
            <a:endParaRPr sz="1500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1095375" y="35814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D6B65D"/>
          </a:solidFill>
          <a:ln w="0">
            <a:noFill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1304925" y="3467100"/>
            <a:ext cx="4600575" cy="5334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单类别 cow 任务优先核查标注纳入规则与框标准。</a:t>
            </a:r>
            <a:endParaRPr sz="1500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286500" y="1905000"/>
            <a:ext cx="9525" cy="3429000"/>
          </a:xfrm>
          <a:prstGeom prst="rect">
            <a:avLst/>
          </a:prstGeom>
          <a:solidFill>
            <a:srgbClr val="D9DFDA"/>
          </a:solidFill>
          <a:ln w="0">
            <a:noFill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6667500" y="1885950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B46148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B46148"/>
                </a:solidFill>
                <a:latin typeface="Aptos"/>
                <a:ea typeface="Aptos"/>
                <a:cs typeface="Aptos"/>
              </a:rPr>
              <a:t>进一步检验</a:t>
            </a:r>
            <a:endParaRPr sz="1725" b="1">
              <a:solidFill>
                <a:srgbClr val="B4614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6667500" y="24765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557B68"/>
          </a:solidFill>
          <a:ln w="0">
            <a:noFill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6877050" y="2362200"/>
            <a:ext cx="43624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目标域归一化迁移率：Rᵢ→ⱼ = APᵢ→ⱼ / APⱼ→ⱼ</a:t>
            </a:r>
            <a:endParaRPr sz="1500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6667500" y="3105150"/>
            <a:ext cx="76200" cy="76200"/>
          </a:xfrm>
          <a:prstGeom prst="roundRect">
            <a:avLst>
              <a:gd name="adj" fmla="val 50000"/>
            </a:avLst>
          </a:prstGeom>
          <a:solidFill>
            <a:srgbClr val="D6B65D"/>
          </a:solidFill>
          <a:ln w="0">
            <a:noFill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6877050" y="2990850"/>
            <a:ext cx="43624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同视角跨环境与同环境跨视角的对照。</a:t>
            </a:r>
            <a:endParaRPr sz="1500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9" name="圆角矩形 18"/>
          <p:cNvSpPr>
            <a:spLocks noGrp="1"/>
          </p:cNvSpPr>
          <p:nvPr/>
        </p:nvSpPr>
        <p:spPr>
          <a:xfrm>
            <a:off x="6667500" y="3733800"/>
            <a:ext cx="76200" cy="76200"/>
          </a:xfrm>
          <a:prstGeom prst="roundRect">
            <a:avLst>
              <a:gd name="adj" fmla="val 50000"/>
            </a:avLst>
          </a:prstGeom>
          <a:solidFill>
            <a:srgbClr val="D6B65D"/>
          </a:solidFill>
          <a:ln w="0">
            <a:noFill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6877050" y="3619500"/>
            <a:ext cx="4362450" cy="6096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1500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控制视频、个体与近重复图像泄漏。</a:t>
            </a:r>
            <a:endParaRPr sz="1500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2381250" y="5657850"/>
            <a:ext cx="7429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将 setting specificity 拆解成可测量的牛只采集因素。</a:t>
            </a:r>
            <a:endParaRPr sz="165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矩形 10"/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557B68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71500" y="238125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308"/>
          </a:bodyPr>
          <a:lstStyle/>
          <a:p>
            <a:pPr algn="l">
              <a:defRPr sz="975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讨论</a:t>
            </a:r>
            <a:endParaRPr sz="975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71500" y="552450"/>
            <a:ext cx="10953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组会讨论</a:t>
            </a:r>
            <a:endParaRPr sz="255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D9DFDA"/>
          </a:solidFill>
          <a:ln w="0">
            <a:noFill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144250" y="6419850"/>
            <a:ext cx="476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6667"/>
          </a:bodyPr>
          <a:lstStyle/>
          <a:p>
            <a:pPr algn="r">
              <a:defRPr sz="975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17</a:t>
            </a:r>
            <a:endParaRPr sz="975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143000" y="2000250"/>
            <a:ext cx="99060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2325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哪些采集因素最可能决定牛只检测的跨数据集差距？</a:t>
            </a:r>
            <a:endParaRPr sz="2325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238250" y="3124200"/>
            <a:ext cx="9715500" cy="9525"/>
          </a:xfrm>
          <a:prstGeom prst="rect">
            <a:avLst/>
          </a:prstGeom>
          <a:solidFill>
            <a:srgbClr val="D9DFDA"/>
          </a:solidFill>
          <a:ln w="0">
            <a:noFill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1524000" y="3619500"/>
            <a:ext cx="9144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0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557B68"/>
                </a:solidFill>
                <a:latin typeface="Aptos"/>
                <a:ea typeface="Aptos"/>
                <a:cs typeface="Aptos"/>
              </a:rPr>
              <a:t>视角差异能否与环境、光照和目标尺度分开？</a:t>
            </a:r>
            <a:endParaRPr sz="1800" b="0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524000" y="4286250"/>
            <a:ext cx="9144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0">
                <a:solidFill>
                  <a:srgbClr val="B46148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B46148"/>
                </a:solidFill>
                <a:latin typeface="Aptos"/>
                <a:ea typeface="Aptos"/>
                <a:cs typeface="Aptos"/>
              </a:rPr>
              <a:t>统一 cow 标签后，哪些标注规则仍会造成评估偏差？</a:t>
            </a:r>
            <a:endParaRPr sz="1800" b="0">
              <a:solidFill>
                <a:srgbClr val="B4614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524000" y="4953000"/>
            <a:ext cx="914400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0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18262C"/>
                </a:solidFill>
                <a:latin typeface="Aptos"/>
                <a:ea typeface="Aptos"/>
                <a:cs typeface="Aptos"/>
              </a:rPr>
              <a:t>现有数据集能否支持成对控制的因素迁移实验？</a:t>
            </a:r>
            <a:endParaRPr sz="1800" b="0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矩形 10"/>
          <p:cNvSpPr>
            <a:spLocks noGrp="1"/>
          </p:cNvSpPr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557B68"/>
          </a:solidFill>
          <a:ln w="0">
            <a:noFill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71500" y="238125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2308"/>
          </a:bodyPr>
          <a:lstStyle/>
          <a:p>
            <a:pPr algn="l">
              <a:defRPr sz="975" b="1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7B68"/>
                </a:solidFill>
                <a:latin typeface="Aptos"/>
                <a:ea typeface="Aptos"/>
                <a:cs typeface="Aptos"/>
              </a:rPr>
              <a:t>参考文献</a:t>
            </a:r>
            <a:endParaRPr sz="975" b="1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71500" y="552450"/>
            <a:ext cx="109537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论文信息</a:t>
            </a:r>
            <a:endParaRPr sz="2550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571500" y="1219200"/>
            <a:ext cx="11049000" cy="9525"/>
          </a:xfrm>
          <a:prstGeom prst="rect">
            <a:avLst/>
          </a:prstGeom>
          <a:solidFill>
            <a:srgbClr val="D9DFDA"/>
          </a:solidFill>
          <a:ln w="0">
            <a:noFill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1144250" y="6419850"/>
            <a:ext cx="476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66667"/>
          </a:bodyPr>
          <a:lstStyle/>
          <a:p>
            <a:pPr algn="r">
              <a:defRPr sz="975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18</a:t>
            </a:r>
            <a:endParaRPr sz="975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95375" y="2000250"/>
            <a:ext cx="10001250" cy="8382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rmAutofit/>
          </a:bodyPr>
          <a:lstStyle/>
          <a:p>
            <a:pPr algn="l">
              <a:defRPr sz="2175" b="1">
                <a:solidFill>
                  <a:srgbClr val="18262C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8262C"/>
                </a:solidFill>
                <a:latin typeface="Aptos"/>
                <a:ea typeface="Aptos"/>
                <a:cs typeface="Aptos"/>
              </a:rPr>
              <a:t>Towards Robust Cross-Dataset Object Detection Generalization under Domain Specificity</a:t>
            </a:r>
            <a:endParaRPr sz="2175" b="1">
              <a:solidFill>
                <a:srgbClr val="18262C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095375" y="3181350"/>
            <a:ext cx="1000125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Ritabrata Chakraborty, Hrishit Mitra, Shivakumara Palaiahnakote, Umapada Pal</a:t>
            </a:r>
            <a:endParaRPr sz="1575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095375" y="3800475"/>
            <a:ext cx="100012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75" b="0">
                <a:solidFill>
                  <a:srgbClr val="557B6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557B68"/>
                </a:solidFill>
                <a:latin typeface="Aptos"/>
                <a:ea typeface="Aptos"/>
                <a:cs typeface="Aptos"/>
              </a:rPr>
              <a:t>arXiv:2601.09497  |  2026</a:t>
            </a:r>
            <a:endParaRPr sz="1575" b="0">
              <a:solidFill>
                <a:srgbClr val="557B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095375" y="4419600"/>
            <a:ext cx="100012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arXiv.org/abs/2601.09497</a:t>
            </a:r>
            <a:endParaRPr sz="1425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095375" y="5343525"/>
            <a:ext cx="1000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0">
                <a:solidFill>
                  <a:srgbClr val="52626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268"/>
                </a:solidFill>
                <a:latin typeface="Aptos"/>
                <a:ea typeface="Aptos"/>
                <a:cs typeface="Aptos"/>
              </a:rPr>
              <a:t>图表、数值与定性案例均据论文及本地阅读笔记整理。</a:t>
            </a:r>
            <a:endParaRPr sz="1350" b="0">
              <a:solidFill>
                <a:srgbClr val="526268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2677</Words>
  <Application>WPS 演示</Application>
  <PresentationFormat>Converted Presentation</PresentationFormat>
  <Paragraphs>492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0" baseType="lpstr">
      <vt:lpstr>Arial</vt:lpstr>
      <vt:lpstr>宋体</vt:lpstr>
      <vt:lpstr>Wingdings</vt:lpstr>
      <vt:lpstr>Aptos</vt:lpstr>
      <vt:lpstr>Segoe UI</vt:lpstr>
      <vt:lpstr>微软雅黑</vt:lpstr>
      <vt:lpstr>Arial Unicode MS</vt:lpstr>
      <vt:lpstr>Calibri</vt:lpstr>
      <vt:lpstr>BatangChe</vt:lpstr>
      <vt:lpstr>FFont-Family</vt:lpstr>
      <vt:lpstr>Aptos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qzuser</cp:lastModifiedBy>
  <cp:revision>1</cp:revision>
  <dcterms:created xsi:type="dcterms:W3CDTF">2026-09-23T09:04:01Z</dcterms:created>
  <dcterms:modified xsi:type="dcterms:W3CDTF">2026-09-23T09:04:01Z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D065BD428EDC4F70AC7B3A660DEA4833_12</vt:lpwstr>
  </property>
</Properties>
</file>