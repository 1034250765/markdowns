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padding: 0, background: '#FFFFFF' }}&gt;&#10;  &lt;Box style={{ position: 'relative', width: '100%', height: '100%' }}&gt;&#10;    {/* 顶部深蓝条 */}&#10;    &lt;Box style={{&#10;      position: 'absolute',&#10;      top: 0, left: 0, right: 0,&#10;      height: 8,&#10;      background: '#1E4FA8',&#10;    }} /&gt;&#10;    {/* 左侧装饰条 */}&#10;    &lt;Box style={{&#10;      position: 'absolute',&#10;      top: 8, left: 0,&#10;      width: 12,&#10;      height: 712,&#10;      background: '#E8EFF8',&#10;    }} /&gt;&#10;    {/* 主内容区 */}&#10;    &lt;Box style={{&#10;      flexDirection: 'column',&#10;      justifyContent: 'center',&#10;      alignItems: 'center',&#10;      width: '100%',&#10;      height: '100%',&#10;      padding: '60px 80px',&#10;      gap: 28,&#10;    }}&gt;&#10;      &lt;Text style={{&#10;        fontSize: 44,&#10;        fontWeight: 'bold',&#10;        color: '#0E3F8C',&#10;        textAlign: 'center',&#10;        lineHeight: 1.3,&#10;      }}&gt;&#10;        面向领域特定性的跨数据集&lt;br /&gt;目标检测鲁棒泛化&#10;      &lt;/Text&gt;&#10;      &lt;Text style={{&#10;        fontSize: 22,&#10;        color: '#1E4FA8',&#10;        textAlign: 'center',&#10;        lineHeight: 1.4,&#10;        fontWeight: 500,&#10;      }}&gt;&#10;        Towards Robust Cross-Dataset Object Detection Generalization under Domain Specificity&#10;      &lt;/Text&gt;&#10;      &lt;Box style={{&#10;        width: 120,&#10;        height: 3,&#10;        background: '#1E4FA8',&#10;        marginTop: 8,&#10;        marginBottom: 8,&#10;      }} /&gt;&#10;      &lt;Text style={{&#10;        fontSize: 18,&#10;        color: '#4A5568',&#10;        textAlign: 'center',&#10;        lineHeight: 1.6,&#10;      }}&gt;&#10;        Ritabrata Chakraborty, Hrishit Mitra, Shivakumara Palaiahnakote, Umapada Pal&#10;      &lt;/Text&gt;&#10;      &lt;Text style={{&#10;        fontSize: 16,&#10;        color: '#8B97A8',&#10;        textAlign: 'center',&#10;        lineHeight: 1.5,&#10;      }}&gt;&#10;        arXiv:2601.09497 ｜ ICPR 方向&#10;      &lt;/Text&gt;&#10;    &lt;/Box&gt;&#10;    {/* 底部信息 */}&#10;    &lt;Box style={{&#10;      position: 'absolute',&#10;      bottom: 28,&#10;      left: 80,&#10;      right: 80,&#10;      flexDirection: 'row',&#10;      justifyContent: 'space-between',&#10;    }}&gt;&#10;      &lt;Text style={{ fontSize: 14, color: '#8B97A8' }}&gt;组会汇报&lt;/Text&gt;&#10;      &lt;Text style={{ fontSize: 14, color: '#8B97A8' }}&gt;2026.09.23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3581400" y="1666875"/>
            <a:ext cx="5029200" cy="1314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面向领域特定性的跨数据集</a:t>
            </a:r>
            <a:endParaRPr lang="zh-CN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sz="33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目标检测鲁棒泛化</a:t>
            </a:r>
            <a:endParaRPr lang="zh-CN"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1647825" y="3248025"/>
            <a:ext cx="8896350" cy="3524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16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Towards Robust Cross-Dataset Object Detection Generalization under Domain Specificity</a:t>
            </a:r>
            <a:endParaRPr lang="en-US" sz="16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24500" y="3943350"/>
            <a:ext cx="11430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2886075" y="4314825"/>
            <a:ext cx="6419850" cy="3333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Ritabrata Chakraborty, Hrishit Mitra, Shivakumara Palaiahnakote, Umapada Pal</a:t>
            </a:r>
            <a:endParaRPr lang="en-US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010150" y="4914900"/>
            <a:ext cx="2171700" cy="2762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arXiv:2601.09497 </a:t>
            </a:r>
            <a:endParaRPr lang="zh-CN" sz="12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" name="矩形 8"/>
          <p:cNvSpPr/>
          <p:nvPr/>
        </p:nvSpPr>
        <p:spPr>
          <a:xfrm>
            <a:off x="0" y="76200"/>
            <a:ext cx="114300" cy="67818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64293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734675" y="6429375"/>
            <a:ext cx="695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2026.09.23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 descr="&lt;Slide style={{ padding: '32px 60px', background: '#FFFFFF' }}&gt;&#10;  &lt;Box style={{&#10;    flexDirection: 'column',&#10;    width: '100%',&#10;    height: '100%',&#10;    gap: 24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汇报提纲&lt;/Text&gt;&#10;      &lt;Text style={{ fontSize: 14, color: '#8B97A8' }}&gt;Outline&lt;/Text&gt;&#10;    &lt;/Box&gt;&#10;    {/* 目录条目 */}&#10;    &lt;Box style={{&#10;      flexDirection: 'row',&#10;      flexWrap: 'wrap',&#10;      gap: '20px 24px',&#10;      paddingTop: 12,&#10;    }}&gt;&#10;      {[&#10;        { n: '01', title: '研究背景与动机', desc: '跨数据集退化与两个纠缠因素' },&#10;        { n: '02', title: '核心概念：Setting Specificity', desc: '场景特定型 vs 场景无关型' },&#10;        { n: '03', title: '实验设置与评估协议', desc: '数据集、闭/开标签评估' },&#10;        { n: '04', title: '定量结果', desc: '迁移矩阵、开标签增益、Near-miss' },&#10;        { n: '05', title: '定性结果与讨论', desc: '典型案例与三大核心发现' },&#10;        { n: '06', title: '结论与启示', desc: '贡献、局限及对我们研究的启发' },&#10;      ].map((item, idx) =&gt; (&#10;        &lt;Box key={idx} style={{&#10;          flexDirection: 'row',&#10;          width: 548,&#10;          height: 140,&#10;          background: '#FFFFFF',&#10;          border: '1px solid #D6DCE5',&#10;          borderRadius: 8,&#10;          padding: '20px 24px',&#10;          alignItems: 'center',&#10;          gap: 20,&#10;        }}&gt;&#10;          &lt;Box style={{&#10;            width: 44,&#10;            height: 44,&#10;            background: '#1E4FA8',&#10;            borderRadius: 8,&#10;            justifyContent: 'center',&#10;            alignItems: 'center',&#10;          }}&gt;&#10;            &lt;Text style={{ fontSize: 18, fontWeight: 'bold', color: '#FFFFFF' }}&gt;{item.n}&lt;/Text&gt;&#10;          &lt;/Box&gt;&#10;          &lt;Box style={{ flexDirection: 'column', gap: 6, flex: 1 }}&gt;&#10;            &lt;Text style={{ fontSize: 20, fontWeight: 'bold', color: '#1A2230' }}&gt;{item.title}&lt;/Text&gt;&#10;            &lt;Text style={{ fontSize: 15, color: '#4A5568' }}&gt;{item.desc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6" name="任意多边形 95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81025" y="323850"/>
            <a:ext cx="1066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1144250" y="409575"/>
            <a:ext cx="47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Outline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>
            <p:custDataLst>
              <p:tags r:id="rId1"/>
            </p:custDataLst>
          </p:nvPr>
        </p:nvSpPr>
        <p:spPr>
          <a:xfrm>
            <a:off x="571500" y="1028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>
            <p:custDataLst>
              <p:tags r:id="rId2"/>
            </p:custDataLst>
          </p:nvPr>
        </p:nvSpPr>
        <p:spPr>
          <a:xfrm>
            <a:off x="800100" y="1485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01" name="文本框 100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04875" y="1590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409700" y="1466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409700" y="1752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跨数据集退化与两个纠缠因素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>
            <p:custDataLst>
              <p:tags r:id="rId6"/>
            </p:custDataLst>
          </p:nvPr>
        </p:nvSpPr>
        <p:spPr>
          <a:xfrm>
            <a:off x="5981700" y="1028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5" name="圆角矩形 104"/>
          <p:cNvSpPr/>
          <p:nvPr>
            <p:custDataLst>
              <p:tags r:id="rId7"/>
            </p:custDataLst>
          </p:nvPr>
        </p:nvSpPr>
        <p:spPr>
          <a:xfrm>
            <a:off x="6210300" y="1485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6315075" y="1590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6819900" y="1466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核心概念：</a:t>
            </a:r>
            <a:r>
              <a:rPr lang="en-US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Setting Specificity</a:t>
            </a:r>
            <a:endParaRPr lang="en-US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6819900" y="1752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场景特定型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场景无关型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圆角矩形 108"/>
          <p:cNvSpPr/>
          <p:nvPr>
            <p:custDataLst>
              <p:tags r:id="rId11"/>
            </p:custDataLst>
          </p:nvPr>
        </p:nvSpPr>
        <p:spPr>
          <a:xfrm>
            <a:off x="571500" y="2552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0" name="圆角矩形 109"/>
          <p:cNvSpPr/>
          <p:nvPr>
            <p:custDataLst>
              <p:tags r:id="rId12"/>
            </p:custDataLst>
          </p:nvPr>
        </p:nvSpPr>
        <p:spPr>
          <a:xfrm>
            <a:off x="800100" y="3009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1" name="文本框 110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904875" y="3114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1409700" y="2990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实验设置与评估协议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409700" y="3276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数据集、闭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开标签评估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>
            <p:custDataLst>
              <p:tags r:id="rId16"/>
            </p:custDataLst>
          </p:nvPr>
        </p:nvSpPr>
        <p:spPr>
          <a:xfrm>
            <a:off x="5981700" y="2552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5" name="圆角矩形 114"/>
          <p:cNvSpPr/>
          <p:nvPr>
            <p:custDataLst>
              <p:tags r:id="rId17"/>
            </p:custDataLst>
          </p:nvPr>
        </p:nvSpPr>
        <p:spPr>
          <a:xfrm>
            <a:off x="6210300" y="3009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6315075" y="3114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6819900" y="2990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定量结果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6819900" y="3276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迁移矩阵、开标签增益、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Near-miss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>
            <p:custDataLst>
              <p:tags r:id="rId21"/>
            </p:custDataLst>
          </p:nvPr>
        </p:nvSpPr>
        <p:spPr>
          <a:xfrm>
            <a:off x="571500" y="4076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0" name="圆角矩形 119"/>
          <p:cNvSpPr/>
          <p:nvPr>
            <p:custDataLst>
              <p:tags r:id="rId22"/>
            </p:custDataLst>
          </p:nvPr>
        </p:nvSpPr>
        <p:spPr>
          <a:xfrm>
            <a:off x="800100" y="4533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904875" y="4638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1409700" y="4514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定性结果与讨论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>
            <p:custDataLst>
              <p:tags r:id="rId25"/>
            </p:custDataLst>
          </p:nvPr>
        </p:nvSpPr>
        <p:spPr>
          <a:xfrm>
            <a:off x="1409700" y="4800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典型案例与三大核心发现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>
            <p:custDataLst>
              <p:tags r:id="rId26"/>
            </p:custDataLst>
          </p:nvPr>
        </p:nvSpPr>
        <p:spPr>
          <a:xfrm>
            <a:off x="5981700" y="4076700"/>
            <a:ext cx="52197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5" name="圆角矩形 124"/>
          <p:cNvSpPr/>
          <p:nvPr>
            <p:custDataLst>
              <p:tags r:id="rId27"/>
            </p:custDataLst>
          </p:nvPr>
        </p:nvSpPr>
        <p:spPr>
          <a:xfrm>
            <a:off x="6210300" y="4533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>
            <p:custDataLst>
              <p:tags r:id="rId28"/>
            </p:custDataLst>
          </p:nvPr>
        </p:nvSpPr>
        <p:spPr>
          <a:xfrm>
            <a:off x="6315075" y="46386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>
            <p:custDataLst>
              <p:tags r:id="rId29"/>
            </p:custDataLst>
          </p:nvPr>
        </p:nvSpPr>
        <p:spPr>
          <a:xfrm>
            <a:off x="6819900" y="4514850"/>
            <a:ext cx="4152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结论与启示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>
            <p:custDataLst>
              <p:tags r:id="rId30"/>
            </p:custDataLst>
          </p:nvPr>
        </p:nvSpPr>
        <p:spPr>
          <a:xfrm>
            <a:off x="6819900" y="4800600"/>
            <a:ext cx="4152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贡献、局限及对我们研究的启发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 descr="&lt;Slide style={{ padding: '32px 60px', background: '#FFFFFF' }}&gt;&#10;  &lt;Box style={{&#10;    flexDirection: 'column',&#10;    width: '100%',&#10;    height: '100%',&#10;    gap: 20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研究背景与动机&lt;/Text&gt;&#10;      &lt;Text style={{ fontSize: 14, color: '#8B97A8' }}&gt;Background &amp; Motivation&lt;/Text&gt;&#10;    &lt;/Box&gt;&#10;    {/* 内容 */}&#10;    &lt;Box style={{ flexDirection: 'row', gap: 24, height: 580 }}&gt;&#10;      {/* 左侧文字 */}&#10;      &lt;Box style={{&#10;        flexDirection: 'column',&#10;        gap: 16,&#10;        width: 520,&#10;        paddingTop: 8,&#10;      }}&gt;&#10;        &lt;Box style={{&#10;          background: '#F0F5FC',&#10;          borderRadius: 8,&#10;          padding: 18,&#10;          gap: 10,&#10;        }}&gt;&#10;          &lt;Text style={{ fontSize: 20, fontWeight: 'bold', color: '#0E3F8C' }}&gt;现实痛点&lt;/Text&gt;&#10;          &lt;Text style={{ fontSize: 17, color: '#1A2230', lineHeight: 1.55 }}&gt;&#10;            现代检测器在分布内表现优异，但跨数据集（不同环境、不同标签体系）时性能急剧下降。Waymo 事故说明真实场景包含罕见遮挡、轨迹与评估集未覆盖的工况。&#10;          &lt;/Text&gt;&#10;        &lt;/Box&gt;&#10;        &lt;Box style={{&#10;          background: '#FFFFFF',&#10;          border: '1px solid #D6DCE5',&#10;          borderRadius: 8,&#10;          padding: 18,&#10;          gap: 10,&#10;        }}&gt;&#10;          &lt;Text style={{ fontSize: 20, fontWeight: 'bold', color: '#0E3F8C' }}&gt;两个纠缠的退化因素&lt;/Text&gt;&#10;          &lt;Box style={{ flexDirection: 'column', gap: 8 }}&gt;&#10;            &lt;Text style={{ fontSize: 17, color: '#1A2230', lineHeight: 1.5 }}&gt;&#10;              &lt;span style={{ fontWeight: 'bold', color: '#1E4FA8' }}&gt;① 视觉分布偏移&lt;/span&gt;：图像统计不同导致检测器&quot;看不懂&quot;&#10;            &lt;/Text&gt;&#10;            &lt;Text style={{ fontSize: 17, color: '#1A2230', lineHeight: 1.5 }}&gt;&#10;              &lt;span style={{ fontWeight: 'bold', color: '#1E4FA8' }}&gt;② 标签分类法偏移&lt;/span&gt;：数据集命名/拆分/合并不同，检测器输出语义合理但在严格目标词汇表下被判错&#10;            &lt;/Text&gt;&#10;          &lt;/Box&gt;&#10;        &lt;/Box&gt;&#10;        &lt;Box style={{&#10;          background: '#1E4FA8',&#10;          borderRadius: 8,&#10;          padding: 16,&#10;          marginTop: 4,&#10;        }}&gt;&#10;          &lt;Text style={{ fontSize: 17, color: '#FFFFFF', lineHeight: 1.5, fontWeight: 500 }}&gt;&#10;            核心问题：跨数据集掉点，有多少是&quot;看不懂图&quot;，有多少是&quot;叫不对名字&quot;？&#10;          &lt;/Text&gt;&#10;        &lt;/Box&gt;&#10;      &lt;/Box&gt;&#10;      {/* 右侧图片 */}&#10;      &lt;Box style={{&#10;        flex: 1,&#10;        flexDirection: 'column',&#10;        gap: 10,&#10;        alignItems: 'center',&#10;      }}&gt;&#10;        &lt;Image&#10;          src=&quot;C:/Users/LYX10/Downloads/Typora/牛只数据集/cdod_icpr_ppt/assets/fig1_cross_dataset_comparison.png&quot;&#10;          style={{&#10;            width: 500,&#10;            height: 375,&#10;            objectFit: 'contain',&#10;            border: '1px solid #D6DCE5',&#10;            borderRadius: 8,&#10;          }}&#10;        /&gt;&#10;        &lt;Text style={{ fontSize: 14, color: '#4A5568', textAlign: 'center' }}&gt;&#10;          Fig.1 同一张 COCO 图像在四个不同源模型下的检测对比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1" name="任意多边形 130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571500" y="323850"/>
            <a:ext cx="18669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研究背景与动机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963150" y="4095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Background &amp; Motivation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571500" y="952500"/>
            <a:ext cx="4953000" cy="1571625"/>
          </a:xfrm>
          <a:prstGeom prst="roundRect">
            <a:avLst>
              <a:gd name="adj" fmla="val 4848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742950" y="1123950"/>
            <a:ext cx="4610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现实痛点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42950" y="1447800"/>
            <a:ext cx="46101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现代检测器在分布内表现优异，但跨数据集（不同环境、不同标签体系）时性能急剧下降。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Waymo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事故说明真实场景包含罕见遮挡、轨迹与评估集未覆盖的工况。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571500" y="2676525"/>
            <a:ext cx="4953000" cy="162877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742950" y="2847975"/>
            <a:ext cx="4610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两个纠缠的退化因素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42950" y="3171825"/>
            <a:ext cx="4610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视觉分布偏移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：图像统计不同导致检测器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看不懂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42950" y="3543300"/>
            <a:ext cx="4610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标签分类法偏移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：数据集命名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拆分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合并不同，检测器输出语义合理但在严格目标词汇表下被判错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571500" y="4495800"/>
            <a:ext cx="4953000" cy="895350"/>
          </a:xfrm>
          <a:prstGeom prst="roundRect">
            <a:avLst>
              <a:gd name="adj" fmla="val 8511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23900" y="4648200"/>
            <a:ext cx="4648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核心问题：跨数据集掉点，有多少是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看不懂图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，有多少是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叫不对名字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305550" y="876300"/>
            <a:ext cx="4762500" cy="35718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0" y="876300"/>
            <a:ext cx="4762500" cy="3571875"/>
          </a:xfrm>
          <a:prstGeom prst="roundRect">
            <a:avLst>
              <a:gd name="adj" fmla="val 2133"/>
            </a:avLst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010400" y="4543425"/>
            <a:ext cx="33528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Fig.1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同一张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COCO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图像在四个不同源模型下的检测对比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 descr="&lt;Slide style={{ padding: '32px 60px', background: '#FFFFFF' }}&gt;&#10;  &lt;Box style={{&#10;    flexDirection: 'column',&#10;    width: '100%',&#10;    height: '100%',&#10;    gap: 20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核心概念：Setting Specificity&lt;/Text&gt;&#10;      &lt;Text style={{ fontSize: 14, color: '#8B97A8' }}&gt;Core Concept&lt;/Text&gt;&#10;    &lt;/Box&gt;&#10;    {/* 内容 */}&#10;    &lt;Box style={{ flexDirection: 'row', gap: 24, height: 580 }}&gt;&#10;      {/* 左侧定义 */}&#10;      &lt;Box style={{&#10;        flexDirection: 'column',&#10;        gap: 16,&#10;        width: 520,&#10;        paddingTop: 8,&#10;      }}&gt;&#10;        &lt;Box style={{&#10;          background: '#F0F5FC',&#10;          borderRadius: 8,&#10;          padding: 18,&#10;          gap: 10,&#10;        }}&gt;&#10;          &lt;Text style={{ fontSize: 20, fontWeight: 'bold', color: '#0E3F8C' }}&gt;什么是 Setting Specificity？&lt;/Text&gt;&#10;          &lt;Text style={{ fontSize: 17, color: '#1A2230', lineHeight: 1.55 }}&gt;&#10;            按数据收集意图对数据集分类：场景特定型（specific）聚焦单一操作环境，场景无关型（agnostic）覆盖多种日常场景。&#10;          &lt;/Text&gt;&#10;        &lt;/Box&gt;&#10;        &lt;Box style={{&#10;          background: '#FFFFFF',&#10;          border: '1px solid #D6DCE5',&#10;          borderRadius: 8,&#10;          padding: 18,&#10;          gap: 12,&#10;        }}&gt;&#10;          &lt;Text style={{ fontSize: 18, fontWeight: 'bold', color: '#1E4FA8' }}&gt;Setting-Specific&lt;/Text&gt;&#10;          &lt;Text style={{ fontSize: 16, color: '#1A2230', lineHeight: 1.5 }}&gt;&#10;            重复场景结构、一致视角、任务聚焦分类法。例如 Cityscapes、BDD100K（驾驶）。&#10;          &lt;/Text&gt;&#10;        &lt;/Box&gt;&#10;        &lt;Box style={{&#10;          background: '#FFFFFF',&#10;          border: '1px solid #D6DCE5',&#10;          borderRadius: 8,&#10;          padding: 18,&#10;          gap: 12,&#10;        }}&gt;&#10;          &lt;Text style={{ fontSize: 18, fontWeight: 'bold', color: '#1E4FA8' }}&gt;Setting-Agnostic&lt;/Text&gt;&#10;          &lt;Text style={{ fontSize: 16, color: '#1A2230', lineHeight: 1.5 }}&gt;&#10;            覆盖多场景、捕获条件变化大、标签空间更广。例如 COCO、Objects365。&#10;          &lt;/Text&gt;&#10;        &lt;/Box&gt;&#10;        &lt;Box style={{&#10;          background: '#1E4FA8',&#10;          borderRadius: 8,&#10;          padding: 16,&#10;          marginTop: 4,&#10;        }}&gt;&#10;          &lt;Text style={{ fontSize: 16, color: '#FFFFFF', lineHeight: 1.5 }}&gt;&#10;            人类研究验证：78 名参与者能稳定识别数据集场景签名（Yes/No 准确率 84.0%）&#10;          &lt;/Text&gt;&#10;        &lt;/Box&gt;&#10;      &lt;/Box&gt;&#10;    {/* 右侧：人类研究 Table 1 */}&#10;    &lt;Box style={{&#10;      flex: 1,&#10;      flexDirection: 'column',&#10;      gap: 12,&#10;      paddingTop: 8,&#10;    }}&gt;&#10;      &lt;Box style={{&#10;        background: '#F0F5FC',&#10;        borderRadius: 8,&#10;        padding: 14,&#10;        gap: 6,&#10;      }}&gt;&#10;        &lt;Text style={{ fontSize: 18, fontWeight: 'bold', color: '#0E3F8C' }}&gt;人类研究验证（Table 1）&lt;/Text&gt;&#10;        &lt;Text style={{ fontSize: 15, color: '#1A2230', lineHeight: 1.5 }}&gt;&#10;          78 名参与者对 COCO / Cityscapes / Objects365 / BDD100K 图像进行场景一致性与来源判断，验证 Setting Specificity 的可感知性。&#10;        &lt;/Text&gt;&#10;      &lt;/Box&gt;&#10;      &lt;Box style={{&#10;        flex: 1,&#10;        border: '1px solid #D6DCE5',&#10;        borderRadius: 8,&#10;        overflow: 'hidden',&#10;      }}&gt;&#10;        &lt;Table&#10;          style={{ width: '100%', height: '100%' }}&#10;          defaultTextStyle={{ fontSize: 15, textAlign: 'left', color: '#1A2230' }}&#10;          defaultCellStyle={{&#10;            padding: '8px 12px',&#10;            border: {&#10;              left: { width: 1, color: '#E8ECEF' },&#10;              right: { width: 1, color: '#E8ECEF' },&#10;              top: { width: 1, color: '#E8ECEF' },&#10;              bottom: { width: 1, color: '#E8ECEF' },&#10;            },&#10;          }}&#10;          cells={[&#10;            // 表头&#10;            [&#10;              { text: 'Metric', textStyle: { bold: true, color: '#FFFFFF' }, cellStyle: { background: { color: '#1E4FA8' }, width: 260 } },&#10;              { text: 'Value', textStyle: { bold: true, color: '#FFFFFF', textAlign: 'center' }, cellStyle: { background: { color: '#1E4FA8' } } },&#10;            ],&#10;            // Likert 分组&#10;            [&#10;              { text: 'Likert responses', textStyle: { bold: true, color: '#0E3F8C' }, cellStyle: { background: { color: '#E8F0FA' } } },&#10;              { text: '', cellStyle: { background: { color: '#E8F0FA' } } },&#10;            ],&#10;            ['Mean', { text: '4.83', textStyle: { textAlign: 'center' } }],&#10;            ['Median [IQR]', { text: '4 [2, 8]', textStyle: { textAlign: 'center' } }],&#10;            ['Accuracy (exact GT)', { text: '35.3%', textStyle: { textAlign: 'center' } }],&#10;            ['Agreement (within ±1 of GT)', { text: '65.4%', textStyle: { textAlign: 'center' } }],&#10;            // Yes/No 分组&#10;            [&#10;              { text: 'Yes/No responses', textStyle: { bold: true, color: '#0E3F8C' }, cellStyle: { background: { color: '#E8F0FA' } } },&#10;              { text: '', cellStyle: { background: { color: '#E8F0FA' } } },&#10;            ],&#10;            ['Accuracy', { text: '84.0%', textStyle: { textAlign: 'center', bold: true, color: '#1E4FA8' } }],&#10;            ['Accuracy (GT = Yes)', { text: '80.3%', textStyle: { textAlign: 'center' } }],&#10;            ['Accuracy (GT = No)', { text: '89.7%', textStyle: { textAlign: 'center' } }],&#10;            ['Per-question accuracy range', { text: '66.2–98.7%', textStyle: { textAlign: 'center' } }],&#10;          ]}&#10;        /&gt;&#10;      &lt;/Box&gt;&#10;      &lt;Text style={{ fontSize: 13, color: '#4A5568', textAlign: 'center' }}&gt;&#10;        来源：论文 Table 1 · Human study summary（n = 78）&#10;      &lt;/Text&gt;&#10;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8" name="任意多边形 147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571500" y="323850"/>
            <a:ext cx="3762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核心概念：</a:t>
            </a:r>
            <a:r>
              <a:rPr lang="en-US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Setting Specificity</a:t>
            </a:r>
            <a:endParaRPr lang="en-US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0744200" y="409575"/>
            <a:ext cx="876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Core Concept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571500" y="952500"/>
            <a:ext cx="4953000" cy="1276350"/>
          </a:xfrm>
          <a:prstGeom prst="roundRect">
            <a:avLst>
              <a:gd name="adj" fmla="val 597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42950" y="1123950"/>
            <a:ext cx="4610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什么是</a:t>
            </a:r>
            <a:r>
              <a:rPr lang="en-US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Setting Specificity</a:t>
            </a: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742950" y="1447800"/>
            <a:ext cx="46101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按数据收集意图对数据集分类：场景特定型（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specific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）聚焦单一操作环境，场景无关型（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agnostic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）覆盖多种日常场景。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571500" y="2381250"/>
            <a:ext cx="4953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42950" y="2552700"/>
            <a:ext cx="4610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Setting-Specific</a:t>
            </a:r>
            <a:endParaRPr lang="en-US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742950" y="2876550"/>
            <a:ext cx="4610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重复场景结构、一致视角、任务聚焦分类法。例如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Cityscapes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BDD100K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（驾驶）。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571500" y="3752850"/>
            <a:ext cx="4953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42950" y="3924300"/>
            <a:ext cx="4610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Setting-Agnostic</a:t>
            </a:r>
            <a:endParaRPr lang="en-US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42950" y="4248150"/>
            <a:ext cx="4610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覆盖多场景、捕获条件变化大、标签空间更广。例如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COCO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Objects365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571500" y="51625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23900" y="5314950"/>
            <a:ext cx="4648200" cy="55181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数据集场景签名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数据集具有可辨认的视觉“签名”，模型也可能学习这些数据集特有的场景和采集先验，从而影响跨数据集泛化。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53100" y="952500"/>
            <a:ext cx="586740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886450" y="1085850"/>
            <a:ext cx="5600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人类研究验证（</a:t>
            </a: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Table 1</a:t>
            </a: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5886450" y="1352550"/>
            <a:ext cx="56007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78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名参与者对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COCO / Cityscapes / Objects365 / BDD100K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图像进行场景一致性与来源判断，验证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Setting Specificity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的可感知性。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53100" y="2114550"/>
            <a:ext cx="5867400" cy="4019550"/>
          </a:xfrm>
          <a:prstGeom prst="roundRect">
            <a:avLst>
              <a:gd name="adj" fmla="val 1896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166" name="表格 165"/>
          <p:cNvGraphicFramePr/>
          <p:nvPr/>
        </p:nvGraphicFramePr>
        <p:xfrm>
          <a:off x="5753100" y="2114550"/>
          <a:ext cx="5867400" cy="4019554"/>
        </p:xfrm>
        <a:graphic>
          <a:graphicData uri="http://schemas.openxmlformats.org/drawingml/2006/table">
            <a:tbl>
              <a:tblPr/>
              <a:tblGrid>
                <a:gridCol w="4117876"/>
                <a:gridCol w="1749524"/>
              </a:tblGrid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Metric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Value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Likert responses</a:t>
                      </a:r>
                      <a:endParaRPr sz="1125" b="1">
                        <a:solidFill>
                          <a:srgbClr val="0E3F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A"/>
                    </a:solidFill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Mean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4.83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Median [IQR]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 [2, 8]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Accuracy (exact GT)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35.3%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Agreement (within ±1 of GT)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65.4%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Yes/No responses</a:t>
                      </a:r>
                      <a:endParaRPr sz="1125" b="1">
                        <a:solidFill>
                          <a:srgbClr val="0E3F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A"/>
                    </a:solidFill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Accuracy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84.0%</a:t>
                      </a:r>
                      <a:endParaRPr sz="1125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Accuracy (GT = Yes)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80.3%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Accuracy (GT = No)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89.7%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4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Per-question accuracy range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66.2–98.7%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5753100" y="6248400"/>
            <a:ext cx="5867400" cy="1524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来源：论文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Table 1 · Human study summary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 = 78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 descr="&lt;Slide style={{ padding: '32px 60px', background: '#FFFFFF' }}&gt;&#10;  &lt;Box style={{&#10;    flexDirection: 'column',&#10;    width: '100%',&#10;    height: '100%',&#10;    gap: 16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实验设置&lt;/Text&gt;&#10;      &lt;Text style={{ fontSize: 14, color: '#8B97A8' }}&gt;Experimental Setup&lt;/Text&gt;&#10;    &lt;/Box&gt;&#10;    {/* 数据集表格 */}&#10;    &lt;Box style={{ flexDirection: 'column', gap: 8 }}&gt;&#10;      &lt;Text style={{ fontSize: 20, fontWeight: 'bold', color: '#0E3F8C' }}&gt;数据集统计&lt;/Text&gt;&#10;      &lt;Table&#10;        style={{ width: '100%', height: 170 }}&#10;        defaultTextStyle={{ fontSize: 15, textAlign: 'center', color: '#1A2230'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}}&#10;        cells={[&#10;          [&#10;            { text: '数据集', textStyle: { bold: true, color: '#fff' }, cellStyle: { background: { color: '#1E4FA8' } } },&#10;            { text: '图像数', textStyle: { bold: true, color: '#fff' }, cellStyle: { background: { color: '#1E4FA8' } } },&#10;            { text: '类别数', textStyle: { bold: true, color: '#fff' }, cellStyle: { background: { color: '#1E4FA8' } } },&#10;            { text: '设置类型', textStyle: { bold: true, color: '#fff' }, cellStyle: { background: { color: '#1E4FA8' } } },&#10;          ],&#10;          ['COCO', '5,000', '80', 'Agnostic'],&#10;          ['Objects365', '38,000', '365', 'Agnostic'],&#10;          ['Cityscapes', '500', '8', 'Specific'],&#10;          ['BDD100K', '10,000', '10', 'Specific'],&#10;        ]}&#10;      /&gt;&#10;    &lt;/Box&gt;&#10;    {/* 下方两栏 */}&#10;    &lt;Box style={{ flexDirection: 'row', gap: 24, flex: 1 }}&gt;&#10;      &lt;Box style={{&#10;        flex: 1,&#10;        background: '#F0F5FC',&#10;        borderRadius: 8,&#10;        padding: 18,&#10;        gap: 10,&#10;      }}&gt;&#10;        &lt;Text style={{ fontSize: 18, fontWeight: 'bold', color: '#0E3F8C' }}&gt;训练协议&lt;/Text&gt;&#10;        &lt;Box style={{ flexDirection: 'column', gap: 8 }}&gt;&#10;          &lt;Text style={{ fontSize: 16, color: '#1A2230', lineHeight: 1.5 }}&gt;• 固定训练配方，每个源数据集独立训练一个模型&lt;/Text&gt;&#10;          &lt;Text style={{ fontSize: 16, color: '#1A2230', lineHeight: 1.5 }}&gt;• 架构：Faster R-CNN + ResNet-50 FPN&lt;/Text&gt;&#10;          &lt;Text style={{ fontSize: 16, color: '#1A2230', lineHeight: 1.5 }}&gt;• 框架：PyTorch + MMDetection，标准 1× schedule&lt;/Text&gt;&#10;          &lt;Text style={{ fontSize: 16, color: '#1A2230', lineHeight: 1.5 }}&gt;• 目标评估为零样本，无目标域访问&lt;/Text&gt;&#10;        &lt;/Box&gt;&#10;      &lt;/Box&gt;&#10;      &lt;Box style={{&#10;        flex: 1,&#10;        background: '#FFFFFF',&#10;        border: '1px solid #D6DCE5',&#10;        borderRadius: 8,&#10;        padding: 18,&#10;        gap: 10,&#10;      }}&gt;&#10;        &lt;Text style={{ fontSize: 18, fontWeight: 'bold', color: '#0E3F8C' }}&gt;评估设置&lt;/Text&gt;&#10;        &lt;Box style={{ flexDirection: 'column', gap: 8 }}&gt;&#10;          &lt;Text style={{ fontSize: 16, color: '#1A2230', lineHeight: 1.5 }}&gt;• 报告完整 4×4 训练→测试迁移矩阵&lt;/Text&gt;&#10;          &lt;Text style={{ fontSize: 16, color: '#1A2230', lineHeight: 1.5 }}&gt;• 指标：mAP @ IoU 0.50–0.95&lt;/Text&gt;&#10;          &lt;Text style={{ fontSize: 16, color: '#1A2230', lineHeight: 1.5 }}&gt;• 语义相似度：CLIP ViT-L/14 文本嵌入&lt;/Text&gt;&#10;          &lt;Text style={{ fontSize: 16, color: '#1A2230', lineHeight: 1.5 }}&gt;• 硬件：NVIDIA RTX A5000 (24 GB)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 1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0" name="任意多边形 169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71500" y="323850"/>
            <a:ext cx="1066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实验设置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0372725" y="409575"/>
            <a:ext cx="124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Experimental Setup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571500" y="838200"/>
            <a:ext cx="11049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数据集统计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4" name="表格 173"/>
          <p:cNvGraphicFramePr/>
          <p:nvPr/>
        </p:nvGraphicFramePr>
        <p:xfrm>
          <a:off x="571500" y="1143000"/>
          <a:ext cx="11049000" cy="1619250"/>
        </p:xfrm>
        <a:graphic>
          <a:graphicData uri="http://schemas.openxmlformats.org/drawingml/2006/table">
            <a:tbl>
              <a:tblPr/>
              <a:tblGrid>
                <a:gridCol w="3634856"/>
                <a:gridCol w="2310902"/>
                <a:gridCol w="2190542"/>
                <a:gridCol w="2912699"/>
              </a:tblGrid>
              <a:tr h="3238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数据集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图像数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类别数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设置类型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3238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5,000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Agnostic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8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38,000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Agnostic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8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Specific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38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BDD100K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10,000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Specific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5" name="圆角矩形 174"/>
          <p:cNvSpPr/>
          <p:nvPr/>
        </p:nvSpPr>
        <p:spPr>
          <a:xfrm>
            <a:off x="571500" y="2914650"/>
            <a:ext cx="5410200" cy="3638550"/>
          </a:xfrm>
          <a:prstGeom prst="roundRect">
            <a:avLst>
              <a:gd name="adj" fmla="val 2094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42950" y="3086100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训练协议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742950" y="3390900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固定训练配方，每个源数据集独立训练一个模型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742950" y="3743325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架构：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Faster R-CNN + ResNet-50 FPN</a:t>
            </a:r>
            <a:endParaRPr 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742950" y="4095750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框架：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PyTorch + MMDetection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，标准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1× schedule</a:t>
            </a:r>
            <a:endParaRPr 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42950" y="4448175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目标评估为零样本，无目标域访问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圆角矩形 180"/>
          <p:cNvSpPr/>
          <p:nvPr/>
        </p:nvSpPr>
        <p:spPr>
          <a:xfrm>
            <a:off x="6210300" y="2914650"/>
            <a:ext cx="541020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381750" y="3086100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评估设置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6381750" y="3390900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报告完整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4×4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训练→测试迁移矩阵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6381750" y="3743325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指标：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mAP @ IoU 0.50–0.95</a:t>
            </a:r>
            <a:endParaRPr 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381750" y="4095750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语义相似度：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CLIP ViT-L/14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文本嵌入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6381750" y="4448175"/>
            <a:ext cx="5067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硬件：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NVIDIA RTX A5000 (24 GB)</a:t>
            </a:r>
            <a:endParaRPr 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 descr="&lt;Slide style={{ padding: '32px 60px', background: '#FFFFFF' }}&gt;&#10;  &lt;Box style={{&#10;    flexDirection: 'column',&#10;    width: '100%',&#10;    height: '100%',&#10;    gap: 14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定量结果 I：闭标签跨数据集泛化&lt;/Text&gt;&#10;      &lt;Text style={{ fontSize: 14, color: '#8B97A8' }}&gt;Closed-label mAP&lt;/Text&gt;&#10;    &lt;/Box&gt;&#10;    {/* 表格 */}&#10;    &lt;Box style={{ flexDirection: 'column', gap: 6, flex: 1 }}&gt;&#10;      &lt;Table&#10;        style={{ width: '100%', height: 320 }}&#10;        defaultTextStyle={{ fontSize: 15, textAlign: 'center', color: '#1A2230'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}}&#10;        cells={[&#10;          [&#10;            { text: 'Train \\ Test', textStyle: { bold: true, color: '#fff' }, cellStyle: { background: { color: '#1E4FA8' } } },&#10;            { text: 'COCO', textStyle: { bold: true, color: '#fff' }, cellStyle: { background: { color: '#1E4FA8' } } },&#10;            { text: 'Cityscapes', textStyle: { bold: true, color: '#fff' }, cellStyle: { background: { color: '#1E4FA8' } } },&#10;            { text: 'Objects365', textStyle: { bold: true, color: '#fff' }, cellStyle: { background: { color: '#1E4FA8' } } },&#10;            { text: 'BDD', textStyle: { bold: true, color: '#fff' }, cellStyle: { background: { color: '#1E4FA8' } } },&#10;            { text: 'Avg.', textStyle: { bold: true, color: '#fff' }, cellStyle: { background: { color: '#1E4FA8' } } },&#10;          ],&#10;          ['COCO', '0.376', '0.015', '0.286', '0.019', '0.174'],&#10;          ['Cityscapes', '0.206', '0.402', '0.268', '0.275', '0.287'],&#10;          ['Objects365', '0.046', '0.020', '0.198', '0.102', '0.092'],&#10;          ['BDD', '0.131', '0.025', '0.103', '0.298', '0.139'],&#10;          ['Avg.', '0.189', '0.115', '0.213', '0.174', '—'],&#10;        ]}&#10;      /&gt;&#10;      &lt;Text style={{ fontSize: 14, color: '#4A5568', textAlign: 'center' }}&gt;Table 3: 4×4 闭标签迁移矩阵（mAP @ 0.50–0.95）&lt;/Text&gt;&#10;    &lt;/Box&gt;&#10;    {/* 关键发现 */}&#10;    &lt;Box style={{&#10;      flexDirection: 'row',&#10;      gap: 16,&#10;      flex: 1,&#10;    }}&gt;&#10;      {[&#10;        { title: '最可迁移源', desc: 'Cityscapes 平均 0.287，对 driving 和通用目标都强' },&#10;        { title: '最弱源', desc: 'Objects365 平均 0.092，类别多≠迁移好' },&#10;        { title: '强烈不对称', desc: 'COCO→Objects365 0.286 ≫ Objects365→COCO 0.046' },&#10;        { title: '目标难度差异', desc: 'Cityscapes 最难目标 0.115，Objects365 最易 0.213' },&#10;      ].map((item, idx) =&gt; (&#10;        &lt;Box key={idx} style={{&#10;          flex: 1,&#10;          background: '#F0F5FC',&#10;          borderRadius: 8,&#10;          padding: 14,&#10;          gap: 8,&#10;        }}&gt;&#10;          &lt;Text style={{ fontSize: 16, fontWeight: 'bold', color: '#0E3F8C' }}&gt;{item.title}&lt;/Text&gt;&#10;          &lt;Text style={{ fontSize: 14, color: '#1A2230', lineHeight: 1.5 }}&gt;{item.desc}&lt;/Text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矩形 2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6" name="任意多边形 215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571500" y="323850"/>
            <a:ext cx="39052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定量结果</a:t>
            </a:r>
            <a:r>
              <a:rPr lang="en-US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I</a:t>
            </a: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：闭标签跨数据集泛化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10477500" y="409575"/>
            <a:ext cx="114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Closed-label mAP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9" name="表格 218"/>
          <p:cNvGraphicFramePr/>
          <p:nvPr/>
        </p:nvGraphicFramePr>
        <p:xfrm>
          <a:off x="571500" y="819150"/>
          <a:ext cx="11049000" cy="3048000"/>
        </p:xfrm>
        <a:graphic>
          <a:graphicData uri="http://schemas.openxmlformats.org/drawingml/2006/table">
            <a:tbl>
              <a:tblPr/>
              <a:tblGrid>
                <a:gridCol w="2407324"/>
                <a:gridCol w="1404272"/>
                <a:gridCol w="2304447"/>
                <a:gridCol w="2433043"/>
                <a:gridCol w="1249957"/>
                <a:gridCol w="1249957"/>
              </a:tblGrid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Train \ Test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BDD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Avg.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0.376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0.015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0.286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0.019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0.174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0.206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0.402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0.268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0.275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0.287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0.020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0.198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0.092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BDD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0.131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0.025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0.298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0.139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Avg.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0.189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0.213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0.174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39243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Table 3: 4×4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闭标签迁移矩阵（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mAP @ 0.50–0.95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圆角矩形 220"/>
          <p:cNvSpPr/>
          <p:nvPr>
            <p:custDataLst>
              <p:tags r:id="rId1"/>
            </p:custDataLst>
          </p:nvPr>
        </p:nvSpPr>
        <p:spPr>
          <a:xfrm>
            <a:off x="571500" y="4876800"/>
            <a:ext cx="2647950" cy="16764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04850" y="501015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最可迁移源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04850" y="527685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Cityscapes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平均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0.287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，对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driving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和通用目标都强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圆角矩形 223"/>
          <p:cNvSpPr/>
          <p:nvPr>
            <p:custDataLst>
              <p:tags r:id="rId4"/>
            </p:custDataLst>
          </p:nvPr>
        </p:nvSpPr>
        <p:spPr>
          <a:xfrm>
            <a:off x="3371850" y="4876800"/>
            <a:ext cx="2647950" cy="16764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25" name="文本框 224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3505200" y="501015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最弱源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3505200" y="527685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Objects365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平均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0.092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，类别多≠迁移好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>
            <p:custDataLst>
              <p:tags r:id="rId7"/>
            </p:custDataLst>
          </p:nvPr>
        </p:nvSpPr>
        <p:spPr>
          <a:xfrm>
            <a:off x="6172200" y="4876800"/>
            <a:ext cx="2647950" cy="16764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6305550" y="501015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强烈不对称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6305550" y="527685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COCO→Objects365 0.286 ≫ Objects365→COCO 0.046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圆角矩形 229"/>
          <p:cNvSpPr/>
          <p:nvPr>
            <p:custDataLst>
              <p:tags r:id="rId10"/>
            </p:custDataLst>
          </p:nvPr>
        </p:nvSpPr>
        <p:spPr>
          <a:xfrm>
            <a:off x="8972550" y="4876800"/>
            <a:ext cx="2647950" cy="16764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9105900" y="501015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目标难度差异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9105900" y="527685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Cityscapes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最难目标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0.115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Objects365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最易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0.213</a:t>
            </a:r>
            <a:endParaRPr lang="en-US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 descr="&lt;Slide style={{ padding: '32px 60px', background: '#FFFFFF' }}&gt;&#10;  &lt;Box style={{&#10;    flexDirection: 'column',&#10;    width: '100%',&#10;    height: '100%',&#10;    gap: 16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评估协议：分离域偏移与标签不匹配&lt;/Text&gt;&#10;      &lt;Text style={{ fontSize: 14, color: '#8B97A8' }}&gt;Evaluation Protocol&lt;/Text&gt;&#10;    &lt;/Box&gt;&#10;    {/* 三个协议卡片 */}&#10;    &lt;Box style={{ flexDirection: 'row', gap: 20, flex: 1, paddingTop: 8 }}&gt;&#10;      &lt;Box style={{&#10;        flex: 1,&#10;        background: '#FFFFFF',&#10;        border: '1px solid #D6DCE5',&#10;        borderRadius: 8,&#10;        padding: 18,&#10;        gap: 12,&#10;      }}&gt;&#10;        &lt;Box style={{&#10;          background: '#1E4FA8',&#10;          borderRadius: 6,&#10;          padding: '10px 12px',&#10;        }}&gt;&#10;          &lt;Text style={{ fontSize: 18, fontWeight: 'bold', color: '#FFFFFF' }}&gt;Closed-label&lt;/Text&gt;&#10;        &lt;/Box&gt;&#10;        &lt;Text style={{ fontSize: 16, color: '#1A2230', lineHeight: 1.55 }}&gt;&#10;          仅评估源/目标共享标签的一对一交集。使用显式映射文件对齐标签，过滤掉不在共享集合中的预测。&#10;        &lt;/Text&gt;&#10;        &lt;Text style={{ fontSize: 15, color: '#4A5568', lineHeight: 1.5, marginTop: 8 }}&gt;&#10;          反映总量：视觉域偏移 + 标签不匹配&#10;        &lt;/Text&gt;&#10;      &lt;/Box&gt;&#10;      &lt;Box style={{&#10;        flex: 1,&#10;        background: '#FFFFFF',&#10;        border: '1px solid #D6DCE5',&#10;        borderRadius: 8,&#10;        padding: 18,&#10;        gap: 12,&#10;      }}&gt;&#10;        &lt;Box style={{&#10;          background: '#1E4FA8',&#10;          borderRadius: 6,&#10;          padding: '10px 12px',&#10;        }}&gt;&#10;          &lt;Text style={{ fontSize: 18, fontWeight: 'bold', color: '#FFFFFF' }}&gt;Open-label&lt;/Text&gt;&#10;        &lt;/Box&gt;&#10;        &lt;Text style={{ fontSize: 16, color: '#1A2230', lineHeight: 1.55 }}&gt;&#10;          用 CLIP 相似度将预测标签映射到最近的目标标签（阈值 τ=0.6）。只改标签评分，定位与 IoU 匹配不变。&#10;        &lt;/Text&gt;&#10;        &lt;Text style={{ fontSize: 15, color: '#4A5568', lineHeight: 1.5, marginTop: 8 }}&gt;&#10;          近似消除标签不匹配后的剩余损失&#10;        &lt;/Text&gt;&#10;      &lt;/Box&gt;&#10;      &lt;Box style={{&#10;        flex: 1,&#10;        background: '#FFFFFF',&#10;        border: '1px solid #D6DCE5',&#10;        borderRadius: 8,&#10;        padding: 18,&#10;        gap: 12,&#10;      }}&gt;&#10;        &lt;Box style={{&#10;          background: '#0E3F8C',&#10;          borderRadius: 6,&#10;          padding: '10px 12px',&#10;        }}&gt;&#10;          &lt;Text style={{ fontSize: 18, fontWeight: 'bold', color: '#FFFFFF' }}&gt;Near-miss Diagnostics&lt;/Text&gt;&#10;        &lt;/Box&gt;&#10;        &lt;Text style={{ fontSize: 16, color: '#1A2230', lineHeight: 1.55 }}&gt;&#10;          框正确但类别不同时，用 CLIP 计算文本-文本相似度、GT 排名、区域级偏好边际，区分语义近失与真正混淆。&#10;        &lt;/Text&gt;&#10;        &lt;Text style={{ fontSize: 15, color: '#4A5568', lineHeight: 1.5, marginTop: 8 }}&gt;&#10;          判断&quot;叫错名字&quot;还是&quot;看错图&quot;&#10;        &lt;/Text&gt;&#10;      &lt;/Box&gt;&#10;    &lt;/Box&gt;&#10;    {/* 底部公式 */}&#10;    &lt;Box style={{&#10;      background: '#F0F5FC',&#10;      borderRadius: 8,&#10;      padding: 18,&#10;      gap: 10,&#10;    }}&gt;&#10;      &lt;Text style={{ fontSize: 18, fontWeight: 'bold', color: '#0E3F8C' }}&gt;核心拆解思想&lt;/Text&gt;&#10;      &lt;Box style={{ flexDirection: 'row', justifyContent: 'space-around', alignItems: 'center', paddingTop: 6 }}&gt;&#10;        &lt;Text style={{ fontSize: 16, color: '#1A2230', textAlign: 'center', lineHeight: 1.5 }}&gt;&#10;          &lt;span style={{ fontWeight: 'bold' }}&gt;Closed-label 下降&lt;/span&gt;&lt;br /&gt;域偏移 + 标签不匹配&#10;        &lt;/Text&gt;&#10;        &lt;Text style={{ fontSize: 24, color: '#1E4FA8', fontWeight: 'bold' }}&gt;−&lt;/Text&gt;&#10;        &lt;Text style={{ fontSize: 16, color: '#1A2230', textAlign: 'center', lineHeight: 1.5 }}&gt;&#10;          &lt;span style={{ fontWeight: 'bold' }}&gt;Open-label 增益&lt;/span&gt;&lt;br /&gt;≈ 标签不匹配贡献&#10;        &lt;/Text&gt;&#10;        &lt;Text style={{ fontSize: 24, color: '#1E4FA8', fontWeight: 'bold' }}&gt;=&lt;/Text&gt;&#10;        &lt;Text style={{ fontSize: 16, color: '#1A2230', textAlign: 'center', lineHeight: 1.5 }}&gt;&#10;          &lt;span style={{ fontWeight: 'bold' }}&gt;剩余下降&lt;/span&gt;&lt;br /&gt;≈ 视觉域偏移主导&#10;        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9" name="任意多边形 188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571500" y="323850"/>
            <a:ext cx="42672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评估协议：分离域偏移与标签不匹配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0382250" y="409575"/>
            <a:ext cx="1238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Evaluation Protocol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571500" y="914400"/>
            <a:ext cx="3552825" cy="422910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3" name="圆角矩形 192"/>
          <p:cNvSpPr/>
          <p:nvPr/>
        </p:nvSpPr>
        <p:spPr>
          <a:xfrm>
            <a:off x="742950" y="1085850"/>
            <a:ext cx="3209925" cy="40005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857250" y="1181100"/>
            <a:ext cx="2981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Closed-label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742950" y="1600200"/>
            <a:ext cx="3209925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仅评估源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目标共享标签的一对一交集。使用显式映射文件对齐标签，过滤掉不在共享集合中的预测。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742950" y="2647950"/>
            <a:ext cx="3209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反映总量：视觉域偏移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标签不匹配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4314825" y="914400"/>
            <a:ext cx="3562350" cy="422910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8" name="圆角矩形 197"/>
          <p:cNvSpPr/>
          <p:nvPr/>
        </p:nvSpPr>
        <p:spPr>
          <a:xfrm>
            <a:off x="4486275" y="1085850"/>
            <a:ext cx="3219450" cy="40005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600575" y="1181100"/>
            <a:ext cx="299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Open-label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486275" y="1600200"/>
            <a:ext cx="321945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CLIP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相似度将预测标签映射到最近的目标标签（阈值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τ=0.6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）。只改标签评分，定位与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IoU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匹配不变。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486275" y="2647950"/>
            <a:ext cx="3219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近似消除标签不匹配后的剩余损失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8067675" y="914400"/>
            <a:ext cx="3552825" cy="422910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3" name="圆角矩形 202"/>
          <p:cNvSpPr/>
          <p:nvPr/>
        </p:nvSpPr>
        <p:spPr>
          <a:xfrm>
            <a:off x="8239125" y="1085850"/>
            <a:ext cx="3209925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353425" y="1181100"/>
            <a:ext cx="2981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Near-miss Diagnostics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239125" y="1600200"/>
            <a:ext cx="3209925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框正确但类别不同时，用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CLIP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计算文本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文本相似度、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GT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排名、区域级偏好边际，区分语义近失与真正混淆。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239125" y="2647950"/>
            <a:ext cx="3209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叫错名字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还是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看错图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571500" y="5295900"/>
            <a:ext cx="11049000" cy="1257300"/>
          </a:xfrm>
          <a:prstGeom prst="roundRect">
            <a:avLst>
              <a:gd name="adj" fmla="val 606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742950" y="5467350"/>
            <a:ext cx="10706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核心拆解思想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390650" y="5829300"/>
            <a:ext cx="1428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Closed-label </a:t>
            </a: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下降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域偏移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标签不匹配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105275" y="5972175"/>
            <a:ext cx="1809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−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581650" y="5829300"/>
            <a:ext cx="1228725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Open-label </a:t>
            </a: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增益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≈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标签不匹配贡献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105775" y="5972175"/>
            <a:ext cx="1809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9572625" y="5829300"/>
            <a:ext cx="1228725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剩余下降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≈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视觉域偏移主导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 descr="&lt;Slide style={{ padding: '32px 60px', background: '#FFFFFF' }}&gt;&#10;  &lt;Box style={{&#10;    flexDirection: 'column',&#10;    width: '100%',&#10;    height: '100%',&#10;    gap: 14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定量结果 II：开标签评估&lt;/Text&gt;&#10;      &lt;Text style={{ fontSize: 14, color: '#8B97A8' }}&gt;Open-label mAP (τ = 0.6)&lt;/Text&gt;&#10;    &lt;/Box&gt;&#10;    {/* 表格 */}&#10;    &lt;Box style={{ flexDirection: 'column', gap: 6, flex: 1 }}&gt;&#10;      &lt;Table&#10;        style={{ width: '100%', height: 320 }}&#10;        defaultTextStyle={{ fontSize: 15, textAlign: 'center', color: '#1A2230'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}}&#10;        cells={[&#10;          [&#10;            { text: 'Train \\ Test', textStyle: { bold: true, color: '#fff' }, cellStyle: { background: { color: '#1E4FA8' } } },&#10;            { text: 'COCO', textStyle: { bold: true, color: '#fff' }, cellStyle: { background: { color: '#1E4FA8' } } },&#10;            { text: 'Cityscapes', textStyle: { bold: true, color: '#fff' }, cellStyle: { background: { color: '#1E4FA8' } } },&#10;            { text: 'Objects365', textStyle: { bold: true, color: '#fff' }, cellStyle: { background: { color: '#1E4FA8' } } },&#10;            { text: 'BDD', textStyle: { bold: true, color: '#fff' }, cellStyle: { background: { color: '#1E4FA8' } } },&#10;            { text: 'Avg.', textStyle: { bold: true, color: '#fff' }, cellStyle: { background: { color: '#1E4FA8' } } },&#10;          ],&#10;          ['COCO', '0.376', '0.030 (+0.015)', '0.322 (+0.036)', '0.038 (+0.019)', '0.192'],&#10;          ['Cityscapes', '0.235 (+0.029)', '0.402', '0.296 (+0.028)', '0.287 (+0.012)', '0.305'],&#10;          ['Objects365', '0.082 (+0.036)', '0.032 (+0.012)', '0.198', '0.124 (+0.022)', '0.109'],&#10;          ['BDD', '0.160 (+0.029)', '0.040 (+0.015)', '0.132 (+0.029)', '0.298', '0.158'],&#10;          ['Avg.', '0.213', '0.126', '0.237', '0.187', '—'],&#10;        ]}&#10;      /&gt;&#10;      &lt;Text style={{ fontSize: 14, color: '#4A5568', textAlign: 'center' }}&gt;Table 4: 4×4 开标签迁移矩阵（括号内为相对闭标签增益）&lt;/Text&gt;&#10;    &lt;/Box&gt;&#10;    {/* 关键发现 */}&#10;    &lt;Box style={{&#10;      flexDirection: 'row',&#10;      gap: 16,&#10;      flex: 1,&#10;    }}&gt;&#10;      &lt;Box style={{&#10;        flex: 1,&#10;        background: '#F0F5FC',&#10;        borderRadius: 8,&#10;        padding: 16,&#10;        gap: 10,&#10;      }}&gt;&#10;        &lt;Text style={{ fontSize: 18, fontWeight: 'bold', color: '#0E3F8C' }}&gt;一致但有界的增益&lt;/Text&gt;&#10;        &lt;Text style={{ fontSize: 15, color: '#1A2230', lineHeight: 1.5 }}&gt;所有非对角线均有提升，最大增益出现在 agnostic 数据集之间（+0.036）和 driving→通用词汇迁移。&lt;/Text&gt;&#10;      &lt;/Box&gt;&#10;      &lt;Box style={{&#10;        flex: 1,&#10;        background: '#1E4FA8',&#10;        borderRadius: 8,&#10;        padding: 16,&#10;        gap: 10,&#10;      }}&gt;&#10;        &lt;Text style={{ fontSize: 18, fontWeight: 'bold', color: '#FFFFFF' }}&gt;瓶颈在域偏移&lt;/Text&gt;&#10;        &lt;Text style={{ fontSize: 15, color: '#FFFFFF', lineHeight: 1.5 }}&gt;COCO→Cityscapes 仅 0.030，COCO→BDD 仅 0.038。即使解决标签不匹配，性能仍然很低。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5" name="任意多边形 234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71500" y="323850"/>
            <a:ext cx="2933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定量结果</a:t>
            </a:r>
            <a:r>
              <a:rPr lang="en-US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II</a:t>
            </a: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：开标签评估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9991725" y="409575"/>
            <a:ext cx="1628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Open-label mAP (τ = 0.6)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8" name="表格 237"/>
          <p:cNvGraphicFramePr/>
          <p:nvPr/>
        </p:nvGraphicFramePr>
        <p:xfrm>
          <a:off x="571500" y="819150"/>
          <a:ext cx="11049000" cy="3048000"/>
        </p:xfrm>
        <a:graphic>
          <a:graphicData uri="http://schemas.openxmlformats.org/drawingml/2006/table">
            <a:tbl>
              <a:tblPr/>
              <a:tblGrid>
                <a:gridCol w="1733467"/>
                <a:gridCol w="2103866"/>
                <a:gridCol w="2103866"/>
                <a:gridCol w="2103866"/>
                <a:gridCol w="2103866"/>
                <a:gridCol w="900069"/>
              </a:tblGrid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Train \ Test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BDD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Avg.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0.376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0.030 (+0.015)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0.322 (+0.036)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0.038 (+0.019)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0.192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0.235 (+0.029)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0.402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0.296 (+0.028)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0.287 (+0.012)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0.305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0.082 (+0.036)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0.032 (+0.012)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0.198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0.124 (+0.022)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0.109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BDD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0.160 (+0.029)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0.040 (+0.015)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0.132 (+0.029)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0.298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0.158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8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Avg.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0.213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0.126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0.237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0.187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71500" y="39243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Table 4: 4×4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开标签迁移矩阵（括号内为相对闭标签增益）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圆角矩形 239"/>
          <p:cNvSpPr/>
          <p:nvPr>
            <p:custDataLst>
              <p:tags r:id="rId1"/>
            </p:custDataLst>
          </p:nvPr>
        </p:nvSpPr>
        <p:spPr>
          <a:xfrm>
            <a:off x="571500" y="4829175"/>
            <a:ext cx="5448300" cy="1724025"/>
          </a:xfrm>
          <a:prstGeom prst="roundRect">
            <a:avLst>
              <a:gd name="adj" fmla="val 442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23900" y="498157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一致但有界的增益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23900" y="5286375"/>
            <a:ext cx="5143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所有非对角线均有提升，最大增益出现在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agnostic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数据集之间（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+0.036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driving→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通用词汇迁移。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>
            <p:custDataLst>
              <p:tags r:id="rId4"/>
            </p:custDataLst>
          </p:nvPr>
        </p:nvSpPr>
        <p:spPr>
          <a:xfrm>
            <a:off x="6172200" y="4829175"/>
            <a:ext cx="5448300" cy="1724025"/>
          </a:xfrm>
          <a:prstGeom prst="roundRect">
            <a:avLst>
              <a:gd name="adj" fmla="val 442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44" name="文本框 243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6324600" y="498157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瓶颈在域偏移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6324600" y="5286375"/>
            <a:ext cx="5143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COCO→Cityscapes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0.030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COCO→BDD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0.038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。即使解决标签不匹配，性能仍然很低。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 descr="&lt;Slide style={{ padding: '32px 60px', background: '#FFFFFF' }}&gt;&#10;  &lt;Box style={{&#10;    flexDirection: 'column',&#10;    width: '100%',&#10;    height: '100%',&#10;    gap: 14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定量结果 III：Near-miss 诊断&lt;/Text&gt;&#10;      &lt;Text style={{ fontSize: 14, color: '#8B97A8' }}&gt;CLIP-Based Ablation&lt;/Text&gt;&#10;    &lt;/Box&gt;&#10;    {/* 表格 */}&#10;    &lt;Box style={{ flexDirection: 'column', gap: 6, flex: 1 }}&gt;&#10;      &lt;Table&#10;        style={{ width: '100%', height: 240 }}&#10;        defaultTextStyle={{ fontSize: 15, textAlign: 'center', color: '#1A2230' }}&#10;        defaultCellStyle={{&#10;          border: {&#10;            left: { width: 1, color: '#D6DCE5' },&#10;            right: { width: 1, color: '#D6DCE5' },&#10;            top: { width: 1, color: '#D6DCE5' },&#10;            bottom: { width: 1, color: '#D6DCE5' },&#10;          },&#10;        }}&#10;        cells={[&#10;          [&#10;            { text: 'Train→Test', textStyle: { bold: true, color: '#fff' }, cellStyle: { background: { color: '#1E4FA8' } } },&#10;            { text: 'ΔmAP', textStyle: { bold: true, color: '#fff' }, cellStyle: { background: { color: '#1E4FA8' } } },&#10;            { text: 'Near-miss ↑', textStyle: { bold: true, color: '#fff' }, cellStyle: { background: { color: '#1E4FA8' } } },&#10;            { text: 'E[s_tt] ↑', textStyle: { bold: true, color: '#fff' }, cellStyle: { background: { color: '#1E4FA8' } } },&#10;            { text: 'Med. Rank ↓', textStyle: { bold: true, color: '#fff' }, cellStyle: { background: { color: '#1E4FA8' } } },&#10;            { text: 'Top-5 ↑', textStyle: { bold: true, color: '#fff' }, cellStyle: { background: { color: '#1E4FA8' } } },&#10;          ],&#10;          ['Objects365→BDD', '+0.25', '41%', '0.73', '2', '88%'],&#10;          ['Objects365→City', '+0.15', '33%', '0.71', '3', '81%'],&#10;          ['COCO→Objects365', '+0.04', '18%', '0.69', '4', '64%'],&#10;          ['Objects365→COCO', '+0.04', '17%', '0.70', '4', '66%'],&#10;          ['Cityscapes→COCO', '+0.01', '4%', '0.58', '14', '21%'],&#10;        ]}&#10;      /&gt;&#10;      &lt;Text style={{ fontSize: 14, color: '#4A5568', textAlign: 'center' }}&gt;Table 5: 开标签增益对应的 near-miss 诊断（τ=0.6, K=5）&lt;/Text&gt;&#10;    &lt;/Box&gt;&#10;    {/* 关键发现 */}&#10;    &lt;Box style={{&#10;      flexDirection: 'row',&#10;      gap: 16,&#10;      flex: 1,&#10;    }}&gt;&#10;      &lt;Box style={{&#10;        flex: 1,&#10;        background: '#F0F5FC',&#10;        borderRadius: 8,&#10;        padding: 16,&#10;        gap: 10,&#10;      }}&gt;&#10;        &lt;Text style={{ fontSize: 18, fontWeight: 'bold', color: '#0E3F8C' }}&gt;标签不匹配的结构&lt;/Text&gt;&#10;        &lt;Text style={{ fontSize: 15, color: '#1A2230', lineHeight: 1.5 }}&gt;Objects365→BDD 的 41% 错配是语义近失：s_tt=0.73、中位排名 2、Top-5 88%。这些错误可通过语义重映射修正。&lt;/Text&gt;&#10;      &lt;/Box&gt;&#10;      &lt;Box style={{&#10;        flex: 1,&#10;        background: '#1E4FA8',&#10;        borderRadius: 8,&#10;        padding: 16,&#10;        gap: 10,&#10;      }}&gt;&#10;        &lt;Text style={{ fontSize: 18, fontWeight: 'bold', color: '#FFFFFF' }}&gt;真正混淆 vs 语义近失&lt;/Text&gt;&#10;        &lt;Text style={{ fontSize: 15, color: '#FFFFFF', lineHeight: 1.5 }}&gt;Cityscapes→COCO near-miss 仅 4%，相似度 0.58，GT 中位排名 14。剩余错误由域偏移和语义混淆主导，非标签问题。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2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8" name="任意多边形 247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71500" y="323850"/>
            <a:ext cx="36576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定量结果</a:t>
            </a:r>
            <a:r>
              <a:rPr lang="en-US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III</a:t>
            </a: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Near-miss </a:t>
            </a: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诊断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315575" y="409575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CLIP-Based Ablation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51" name="表格 250"/>
          <p:cNvGraphicFramePr/>
          <p:nvPr/>
        </p:nvGraphicFramePr>
        <p:xfrm>
          <a:off x="571500" y="819150"/>
          <a:ext cx="11049000" cy="2286000"/>
        </p:xfrm>
        <a:graphic>
          <a:graphicData uri="http://schemas.openxmlformats.org/drawingml/2006/table">
            <a:tbl>
              <a:tblPr/>
              <a:tblGrid>
                <a:gridCol w="3046315"/>
                <a:gridCol w="1172913"/>
                <a:gridCol w="2007798"/>
                <a:gridCol w="1396906"/>
                <a:gridCol w="2089251"/>
                <a:gridCol w="1335817"/>
              </a:tblGrid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Train→Test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ΔmAP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Near-miss ↑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E[s_tt] ↑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Med. Rank ↓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Top-5 ↑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Objects365→BDD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+0.25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Objects365→City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+0.15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0.71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COCO→Objects365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0.69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Objects365→COCO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0.70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Cityscapes→COCO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+0.01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0.58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21%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571500" y="31623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Table 5: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开标签增益对应的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near-miss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诊断（τ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=0.6, K=5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571500" y="4448175"/>
            <a:ext cx="5448300" cy="2105025"/>
          </a:xfrm>
          <a:prstGeom prst="roundRect">
            <a:avLst>
              <a:gd name="adj" fmla="val 362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23900" y="460057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标签不匹配的结构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23900" y="4905375"/>
            <a:ext cx="5143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Objects365→BDD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41%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错配是语义近失：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s_tt=0.73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、中位排名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Top-5 88%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。这些错误可通过语义重映射修正。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圆角矩形 255"/>
          <p:cNvSpPr/>
          <p:nvPr>
            <p:custDataLst>
              <p:tags r:id="rId4"/>
            </p:custDataLst>
          </p:nvPr>
        </p:nvSpPr>
        <p:spPr>
          <a:xfrm>
            <a:off x="6172200" y="4448175"/>
            <a:ext cx="5448300" cy="2105025"/>
          </a:xfrm>
          <a:prstGeom prst="roundRect">
            <a:avLst>
              <a:gd name="adj" fmla="val 362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6324600" y="460057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真正混淆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语义近失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6324600" y="4905375"/>
            <a:ext cx="5143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Cityscapes→COCO near-miss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4%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，相似度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0.58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GT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中位排名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14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。剩余错误由域偏移和语义混淆主导，非标签问题。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 descr="&lt;Slide style={{ padding: '32px 60px', background: '#FFFFFF' }}&gt;&#10;  &lt;Box style={{&#10;    flexDirection: 'column',&#10;    width: '100%',&#10;    height: '100%',&#10;    gap: 16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定性结果&lt;/Text&gt;&#10;      &lt;Text style={{ fontSize: 14, color: '#8B97A8' }}&gt;Qualitative Results&lt;/Text&gt;&#10;    &lt;/Box&gt;&#10;    {/* 图片 */}&#10;    &lt;Box style={{&#10;      flexDirection: 'column',&#10;      alignItems: 'center',&#10;      gap: 8,&#10;    }}&gt;&#10;      &lt;Image&#10;        src=&quot;C:/Users/LYX10/Downloads/Typora/牛只数据集/cdod_icpr_ppt/assets/fig4_qualitative_cases.png&quot;&#10;        style={{&#10;          width: 1000,&#10;          height: 333,&#10;          objectFit: 'contain',&#10;          border: '1px solid #D6DCE5',&#10;          borderRadius: 8,&#10;        }}&#10;      /&gt;&#10;      &lt;Text style={{ fontSize: 14, color: '#4A5568', textAlign: 'center' }}&gt;&#10;        Fig.4 跨域检测典型案例：绿色为 GT，红色为预测。从左到右包含成功、失败、夜间/眩光等极端条件。&#10;      &lt;/Text&gt;&#10;    &lt;/Box&gt;&#10;    {/* 失败模式总结 */}&#10;    &lt;Box style={{&#10;      flexDirection: 'row',&#10;      gap: 16,&#10;      flex: 1,&#10;    }}&gt;&#10;      {[&#10;        { title: '大域偏移退化', desc: '夜间、眩光、雨雪等条件下检测器严重掉点' },&#10;        { title: '遮挡与背景 clutter', desc: '重叠物体或杂乱背景导致误检/漏检' },&#10;        { title: '分布内最稳', desc: 'COCO→COCO、Cityscapes→Cityscapes 始终最可靠' },&#10;        { title: '特定场景脆弱', desc: 'agnostic→specific 在恶劣视觉条件下性能悬崖式下降' },&#10;      ].map((item, idx) =&gt; (&#10;        &lt;Box key={idx} style={{&#10;          flex: 1,&#10;          background: '#F0F5FC',&#10;          borderRadius: 8,&#10;          padding: 14,&#10;          gap: 8,&#10;        }}&gt;&#10;          &lt;Text style={{ fontSize: 16, fontWeight: 'bold', color: '#0E3F8C' }}&gt;{item.title}&lt;/Text&gt;&#10;          &lt;Text style={{ fontSize: 14, color: '#1A2230', lineHeight: 1.5 }}&gt;{item.desc}&lt;/Text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" name="任意多边形 13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571500" y="323850"/>
            <a:ext cx="1066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定性结果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439400" y="409575"/>
            <a:ext cx="118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Qualitative Results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33500" y="838200"/>
            <a:ext cx="9525000" cy="31718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40" r="40"/>
          <a:stretch>
            <a:fillRect/>
          </a:stretch>
        </p:blipFill>
        <p:spPr>
          <a:xfrm>
            <a:off x="1333500" y="838200"/>
            <a:ext cx="9525000" cy="3171825"/>
          </a:xfrm>
          <a:prstGeom prst="roundRect">
            <a:avLst>
              <a:gd name="adj" fmla="val 2402"/>
            </a:avLst>
          </a:prstGeom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3057525" y="4086225"/>
            <a:ext cx="6086475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Fig.4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跨域检测典型案例：绿色为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GT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，红色为预测。从左到右包含成功、失败、夜间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眩光等极端条件。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1500" y="4400550"/>
            <a:ext cx="26479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704850" y="453390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大域偏移退化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704850" y="480060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夜间、眩光、雨雪等条件下检测器严重掉点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371850" y="4400550"/>
            <a:ext cx="26479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505200" y="453390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遮挡与背景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clutter</a:t>
            </a:r>
            <a:endParaRPr lang="en-US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3505200" y="4800600"/>
            <a:ext cx="2381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重叠物体或杂乱背景导致误检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漏检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172200" y="4400550"/>
            <a:ext cx="26479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305550" y="453390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分布内最稳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305550" y="480060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COCO→COCO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Cityscapes→Cityscapes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始终最可靠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8972550" y="4400550"/>
            <a:ext cx="26479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9105900" y="453390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特定场景脆弱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9105900" y="4800600"/>
            <a:ext cx="23812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agnostic→specific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在恶劣视觉条件下性能悬崖式下降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 descr="&lt;Slide style={{ padding: '32px 60px', background: '#FFFFFF' }}&gt;&#10;  &lt;Box style={{&#10;    flexDirection: 'column',&#10;    width: '100%',&#10;    height: '100%',&#10;    gap: 20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讨论：三大核心发现&lt;/Text&gt;&#10;      &lt;Text style={{ fontSize: 14, color: '#8B97A8' }}&gt;Discussion&lt;/Text&gt;&#10;    &lt;/Box&gt;&#10;    {/* 三个发现 */}&#10;    &lt;Box style={{ flexDirection: 'column', gap: 18, flex: 1 }}&gt;&#10;      &lt;Box style={{&#10;        flexDirection: 'row',&#10;        gap: 18,&#10;        alignItems: 'center',&#10;      }}&gt;&#10;        &lt;Box style={{&#10;          width: 64,&#10;          height: 64,&#10;          background: '#1E4FA8',&#10;          borderRadius: '50%',&#10;          justifyContent: 'center',&#10;          alignItems: 'center',&#10;        }}&gt;&#10;          &lt;Text style={{ fontSize: 28, fontWeight: 'bold', color: '#FFFFFF' }}&gt;1&lt;/Text&gt;&#10;        &lt;/Box&gt;&#10;        &lt;Box style={{&#10;          flex: 1,&#10;          background: '#F0F5FC',&#10;          borderRadius: 8,&#10;          padding: 18,&#10;          gap: 8,&#10;        }}&gt;&#10;          &lt;Text style={{ fontSize: 20, fontWeight: 'bold', color: '#0E3F8C' }}&gt;Setting-specific 目标暴露&quot;鲁棒性悬崖&quot;&lt;/Text&gt;&#10;          &lt;Text style={{ fontSize: 16, color: '#1A2230', lineHeight: 1.55 }}&gt;&#10;            agnostic→specific 在闭标签下崩溃，开标签后仍很低。外观、视角、上下文偏移在最困难情形下压倒标签不匹配——域偏移占主导。&#10;          &lt;/Text&gt;&#10;        &lt;/Box&gt;&#10;      &lt;/Box&gt;&#10;      &lt;Box style={{&#10;        flexDirection: 'row',&#10;        gap: 18,&#10;        alignItems: 'center',&#10;      }}&gt;&#10;        &lt;Box style={{&#10;          width: 64,&#10;          height: 64,&#10;          background: '#1E4FA8',&#10;          borderRadius: '50%',&#10;          justifyContent: 'center',&#10;          alignItems: 'center',&#10;        }}&gt;&#10;          &lt;Text style={{ fontSize: 28, fontWeight: 'bold', color: '#FFFFFF' }}&gt;2&lt;/Text&gt;&#10;        &lt;/Box&gt;&#10;        &lt;Box style={{&#10;          flex: 1,&#10;          background: '#F0F5FC',&#10;          borderRadius: 8,&#10;          padding: 18,&#10;          gap: 8,&#10;        }}&gt;&#10;          &lt;Text style={{ fontSize: 20, fontWeight: 'bold', color: '#0E3F8C' }}&gt;跨数据集偏移是方向性的&lt;/Text&gt;&#10;          &lt;Text style={{ fontSize: 16, color: '#1A2230', lineHeight: 1.55 }}&gt;&#10;            许多迁移对强烈不对称，&quot;domain gap&quot; 不能视为对称。只报单向精选结果会隐藏更难方向、夸大鲁棒性。&#10;          &lt;/Text&gt;&#10;        &lt;/Box&gt;&#10;      &lt;/Box&gt;&#10;      &lt;Box style={{&#10;        flexDirection: 'row',&#10;        gap: 18,&#10;        alignItems: 'center',&#10;      }}&gt;&#10;        &lt;Box style={{&#10;          width: 64,&#10;          height: 64,&#10;          background: '#1E4FA8',&#10;          borderRadius: '50%',&#10;          justifyContent: 'center',&#10;          alignItems: 'center',&#10;        }}&gt;&#10;          &lt;Text style={{ fontSize: 28, fontWeight: 'bold', color: '#FFFFFF' }}&gt;3&lt;/Text&gt;&#10;        &lt;/Box&gt;&#10;        &lt;Box style={{&#10;          flex: 1,&#10;          background: '#F0F5FC',&#10;          borderRadius: 8,&#10;          padding: 18,&#10;          gap: 8,&#10;        }}&gt;&#10;          &lt;Text style={{ fontSize: 20, fontWeight: 'bold', color: '#0E3F8C' }}&gt;标签不匹配真实但有界&lt;/Text&gt;&#10;          &lt;Text style={{ fontSize: 16, color: '#1A2230', lineHeight: 1.55 }}&gt;&#10;            开标签一致但有限的增益 + near-miss 统计可区分语义近失与真正混淆。开标签后的大残余下降指向标签对齐之外的鲁棒性失败。&#10;          &lt;/Text&gt;&#10;        &lt;/Box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" name="任意多边形 33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571500" y="323850"/>
            <a:ext cx="24003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讨论：三大核心发现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10944225" y="409575"/>
            <a:ext cx="676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Discussion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1"/>
            </p:custDataLst>
          </p:nvPr>
        </p:nvSpPr>
        <p:spPr>
          <a:xfrm>
            <a:off x="571500" y="1038225"/>
            <a:ext cx="609600" cy="609600"/>
          </a:xfrm>
          <a:custGeom>
            <a:avLst/>
            <a:gdLst/>
            <a:ahLst/>
            <a:cxnLst/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790575" y="1181100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>
            <p:custDataLst>
              <p:tags r:id="rId3"/>
            </p:custDataLst>
          </p:nvPr>
        </p:nvSpPr>
        <p:spPr>
          <a:xfrm>
            <a:off x="1352550" y="876300"/>
            <a:ext cx="1026795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0" name="文本框 3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524000" y="1047750"/>
            <a:ext cx="9925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Setting-specific </a:t>
            </a: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目标暴露</a:t>
            </a:r>
            <a:r>
              <a:rPr lang="en-US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鲁棒性悬崖</a:t>
            </a:r>
            <a:r>
              <a:rPr lang="en-US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524000" y="1352550"/>
            <a:ext cx="99250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agnostic→specific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在闭标签下崩溃，开标签后仍很低。外观、视角、上下文偏移在最困难情形下压倒标签不匹配——域偏移占主导。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6"/>
            </p:custDataLst>
          </p:nvPr>
        </p:nvSpPr>
        <p:spPr>
          <a:xfrm>
            <a:off x="571500" y="2143125"/>
            <a:ext cx="609600" cy="609600"/>
          </a:xfrm>
          <a:custGeom>
            <a:avLst/>
            <a:gdLst/>
            <a:ahLst/>
            <a:cxnLst/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790575" y="2286000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8"/>
            </p:custDataLst>
          </p:nvPr>
        </p:nvSpPr>
        <p:spPr>
          <a:xfrm>
            <a:off x="1352550" y="1981200"/>
            <a:ext cx="1026795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45" name="文本框 44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1524000" y="2152650"/>
            <a:ext cx="9925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跨数据集偏移是方向性的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1524000" y="2457450"/>
            <a:ext cx="99250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许多迁移对强烈不对称，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"domain gap"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不能视为对称。只报单向精选结果会隐藏更难方向、夸大鲁棒性。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11"/>
            </p:custDataLst>
          </p:nvPr>
        </p:nvSpPr>
        <p:spPr>
          <a:xfrm>
            <a:off x="571500" y="3248025"/>
            <a:ext cx="609600" cy="609600"/>
          </a:xfrm>
          <a:custGeom>
            <a:avLst/>
            <a:gdLst/>
            <a:ahLst/>
            <a:cxnLst/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790575" y="3390900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>
            <p:custDataLst>
              <p:tags r:id="rId13"/>
            </p:custDataLst>
          </p:nvPr>
        </p:nvSpPr>
        <p:spPr>
          <a:xfrm>
            <a:off x="1352550" y="3086100"/>
            <a:ext cx="1026795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1524000" y="3257550"/>
            <a:ext cx="9925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标签不匹配真实但有界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524000" y="3562350"/>
            <a:ext cx="99250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开标签一致但有限的增益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near-miss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统计可区分语义近失与真正混淆。开标签后的大残余下降指向标签对齐之外的鲁棒性失败。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 descr="&lt;Slide style={{ padding: '32px 60px', background: '#FFFFFF' }}&gt;&#10;  &lt;Box style={{&#10;    flexDirection: 'column',&#10;    width: '100%',&#10;    height: '100%',&#10;    gap: 18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结论、局限与未来工作&lt;/Text&gt;&#10;      &lt;Text style={{ fontSize: 14, color: '#8B97A8' }}&gt;Conclusion&lt;/Text&gt;&#10;    &lt;/Box&gt;&#10;    {/* 贡献 */}&#10;    &lt;Box style={{&#10;      background: '#F0F5FC',&#10;      borderRadius: 8,&#10;      padding: 18,&#10;      gap: 12,&#10;    }}&gt;&#10;      &lt;Text style={{ fontSize: 20, fontWeight: 'bold', color: '#0E3F8C' }}&gt;主要贡献&lt;/Text&gt;&#10;      &lt;Box style={{ flexDirection: 'column', gap: 8 }}&gt;&#10;        &lt;Text style={{ fontSize: 16, color: '#1A2230', lineHeight: 1.5 }}&gt;• 提出 setting specificity 视角，将跨数据集目标检测的结果按场景特定/无关结构化&lt;/Text&gt;&#10;        &lt;Text style={{ fontSize: 16, color: '#1A2230', lineHeight: 1.5 }}&gt;• 在全部训练-测试对上评估，揭示跨数据集迁移的不对称性与&quot;鲁棒性悬崖&quot;&lt;/Text&gt;&#10;        &lt;Text style={{ fontSize: 16, color: '#1A2230', lineHeight: 1.5 }}&gt;• 通过闭/开标签协议 + CLIP near-miss 诊断，显式分离语义错位与视觉域偏移&lt;/Text&gt;&#10;      &lt;/Box&gt;&#10;    &lt;/Box&gt;&#10;    {/* 局限与展望 */}&#10;    &lt;Box style={{&#10;      flexDirection: 'row',&#10;      gap: 20,&#10;      flex: 1,&#10;    }}&gt;&#10;      &lt;Box style={{&#10;        flex: 1,&#10;        background: '#FFFFFF',&#10;        border: '1px solid #D6DCE5',&#10;        borderRadius: 8,&#10;        padding: 18,&#10;        gap: 10,&#10;      }}&gt;&#10;        &lt;Text style={{ fontSize: 18, fontWeight: 'bold', color: '#D9534F' }}&gt;局限&lt;/Text&gt;&#10;        &lt;Box style={{ flexDirection: 'column', gap: 8 }}&gt;&#10;          &lt;Text style={{ fontSize: 16, color: '#1A2230', lineHeight: 1.5 }}&gt;• 仅标准检测器架构（Faster R-CNN）&lt;/Text&gt;&#10;          &lt;Text style={{ fontSize: 16, color: '#1A2230', lineHeight: 1.5 }}&gt;• 固定基准集合，未覆盖所有真实分布偏移形式&lt;/Text&gt;&#10;          &lt;Text style={{ fontSize: 16, color: '#1A2230', lineHeight: 1.5 }}&gt;• 未引入域适应或数据增强等缓解策略&lt;/Text&gt;&#10;        &lt;/Box&gt;&#10;      &lt;/Box&gt;&#10;      &lt;Box style={{&#10;        flex: 1,&#10;        background: '#FFFFFF',&#10;        border: '1px solid #D6DCE5',&#10;        borderRadius: 8,&#10;        padding: 18,&#10;        gap: 10,&#10;      }}&gt;&#10;        &lt;Text style={{ fontSize: 18, fontWeight: 'bold', color: '#1E4FA8' }}&gt;未来工作&lt;/Text&gt;&#10;        &lt;Box style={{ flexDirection: 'column', gap: 8 }}&gt;&#10;          &lt;Text style={{ fontSize: 16, color: '#1A2230', lineHeight: 1.5 }}&gt;• 探索域适应策略克服视觉域偏移&lt;/Text&gt;&#10;          &lt;Text style={{ fontSize: 16, color: '#1A2230', lineHeight: 1.5 }}&gt;• 研究 agnostic 与 specific 数据联合训练的作用&lt;/Text&gt;&#10;          &lt;Text style={{ fontSize: 16, color: '#1A2230', lineHeight: 1.5 }}&gt;• 扩展到更多检测架构与更大数据集集合&lt;/Text&gt;&#10;        &lt;/Box&gt;&#10;      &lt;/Box&gt;&#10;    &lt;/Box&gt;&#10;    {/* 底部金句 */}&#10;    &lt;Box style={{&#10;      background: '#1E4FA8',&#10;      borderRadius: 8,&#10;      padding: 18,&#10;    }}&gt;&#10;      &lt;Text style={{ fontSize: 18, color: '#FFFFFF', lineHeight: 1.5, textAlign: 'center', fontWeight: 500 }}&gt;&#10;        最困难的跨数据集迁移中，域偏移是主导因素；标签对齐只能修复有限部分。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4" name="任意多边形 53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71500" y="323850"/>
            <a:ext cx="2667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结论、局限与未来工作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0915650" y="409575"/>
            <a:ext cx="704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Conclusion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571500" y="857250"/>
            <a:ext cx="11049000" cy="1666875"/>
          </a:xfrm>
          <a:prstGeom prst="roundRect">
            <a:avLst>
              <a:gd name="adj" fmla="val 457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42950" y="1028700"/>
            <a:ext cx="10706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主要贡献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42950" y="1371600"/>
            <a:ext cx="10706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setting specificity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视角，将跨数据集目标检测的结果按场景特定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无关结构化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742950" y="1724025"/>
            <a:ext cx="10706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在全部训练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测试对上评估，揭示跨数据集迁移的不对称性与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鲁棒性悬崖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42950" y="2076450"/>
            <a:ext cx="10706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通过闭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开标签协议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CLIP near-miss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诊断，显式分离语义错位与视觉域偏移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571500" y="2695575"/>
            <a:ext cx="542925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42950" y="2867025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135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42950" y="3171825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仅标准检测器架构（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Faster R-CNN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742950" y="3524250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固定基准集合，未覆盖所有真实分布偏移形式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742950" y="3876675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未引入域适应或数据增强等缓解策略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6191250" y="2695575"/>
            <a:ext cx="542925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362700" y="2867025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未来工作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362700" y="3171825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探索域适应策略克服视觉域偏移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6362700" y="3524250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agnostic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specific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数据联合训练的作用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362700" y="3876675"/>
            <a:ext cx="5086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扩展到更多检测架构与更大数据集集合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1500" y="589597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42950" y="6067425"/>
            <a:ext cx="10706100" cy="3143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最困难的跨数据集迁移中，域偏移是主导因素；标签对齐只能修复有限部分。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 descr="&lt;Slide style={{ padding: '32px 60px', background: '#FFFFFF' }}&gt;&#10;  &lt;Box style={{&#10;    flexDirection: 'column',&#10;    width: '100%',&#10;    height: '100%',&#10;    gap: 18,&#10;  }}&gt;&#10;    {/* 页眉 */}&#10;    &lt;Box style={{&#10;      flexDirection: 'row',&#10;      alignItems: 'center',&#10;      justifyContent: 'space-between',&#10;      height: 40,&#10;      borderBottom: '2px solid #1E4FA8',&#10;    }}&gt;&#10;      &lt;Text style={{ fontSize: 28, fontWeight: 'bold', color: '#0E3F8C' }}&gt;对我们研究的启示&lt;/Text&gt;&#10;      &lt;Text style={{ fontSize: 14, color: '#8B97A8' }}&gt;Takeaways&lt;/Text&gt;&#10;    &lt;/Box&gt;&#10;    {/* 启示卡片 */}&#10;    &lt;Box style={{ flexDirection: 'row', gap: 20, flex: 1 }}&gt;&#10;      &lt;Box style={{&#10;        flex: 1,&#10;        background: '#F0F5FC',&#10;        borderRadius: 8,&#10;        padding: 18,&#10;        gap: 10,&#10;      }}&gt;&#10;        &lt;Text style={{ fontSize: 18, fontWeight: 'bold', color: '#0E3F8C' }}&gt;牛只检测属于 setting-specific&lt;/Text&gt;&#10;        &lt;Text style={{ fontSize: 15, color: '#1A2230', lineHeight: 1.55 }}&gt;&#10;          从 COCO 这类 agnostic 数据集迁移到牛只数据集，属于论文中的&quot;鲁棒性悬崖&quot;类别，性能会大幅下降，且不能指望靠标签对齐挽救。&#10;        &lt;/Text&gt;&#10;      &lt;/Box&gt;&#10;      &lt;Box style={{&#10;        flex: 1,&#10;        background: '#F0F5FC',&#10;        borderRadius: 8,&#10;        padding: 18,&#10;        gap: 10,&#10;      }}&gt;&#10;        &lt;Text style={{ fontSize: 18, fontWeight: 'bold', color: '#0E3F8C' }}&gt;双向评估是必要的&lt;/Text&gt;&#10;        &lt;Text style={{ fontSize: 15, color: '#1A2230', lineHeight: 1.55 }}&gt;&#10;          跨数据集实验务必双向报告（牛只↔COCO）。单向结果会掩盖不对称性，源数据集的&quot;可迁移性&quot;不取决于规模。&#10;        &lt;/Text&gt;&#10;      &lt;/Box&gt;&#10;    &lt;/Box&gt;&#10;    &lt;Box style={{ flexDirection: 'row', gap: 20, flex: 1 }}&gt;&#10;      &lt;Box style={{&#10;        flex: 1,&#10;        background: '#FFFFFF',&#10;        border: '1px solid #D6DCE5',&#10;        borderRadius: 8,&#10;        padding: 18,&#10;        gap: 10,&#10;      }}&gt;&#10;        &lt;Text style={{ fontSize: 18, fontWeight: 'bold', color: '#1E4FA8' }}&gt;可复用的评估协议&lt;/Text&gt;&#10;        &lt;Text style={{ fontSize: 15, color: '#1A2230', lineHeight: 1.55 }}&gt;&#10;          闭/开标签协议 + CLIP near-miss 诊断可以直接搬到我们的跨数据集评估中，用来量化&quot;掉点中有多少是标签问题、多少是域问题&quot;。&#10;        &lt;/Text&gt;&#10;      &lt;/Box&gt;&#10;      &lt;Box style={{&#10;        flex: 1,&#10;        background: '#FFFFFF',&#10;        border: '1px solid #D6DCE5',&#10;        borderRadius: 8,&#10;        padding: 18,&#10;        gap: 10,&#10;      }}&gt;&#10;        &lt;Text style={{ fontSize: 18, fontWeight: 'bold', color: '#1E4FA8' }}&gt;域适应是正解&lt;/Text&gt;&#10;        &lt;Text style={{ fontSize: 15, color: '#1A2230', lineHeight: 1.55 }}&gt;&#10;          既然标签对齐收益有限，针对牛只场景应优先考虑域适应、风格迁移、数据增广，而非纠结标签词汇表对齐。&#10;        &lt;/Text&gt;&#10;      &lt;/Box&gt;&#10;    &lt;/Box&gt;&#10;    {/* 底部感谢 */}&#10;    &lt;Box style={{&#10;      background: '#1E4FA8',&#10;      borderRadius: 8,&#10;      padding: 24,&#10;      alignItems: 'center',&#10;      justifyContent: 'center',&#10;    }}&gt;&#10;      &lt;Text style={{ fontSize: 28, fontWeight: 'bold', color: '#FFFFFF' }}&gt;谢谢！&lt;/Text&gt;&#10;      &lt;Text style={{ fontSize: 16, color: '#FFFFFF', marginTop: 8 }}&gt;Questions &amp; Discussion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6" name="任意多边形 75"/>
          <p:cNvSpPr/>
          <p:nvPr/>
        </p:nvSpPr>
        <p:spPr>
          <a:xfrm>
            <a:off x="571500" y="304800"/>
            <a:ext cx="11049000" cy="381000"/>
          </a:xfrm>
          <a:custGeom>
            <a:avLst/>
            <a:gdLst/>
            <a:ahLst/>
            <a:cxnLst/>
            <a:pathLst>
              <a:path w="1160" h="40">
                <a:moveTo>
                  <a:pt x="0" y="38"/>
                </a:moveTo>
                <a:lnTo>
                  <a:pt x="1160" y="38"/>
                </a:lnTo>
                <a:lnTo>
                  <a:pt x="116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71500" y="323850"/>
            <a:ext cx="21336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对我们研究的启示</a:t>
            </a:r>
            <a:endParaRPr lang="zh-CN" sz="21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10953750" y="40957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Takeaways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571500" y="857250"/>
            <a:ext cx="54292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742950" y="1028700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setting-specific</a:t>
            </a:r>
            <a:endParaRPr lang="en-US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42950" y="13335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 fontScale="90000"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COCO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这类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agnostic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数据集迁移到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specific</a:t>
            </a:r>
            <a:endParaRPr lang="en-US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数据集，属于论文中的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鲁棒性悬崖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类别，性能会大幅下降，且不能指望靠标签对齐挽救。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6191250" y="857250"/>
            <a:ext cx="5429250" cy="2152650"/>
          </a:xfrm>
          <a:prstGeom prst="roundRect">
            <a:avLst>
              <a:gd name="adj" fmla="val 354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6362700" y="1028700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双向评估是必要的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6362700" y="13335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跨数据集实验务必双向报告。单向结果会掩盖不对称性，源数据集的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可迁移性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不取决于规模。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571500" y="3181350"/>
            <a:ext cx="54292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42950" y="3352800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可复用的评估协议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42950" y="36576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闭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开标签协议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CLIP near-miss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诊断可以直接搬到我们的跨数据集评估中，用来量化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掉点中有多少是标签问题、多少是域问题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6191250" y="3181350"/>
            <a:ext cx="5429250" cy="215265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362700" y="3352800"/>
            <a:ext cx="508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域适应是正解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362700" y="36576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既然标签对齐收益有限，针对牛只场景应优先考虑域适应、风格迁移、数据增广，而非纠结标签词汇表对齐。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571500" y="5505450"/>
            <a:ext cx="11049000" cy="1047750"/>
          </a:xfrm>
          <a:prstGeom prst="roundRect">
            <a:avLst>
              <a:gd name="adj" fmla="val 7273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695950" y="5734050"/>
            <a:ext cx="8001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5229225" y="6134100"/>
            <a:ext cx="1733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Questions &amp; Discussion</a:t>
            </a:r>
            <a:endParaRPr 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3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4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5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6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7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8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9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0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1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2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3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4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5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6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7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8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19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0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1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2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3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4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5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6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7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8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29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30.xml><?xml version="1.0" encoding="utf-8"?>
<p:tagLst xmlns:p="http://schemas.openxmlformats.org/presentationml/2006/main">
  <p:tag name="KSO_WM_DIAGRAM_VIRTUALLY_FRAME" val="{&quot;height&quot;:345,&quot;left&quot;:45,&quot;top&quot;:81,&quot;width&quot;:837}"/>
</p:tagLst>
</file>

<file path=ppt/tags/tag31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2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3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4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5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6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7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8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39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40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41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42.xml><?xml version="1.0" encoding="utf-8"?>
<p:tagLst xmlns:p="http://schemas.openxmlformats.org/presentationml/2006/main">
  <p:tag name="KSO_WM_DIAGRAM_VIRTUALLY_FRAME" val="{&quot;height&quot;:132,&quot;left&quot;:45,&quot;top&quot;:384,&quot;width&quot;:870}"/>
</p:tagLst>
</file>

<file path=ppt/tags/tag43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4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5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6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7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8.xml><?xml version="1.0" encoding="utf-8"?>
<p:tagLst xmlns:p="http://schemas.openxmlformats.org/presentationml/2006/main">
  <p:tag name="KSO_WM_DIAGRAM_VIRTUALLY_FRAME" val="{&quot;height&quot;:135.75,&quot;left&quot;:45,&quot;top&quot;:380.25,&quot;width&quot;:870}"/>
</p:tagLst>
</file>

<file path=ppt/tags/tag49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0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1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2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3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4.xml><?xml version="1.0" encoding="utf-8"?>
<p:tagLst xmlns:p="http://schemas.openxmlformats.org/presentationml/2006/main">
  <p:tag name="KSO_WM_DIAGRAM_VIRTUALLY_FRAME" val="{&quot;height&quot;:165.75,&quot;left&quot;:45,&quot;top&quot;:350.25,&quot;width&quot;:870}"/>
</p:tagLst>
</file>

<file path=ppt/tags/tag55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56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57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58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59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0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1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2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3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4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5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6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7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8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ags/tag69.xml><?xml version="1.0" encoding="utf-8"?>
<p:tagLst xmlns:p="http://schemas.openxmlformats.org/presentationml/2006/main">
  <p:tag name="KSO_WM_DIAGRAM_VIRTUALLY_FRAME" val="{&quot;height&quot;:247.5,&quot;left&quot;:45,&quot;top&quot;:69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4498</Words>
  <Application>WPS 演示</Application>
  <PresentationFormat/>
  <Paragraphs>603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2</cp:revision>
  <dcterms:created xsi:type="dcterms:W3CDTF">2026-09-23T16:21:00Z</dcterms:created>
  <dcterms:modified xsi:type="dcterms:W3CDTF">2026-09-24T07:36:19Z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72F452AED2AB4D0FB4C751C368CE9257_12</vt:lpwstr>
  </property>
  <property fmtid="{D5CDD505-2E9C-101B-9397-08002B2CF9AE}" pid="3" name="KSOProductBuildVer">
    <vt:lpwstr>2052-12.1.0.28505</vt:lpwstr>
  </property>
</Properties>
</file>